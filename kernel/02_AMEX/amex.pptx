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314" r:id="rId27"/>
    <p:sldId id="315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03" r:id="rId5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59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57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E11CBD-9E24-47E0-A769-468A55F24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6CCA5FD-80B2-4039-AF32-51BF85BD9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FD1535F-9AE3-4B19-A9F5-FFDA48F6AF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1638D8-E678-48A3-830E-03D4C387F8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D4D62DD-3B90-4ADE-94C4-75301E5EC4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D1B7C8-580F-4612-B1E0-49C3B9DC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7FDE12-4C81-4A34-9B49-3612E2DD9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A020E7-BEBF-4C12-AF51-23F9A22ABC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84431C6-122F-4536-B25F-53D63FDE9A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2B4187-B539-460B-B300-EC3786EC52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E54B46-82D1-4917-98BA-AE238AEE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A7BA156-D942-4267-9864-D96D1933F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D86807E-2937-403A-A948-E90D3324D5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F63551A-CF83-4FD0-92B8-B7F9E40904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46BF9B3-473D-4FF5-8547-47F9B0985B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C0F117-B816-485B-A573-66F84F1F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276A0A-88F0-4602-8FFD-DF8337C26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E3F8CC9-29E0-4E91-B8D2-9C9052B1BEE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7A8BE2D-A3B9-4026-BC08-4C2A762223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B7AC9BF-C17A-4327-B0A5-7C6AA4BF31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132BEBC-58EF-4F6A-9B97-9AC759D3B1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F5E08F-55A0-4BF8-908A-896FFC1C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8EC7428-DA8C-4E26-98BF-43A0CEC45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51B6EC9-B140-462E-86E3-AA298E2D975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D087942-FB5A-4DE7-B735-B1A91FDD774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9BBCB68-01E4-45EC-B948-FD9E7383285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AFC02D5-51FC-486E-BD7C-046D4F9C92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A75887D-2B33-4DD7-8507-2456BA3BAC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C9C1B68-5682-4ACA-AD3B-E782ADF615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558508-1F92-4389-A82B-6B4FE575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A45CD58-9198-41DC-A061-B7171994E9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3FF88ED-DA06-47F2-9ED5-32658EF55D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D15D7B5-25E9-47C3-88A3-AB4FF8E3DC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DA72BF04-FAD9-4600-A403-578DB7309A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55150EF-922A-4F85-BC50-F5A4C62EB9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34AA522-C769-4706-AA01-2A8B240CD0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21A386-1C2C-4CD4-94FA-D5B6B91D6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7B6888-4A22-4181-858F-462BD3A82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EFF7AD0-C1E2-490B-9B29-256EC61C21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2CFDCFC-1E2D-4E32-9158-05D137E34F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D8EC058-3032-415D-8427-1D914946D3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6256CFA-DAF2-4B09-A0CD-8043BA063A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740DFF8-C50D-43B7-898F-2992AE89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AABC20BD-764A-402A-B9F3-087C3420C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E964747-1AAB-44D2-BC7B-7B925C60F47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9E4F45F-45C9-41A4-BAF9-1D9AE2E04C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99F02A1-BCB2-4CA1-9777-32AB40191DD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E478C6F-D853-422C-81E0-74BB7FCA90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8707D2-999C-4879-ADEC-EF219D09D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6DDD4A1-274C-46C6-B727-15705D569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2CB32AC-E968-44A8-A608-079555BF06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51BEF21-491F-4064-8384-FBEACD71B7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0E1BD56-14C6-4A6E-BF35-F8D35A1440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C831912E-3D73-43B8-8A11-187D0F6CF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65E99A6-30EF-4C19-8CEE-AB53C4171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C128590-6619-4ED6-B666-2106E5764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7955C8E-EF65-431B-9E48-4A6C0626AD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2C917DB-8AB3-4170-958F-C322AB2B96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FD3B3AB-8943-4727-83C0-5195B44B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1430016-6439-43E6-8A54-6F48D2E5A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729C46-961A-449E-9AF5-3EFBE5CB0A5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6/23/2026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44263CC-C004-4B2D-981F-2B3F7FB20CC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31CBB06-BF0C-4165-BA9C-DB6C2845397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351948F-DE1B-4176-B3A0-5DA5EE02B0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C07D94C-94FA-4B4C-A6F4-7BFAC7BE9B26}"/>
              </a:ext>
            </a:extLst>
          </p:cNvPr>
          <p:cNvSpPr>
            <a:spLocks noGrp="1"/>
          </p:cNvSpPr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71508F3-C6C5-4F7C-A4A9-DD0BFF066002}"/>
              </a:ext>
            </a:extLst>
          </p:cNvPr>
          <p:cNvSpPr>
            <a:spLocks noGrp="1"/>
          </p:cNvSpPr>
          <p:nvPr/>
        </p:nvSpPr>
        <p:spPr>
          <a:xfrm>
            <a:off x="-1" y="1828800"/>
            <a:ext cx="12191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American Express Contactless Kernel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DBE06EB-EB16-43AA-B41C-CC1596B31C23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0332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200" b="0">
                <a:solidFill>
                  <a:srgbClr val="CCDDFF"/>
                </a:solidFill>
                <a:latin typeface="맑은 고딕"/>
                <a:ea typeface="맑은 고딕"/>
                <a:cs typeface="맑은 고딕"/>
              </a:rPr>
              <a:t>EMV Contactless Book C-4  |  Kernel 4 Specification v2.10  |  March 2021</a:t>
            </a:r>
          </a:p>
          <a:p>
            <a:pPr algn="ctr">
              <a:buNone/>
            </a:pPr>
            <a:r>
              <a:rPr sz="2200" b="0">
                <a:solidFill>
                  <a:srgbClr val="CCDDFF"/>
                </a:solidFill>
                <a:latin typeface="맑은 고딕"/>
                <a:ea typeface="맑은 고딕"/>
                <a:cs typeface="맑은 고딕"/>
              </a:rPr>
              <a:t>상세 기술 교육 자료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82A6C41-9D5E-459D-9A73-2A702DF7F2A7}"/>
              </a:ext>
            </a:extLst>
          </p:cNvPr>
          <p:cNvSpPr>
            <a:spLocks noGrp="1"/>
          </p:cNvSpPr>
          <p:nvPr/>
        </p:nvSpPr>
        <p:spPr>
          <a:xfrm>
            <a:off x="365760" y="6263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EMV Contactless Specifications - Book C-4  |  Kernel 4 Specification v2.10</a:t>
            </a:r>
          </a:p>
        </p:txBody>
      </p:sp>
    </p:spTree>
    <p:extLst>
      <p:ext uri="{BB962C8B-B14F-4D97-AF65-F5344CB8AC3E}">
        <p14:creationId xmlns:p14="http://schemas.microsoft.com/office/powerpoint/2010/main" val="118073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72835F1-CB39-4ABF-9D45-E6484971CE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EA3424D-38F7-4AD5-B6E2-E42B8D7781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423472B-2380-48EE-871D-F522C9FF7B82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716B454-5F34-421A-90B8-C56B5A5CB64F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B4B9789-6D5B-4131-A0F1-8FB59E234A35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8BA8962-D81E-4F22-BB5B-C325CB3AAD42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103004C-DD4E-4DDC-93D3-A27CF3EF05A9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전반부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49D7533-7B19-473A-86A4-9E33EFF8A669}"/>
              </a:ext>
            </a:extLst>
          </p:cNvPr>
          <p:cNvSpPr>
            <a:spLocks noGrp="1"/>
          </p:cNvSpPr>
          <p:nvPr/>
        </p:nvSpPr>
        <p:spPr>
          <a:xfrm>
            <a:off x="372291" y="1234440"/>
            <a:ext cx="5212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1. Kernel 4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개요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2. Contactless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Modes와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거래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흐름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3.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GPO와</a:t>
            </a:r>
            <a:r>
              <a:rPr sz="1600" dirty="0">
                <a:latin typeface="맑은 고딕"/>
                <a:ea typeface="맑은 고딕"/>
                <a:cs typeface="맑은 고딕"/>
              </a:rPr>
              <a:t> Capability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결정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4. Read Application Data</a:t>
            </a: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5. Offline Data Authentication</a:t>
            </a: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6. Processing Restrictions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B6EAFADD-FB05-4BA5-AD4D-AE68F657BFCB}"/>
              </a:ext>
            </a:extLst>
          </p:cNvPr>
          <p:cNvSpPr>
            <a:spLocks noGrp="1"/>
          </p:cNvSpPr>
          <p:nvPr/>
        </p:nvSpPr>
        <p:spPr>
          <a:xfrm>
            <a:off x="63093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9F1FFED4-4FB0-45E2-98EF-06206BF56186}"/>
              </a:ext>
            </a:extLst>
          </p:cNvPr>
          <p:cNvSpPr>
            <a:spLocks noGrp="1"/>
          </p:cNvSpPr>
          <p:nvPr/>
        </p:nvSpPr>
        <p:spPr>
          <a:xfrm>
            <a:off x="63093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A09FACCA-8021-4CED-A1C4-D8EEC041E4A7}"/>
              </a:ext>
            </a:extLst>
          </p:cNvPr>
          <p:cNvSpPr>
            <a:spLocks noGrp="1"/>
          </p:cNvSpPr>
          <p:nvPr/>
        </p:nvSpPr>
        <p:spPr>
          <a:xfrm>
            <a:off x="64465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후반부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EA6F0B50-4FFE-48E2-95DE-875AB6861EDA}"/>
              </a:ext>
            </a:extLst>
          </p:cNvPr>
          <p:cNvSpPr>
            <a:spLocks noGrp="1"/>
          </p:cNvSpPr>
          <p:nvPr/>
        </p:nvSpPr>
        <p:spPr>
          <a:xfrm>
            <a:off x="6312843" y="1369234"/>
            <a:ext cx="52120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7. Cardholder Verification</a:t>
            </a: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8. Terminal Risk Management</a:t>
            </a: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9. 1st Terminal/Card Action Analysis</a:t>
            </a: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10. Online 및 2nd Action Analysis</a:t>
            </a: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11.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APDU와</a:t>
            </a:r>
            <a:r>
              <a:rPr sz="1600" dirty="0">
                <a:latin typeface="맑은 고딕"/>
                <a:ea typeface="맑은 고딕"/>
                <a:cs typeface="맑은 고딕"/>
              </a:rPr>
              <a:t> Configuration Data</a:t>
            </a: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12.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동작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예시와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구현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 smtClean="0">
                <a:latin typeface="맑은 고딕"/>
                <a:ea typeface="맑은 고딕"/>
                <a:cs typeface="맑은 고딕"/>
              </a:rPr>
              <a:t>체크리스트</a:t>
            </a:r>
            <a:endParaRPr lang="en-US" sz="1600" dirty="0" smtClean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300000"/>
              </a:lnSpc>
              <a:buNone/>
            </a:pPr>
            <a:r>
              <a:rPr lang="en-US" sz="1600" dirty="0" smtClean="0">
                <a:latin typeface="맑은 고딕"/>
                <a:ea typeface="맑은 고딕"/>
                <a:cs typeface="맑은 고딕"/>
              </a:rPr>
              <a:t>13. </a:t>
            </a:r>
            <a:r>
              <a:rPr lang="ko-KR" altLang="en-US" sz="1600" dirty="0" smtClean="0">
                <a:latin typeface="맑은 고딕"/>
                <a:ea typeface="맑은 고딕"/>
                <a:cs typeface="맑은 고딕"/>
              </a:rPr>
              <a:t>소스 코드</a:t>
            </a:r>
            <a:endParaRPr lang="en-US" sz="1600" dirty="0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21314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47604A0-7D22-4994-98DC-F1332C99B8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9240716-353C-4F52-B9EC-A71FB285B317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3C5BC5D-1D35-4D9C-BF77-3395938DEADF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Kernel 4 개요</a:t>
            </a:r>
          </a:p>
        </p:txBody>
      </p:sp>
    </p:spTree>
    <p:extLst>
      <p:ext uri="{BB962C8B-B14F-4D97-AF65-F5344CB8AC3E}">
        <p14:creationId xmlns:p14="http://schemas.microsoft.com/office/powerpoint/2010/main" val="334525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DCE6DFB-6AC9-4B58-B6B0-B4A1030432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098B6A2-00E9-4CBC-993C-DE9AD45E26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DBB0305-00D4-457C-8C11-9142C576997B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65FB334-DD46-4768-8296-A0C1545758EF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Kernel 4의 역할과 범위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6E8BD21-BD0C-4EF7-9973-ADE5A8899919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0" dirty="0">
                <a:latin typeface="맑은 고딕"/>
                <a:ea typeface="맑은 고딕"/>
                <a:cs typeface="맑은 고딕"/>
              </a:rPr>
              <a:t>Kernel 4는 American Express Contactless Payment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Application과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상호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운용되는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Reader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Kernel입니다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. Entry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Point가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애플리케이션을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선택한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이후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거래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결과를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반환할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때까지의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처리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규칙을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latin typeface="맑은 고딕"/>
                <a:ea typeface="맑은 고딕"/>
                <a:cs typeface="맑은 고딕"/>
              </a:rPr>
              <a:t>정의합니다</a:t>
            </a:r>
            <a:r>
              <a:rPr sz="1500" b="0" dirty="0"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E0995FF-3756-438D-8713-397EE46DE7B2}"/>
              </a:ext>
            </a:extLst>
          </p:cNvPr>
          <p:cNvSpPr>
            <a:spLocks noGrp="1"/>
          </p:cNvSpPr>
          <p:nvPr/>
        </p:nvSpPr>
        <p:spPr>
          <a:xfrm>
            <a:off x="365760" y="1737360"/>
            <a:ext cx="5394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0E369F9-D5E2-4356-A378-C054A33387F4}"/>
              </a:ext>
            </a:extLst>
          </p:cNvPr>
          <p:cNvSpPr>
            <a:spLocks noGrp="1"/>
          </p:cNvSpPr>
          <p:nvPr/>
        </p:nvSpPr>
        <p:spPr>
          <a:xfrm>
            <a:off x="365760" y="173736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BD427CC-3F1A-45C5-8AB7-9C9C0CD854E4}"/>
              </a:ext>
            </a:extLst>
          </p:cNvPr>
          <p:cNvSpPr>
            <a:spLocks noGrp="1"/>
          </p:cNvSpPr>
          <p:nvPr/>
        </p:nvSpPr>
        <p:spPr>
          <a:xfrm>
            <a:off x="502920" y="17830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핵심 역할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DAC3B0F6-EE58-4D4F-AB66-F049ADED89D4}"/>
              </a:ext>
            </a:extLst>
          </p:cNvPr>
          <p:cNvSpPr>
            <a:spLocks noGrp="1"/>
          </p:cNvSpPr>
          <p:nvPr/>
        </p:nvSpPr>
        <p:spPr>
          <a:xfrm>
            <a:off x="365760" y="2159726"/>
            <a:ext cx="51206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카드와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C-APDU/R-APDU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교환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카드·단말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데이터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검증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ODA, CVM, Risk Management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수행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TC, ARQC, AAC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요청</a:t>
            </a:r>
            <a:r>
              <a:rPr sz="1400" dirty="0">
                <a:latin typeface="맑은 고딕"/>
                <a:ea typeface="맑은 고딕"/>
                <a:cs typeface="맑은 고딕"/>
              </a:rPr>
              <a:t> 및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결과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처리</a:t>
            </a:r>
            <a:endParaRPr sz="14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CC1AFC47-BC15-4006-8C74-E01DE0B0478A}"/>
              </a:ext>
            </a:extLst>
          </p:cNvPr>
          <p:cNvSpPr>
            <a:spLocks noGrp="1"/>
          </p:cNvSpPr>
          <p:nvPr/>
        </p:nvSpPr>
        <p:spPr>
          <a:xfrm>
            <a:off x="6035040" y="1737360"/>
            <a:ext cx="5852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FC02BE5-A7A1-46AA-BD59-96BB7B713089}"/>
              </a:ext>
            </a:extLst>
          </p:cNvPr>
          <p:cNvSpPr>
            <a:spLocks noGrp="1"/>
          </p:cNvSpPr>
          <p:nvPr/>
        </p:nvSpPr>
        <p:spPr>
          <a:xfrm>
            <a:off x="6035040" y="173736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1ED20BD-F069-4785-B91D-C8B9C9D30CE3}"/>
              </a:ext>
            </a:extLst>
          </p:cNvPr>
          <p:cNvSpPr>
            <a:spLocks noGrp="1"/>
          </p:cNvSpPr>
          <p:nvPr/>
        </p:nvSpPr>
        <p:spPr>
          <a:xfrm>
            <a:off x="6172200" y="1783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사양 경계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3D804E9-620B-4350-AE13-1C4DB11D3FC3}"/>
              </a:ext>
            </a:extLst>
          </p:cNvPr>
          <p:cNvSpPr>
            <a:spLocks noGrp="1"/>
          </p:cNvSpPr>
          <p:nvPr/>
        </p:nvSpPr>
        <p:spPr>
          <a:xfrm>
            <a:off x="6035040" y="2159726"/>
            <a:ext cx="5577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Book A: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공통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아키텍처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Book B: Entry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Point와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Kernel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선택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Book C-4: Kernel 4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거래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처리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온라인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호스트와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UI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구현은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외부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영역</a:t>
            </a:r>
            <a:endParaRPr sz="14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C38273EC-0C44-4712-86FB-D5DA7DFA2966}"/>
              </a:ext>
            </a:extLst>
          </p:cNvPr>
          <p:cNvSpPr>
            <a:spLocks noGrp="1"/>
          </p:cNvSpPr>
          <p:nvPr/>
        </p:nvSpPr>
        <p:spPr>
          <a:xfrm>
            <a:off x="365760" y="4206240"/>
            <a:ext cx="11521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E77D47F6-9886-4C00-8A2F-B46AD0FDBB94}"/>
              </a:ext>
            </a:extLst>
          </p:cNvPr>
          <p:cNvSpPr>
            <a:spLocks noGrp="1"/>
          </p:cNvSpPr>
          <p:nvPr/>
        </p:nvSpPr>
        <p:spPr>
          <a:xfrm>
            <a:off x="365760" y="4206240"/>
            <a:ext cx="1152144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2C62CEE-69B9-4EBE-850A-95ED7A237FEC}"/>
              </a:ext>
            </a:extLst>
          </p:cNvPr>
          <p:cNvSpPr>
            <a:spLocks noGrp="1"/>
          </p:cNvSpPr>
          <p:nvPr/>
        </p:nvSpPr>
        <p:spPr>
          <a:xfrm>
            <a:off x="502920" y="4251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775E26D8-2B3A-4ED6-BA39-F32CD473B3E8}"/>
              </a:ext>
            </a:extLst>
          </p:cNvPr>
          <p:cNvSpPr>
            <a:spLocks noGrp="1"/>
          </p:cNvSpPr>
          <p:nvPr/>
        </p:nvSpPr>
        <p:spPr>
          <a:xfrm>
            <a:off x="365760" y="4617720"/>
            <a:ext cx="1124712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승인</a:t>
            </a:r>
            <a:r>
              <a:rPr sz="1400" dirty="0">
                <a:latin typeface="맑은 고딕"/>
                <a:ea typeface="맑은 고딕"/>
                <a:cs typeface="맑은 고딕"/>
              </a:rPr>
              <a:t>,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온라인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요청</a:t>
            </a:r>
            <a:r>
              <a:rPr sz="1400" dirty="0">
                <a:latin typeface="맑은 고딕"/>
                <a:ea typeface="맑은 고딕"/>
                <a:cs typeface="맑은 고딕"/>
              </a:rPr>
              <a:t>,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거절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Try Another Interface / End Application</a:t>
            </a:r>
          </a:p>
          <a:p>
            <a:pPr>
              <a:lnSpc>
                <a:spcPct val="2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Data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Record와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UI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지시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정보</a:t>
            </a:r>
            <a:endParaRPr sz="1400" dirty="0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76490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A3F93FE-531C-4863-AA14-1B9852847D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823BDCE-6C90-4866-9F0D-97C4DCCA70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6BA94C6-D285-4CD6-8933-E9FD0A1EB72E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1A6654E-CBC0-4E43-A00C-4FD9EC2D857E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Book C-4 v2.10 구성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ED8C2754-7E45-45F2-BAAE-12BADBE69760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39496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D616816-AA01-4AD7-834B-C203347415C7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C27070C-B19C-4B2F-9334-A8DD1F491BC1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주요 처리 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8F733FE-9C07-4732-B65E-388069C85E7A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1206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Chapter 2: Contactless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Modes와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거래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흐름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Chapter 3: GPO</a:t>
            </a:r>
          </a:p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Chapter 4: Initiate Application</a:t>
            </a:r>
          </a:p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Chapter 5: Read Application Data</a:t>
            </a:r>
          </a:p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Chapter 6: Offline Data Authentication</a:t>
            </a:r>
          </a:p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Chapter 7: Processing Restrictions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972A9E6-5876-40A2-A1BA-1EEECFAA0271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C24A6376-6D08-4DFC-8FE8-E252DE4E30F5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4CE38E4-CFF6-4B57-B8BF-902C0C4B8754}"/>
              </a:ext>
            </a:extLst>
          </p:cNvPr>
          <p:cNvSpPr>
            <a:spLocks noGrp="1"/>
          </p:cNvSpPr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승인 결정 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3AD3386B-ED80-402F-BDB1-C858C59D4996}"/>
              </a:ext>
            </a:extLst>
          </p:cNvPr>
          <p:cNvSpPr>
            <a:spLocks noGrp="1"/>
          </p:cNvSpPr>
          <p:nvPr/>
        </p:nvSpPr>
        <p:spPr>
          <a:xfrm>
            <a:off x="6042878" y="1600200"/>
            <a:ext cx="557784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Chapter 8: Cardholder Verification</a:t>
            </a:r>
          </a:p>
          <a:p>
            <a:pPr>
              <a:lnSpc>
                <a:spcPct val="1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Chapter 9: Terminal Risk Management</a:t>
            </a:r>
          </a:p>
          <a:p>
            <a:pPr>
              <a:lnSpc>
                <a:spcPct val="1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Chapter 10: 1st Terminal Action Analysis</a:t>
            </a:r>
          </a:p>
          <a:p>
            <a:pPr>
              <a:lnSpc>
                <a:spcPct val="1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Chapter 11: 1st Card Action Analysis</a:t>
            </a:r>
          </a:p>
          <a:p>
            <a:pPr>
              <a:lnSpc>
                <a:spcPct val="1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Chapter 12: Online Processing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6151AFE8-269C-4929-9D65-C74BE4E59850}"/>
              </a:ext>
            </a:extLst>
          </p:cNvPr>
          <p:cNvSpPr>
            <a:spLocks noGrp="1"/>
          </p:cNvSpPr>
          <p:nvPr/>
        </p:nvSpPr>
        <p:spPr>
          <a:xfrm>
            <a:off x="6035040" y="3840480"/>
            <a:ext cx="58521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C14371C4-92DF-49AC-B14D-348323D75802}"/>
              </a:ext>
            </a:extLst>
          </p:cNvPr>
          <p:cNvSpPr>
            <a:spLocks noGrp="1"/>
          </p:cNvSpPr>
          <p:nvPr/>
        </p:nvSpPr>
        <p:spPr>
          <a:xfrm>
            <a:off x="6035040" y="384048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7A200905-7C6F-4C7A-AF78-A0324D4E39F5}"/>
              </a:ext>
            </a:extLst>
          </p:cNvPr>
          <p:cNvSpPr>
            <a:spLocks noGrp="1"/>
          </p:cNvSpPr>
          <p:nvPr/>
        </p:nvSpPr>
        <p:spPr>
          <a:xfrm>
            <a:off x="6172200" y="3886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완료와 부록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212794B-D43F-4FC1-A643-2C113174E9DD}"/>
              </a:ext>
            </a:extLst>
          </p:cNvPr>
          <p:cNvSpPr>
            <a:spLocks noGrp="1"/>
          </p:cNvSpPr>
          <p:nvPr/>
        </p:nvSpPr>
        <p:spPr>
          <a:xfrm>
            <a:off x="6035040" y="4251960"/>
            <a:ext cx="5577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2nd Terminal/Card Action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Analysis와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결과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처리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Annex A: Transaction Data</a:t>
            </a:r>
          </a:p>
          <a:p>
            <a:pPr>
              <a:lnSpc>
                <a:spcPct val="2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Annex B: Terminal/Entry Point Configuration</a:t>
            </a:r>
          </a:p>
          <a:p>
            <a:pPr>
              <a:lnSpc>
                <a:spcPct val="2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Annex C: Glossary</a:t>
            </a:r>
          </a:p>
        </p:txBody>
      </p:sp>
    </p:spTree>
    <p:extLst>
      <p:ext uri="{BB962C8B-B14F-4D97-AF65-F5344CB8AC3E}">
        <p14:creationId xmlns:p14="http://schemas.microsoft.com/office/powerpoint/2010/main" val="9392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6C44780-393D-418B-8661-19D63AD3BF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7C358A7-56DA-48DF-ADAB-FD4E62B305C4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E25C8CF-F006-49B2-848E-E443CBB49028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Contactless Modes와 거래 흐름</a:t>
            </a:r>
          </a:p>
        </p:txBody>
      </p:sp>
    </p:spTree>
    <p:extLst>
      <p:ext uri="{BB962C8B-B14F-4D97-AF65-F5344CB8AC3E}">
        <p14:creationId xmlns:p14="http://schemas.microsoft.com/office/powerpoint/2010/main" val="1582178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52E56B1-B5A5-42EE-8948-0C6A8CB231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20E0A08-7597-4EBF-8632-3D0003E6AF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8C420E2-55E3-4FD8-86D3-A92A0984D454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613D46E-9B4D-4337-A195-A9F90BDC3D9D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Kernel 4 전체 처리 흐름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888A793-CCB2-4283-9154-EF505E35D981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latin typeface="맑은 고딕"/>
                <a:ea typeface="맑은 고딕"/>
                <a:cs typeface="맑은 고딕"/>
              </a:rPr>
              <a:t>Entry Point가 AID와 Kernel 4를 선택하면 Kernel은 Terminal Data와 카드 응답을 결합해 처리 단계를 순차적으로 수행합니다.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67579D3-5C24-4A9F-A8A0-9FC372BB6124}"/>
              </a:ext>
            </a:extLst>
          </p:cNvPr>
          <p:cNvSpPr>
            <a:spLocks noGrp="1"/>
          </p:cNvSpPr>
          <p:nvPr/>
        </p:nvSpPr>
        <p:spPr>
          <a:xfrm>
            <a:off x="365760" y="164592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A1B0C28-AFC4-4688-9032-51FF2730E041}"/>
              </a:ext>
            </a:extLst>
          </p:cNvPr>
          <p:cNvSpPr>
            <a:spLocks noGrp="1"/>
          </p:cNvSpPr>
          <p:nvPr/>
        </p:nvSpPr>
        <p:spPr>
          <a:xfrm>
            <a:off x="365760" y="1645920"/>
            <a:ext cx="3657600" cy="38404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34DDF05-F118-4473-84C7-0DAA0510B8EF}"/>
              </a:ext>
            </a:extLst>
          </p:cNvPr>
          <p:cNvSpPr>
            <a:spLocks noGrp="1"/>
          </p:cNvSpPr>
          <p:nvPr/>
        </p:nvSpPr>
        <p:spPr>
          <a:xfrm>
            <a:off x="457200" y="1700894"/>
            <a:ext cx="34747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초기화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B5451DA-FD11-4DC4-A8D5-8859E8687927}"/>
              </a:ext>
            </a:extLst>
          </p:cNvPr>
          <p:cNvSpPr>
            <a:spLocks noGrp="1"/>
          </p:cNvSpPr>
          <p:nvPr/>
        </p:nvSpPr>
        <p:spPr>
          <a:xfrm>
            <a:off x="502920" y="2407996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0" dirty="0">
                <a:latin typeface="맑은 고딕"/>
                <a:ea typeface="맑은 고딕"/>
                <a:cs typeface="맑은 고딕"/>
              </a:rPr>
              <a:t>Transaction Data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수신</a:t>
            </a:r>
            <a:endParaRPr b="0" dirty="0">
              <a:latin typeface="맑은 고딕"/>
              <a:ea typeface="맑은 고딕"/>
              <a:cs typeface="맑은 고딕"/>
            </a:endParaRPr>
          </a:p>
          <a:p>
            <a:pPr algn="ctr">
              <a:buNone/>
            </a:pPr>
            <a:r>
              <a:rPr b="0" dirty="0">
                <a:latin typeface="맑은 고딕"/>
                <a:ea typeface="맑은 고딕"/>
                <a:cs typeface="맑은 고딕"/>
              </a:rPr>
              <a:t>Terminal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설정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적용</a:t>
            </a:r>
            <a:endParaRPr b="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C5B90C51-1FF6-4FA8-8874-578F5214CCDA}"/>
              </a:ext>
            </a:extLst>
          </p:cNvPr>
          <p:cNvSpPr>
            <a:spLocks noGrp="1"/>
          </p:cNvSpPr>
          <p:nvPr/>
        </p:nvSpPr>
        <p:spPr>
          <a:xfrm>
            <a:off x="4297680" y="164592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D62EA667-F896-4D07-9E07-903E602D2081}"/>
              </a:ext>
            </a:extLst>
          </p:cNvPr>
          <p:cNvSpPr>
            <a:spLocks noGrp="1"/>
          </p:cNvSpPr>
          <p:nvPr/>
        </p:nvSpPr>
        <p:spPr>
          <a:xfrm>
            <a:off x="4297680" y="1645920"/>
            <a:ext cx="3657600" cy="38404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BA1393B6-80F6-4212-A3E8-9A32735C6834}"/>
              </a:ext>
            </a:extLst>
          </p:cNvPr>
          <p:cNvSpPr>
            <a:spLocks noGrp="1"/>
          </p:cNvSpPr>
          <p:nvPr/>
        </p:nvSpPr>
        <p:spPr>
          <a:xfrm>
            <a:off x="4389120" y="1700894"/>
            <a:ext cx="34747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카드 초기 처리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7360B33-02F3-4802-AFEF-42ED6C58A803}"/>
              </a:ext>
            </a:extLst>
          </p:cNvPr>
          <p:cNvSpPr>
            <a:spLocks noGrp="1"/>
          </p:cNvSpPr>
          <p:nvPr/>
        </p:nvSpPr>
        <p:spPr>
          <a:xfrm>
            <a:off x="4434840" y="2395958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0" dirty="0" err="1">
                <a:latin typeface="맑은 고딕"/>
                <a:ea typeface="맑은 고딕"/>
                <a:cs typeface="맑은 고딕"/>
              </a:rPr>
              <a:t>GPO로</a:t>
            </a:r>
            <a:r>
              <a:rPr b="0" dirty="0">
                <a:latin typeface="맑은 고딕"/>
                <a:ea typeface="맑은 고딕"/>
                <a:cs typeface="맑은 고딕"/>
              </a:rPr>
              <a:t> AIP/AFL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획득</a:t>
            </a:r>
            <a:endParaRPr b="0" dirty="0">
              <a:latin typeface="맑은 고딕"/>
              <a:ea typeface="맑은 고딕"/>
              <a:cs typeface="맑은 고딕"/>
            </a:endParaRPr>
          </a:p>
          <a:p>
            <a:pPr algn="ctr">
              <a:buNone/>
            </a:pPr>
            <a:r>
              <a:rPr b="0" dirty="0" err="1">
                <a:latin typeface="맑은 고딕"/>
                <a:ea typeface="맑은 고딕"/>
                <a:cs typeface="맑은 고딕"/>
              </a:rPr>
              <a:t>지원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모드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결정</a:t>
            </a:r>
            <a:endParaRPr b="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6A14325-3D2A-472E-AC80-591CC164CE11}"/>
              </a:ext>
            </a:extLst>
          </p:cNvPr>
          <p:cNvSpPr>
            <a:spLocks noGrp="1"/>
          </p:cNvSpPr>
          <p:nvPr/>
        </p:nvSpPr>
        <p:spPr>
          <a:xfrm>
            <a:off x="8229600" y="164592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DE856378-DB87-481A-98CB-BC355485F47B}"/>
              </a:ext>
            </a:extLst>
          </p:cNvPr>
          <p:cNvSpPr>
            <a:spLocks noGrp="1"/>
          </p:cNvSpPr>
          <p:nvPr/>
        </p:nvSpPr>
        <p:spPr>
          <a:xfrm>
            <a:off x="8229600" y="1645920"/>
            <a:ext cx="3657600" cy="38404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8957C105-DD42-49CA-9665-653BC35CC8FA}"/>
              </a:ext>
            </a:extLst>
          </p:cNvPr>
          <p:cNvSpPr>
            <a:spLocks noGrp="1"/>
          </p:cNvSpPr>
          <p:nvPr/>
        </p:nvSpPr>
        <p:spPr>
          <a:xfrm>
            <a:off x="8321040" y="1700894"/>
            <a:ext cx="34747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위험 판단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2E4C6753-5244-46CE-8444-D6FC255482D1}"/>
              </a:ext>
            </a:extLst>
          </p:cNvPr>
          <p:cNvSpPr>
            <a:spLocks noGrp="1"/>
          </p:cNvSpPr>
          <p:nvPr/>
        </p:nvSpPr>
        <p:spPr>
          <a:xfrm>
            <a:off x="8366760" y="2392629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0">
                <a:latin typeface="맑은 고딕"/>
                <a:ea typeface="맑은 고딕"/>
                <a:cs typeface="맑은 고딕"/>
              </a:rPr>
              <a:t>데이터 읽기, ODA, 제한 검사</a:t>
            </a:r>
          </a:p>
          <a:p>
            <a:pPr algn="ctr">
              <a:buNone/>
            </a:pPr>
            <a:r>
              <a:rPr b="0">
                <a:latin typeface="맑은 고딕"/>
                <a:ea typeface="맑은 고딕"/>
                <a:cs typeface="맑은 고딕"/>
              </a:rPr>
              <a:t>CVM과 Risk Management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B7F83B42-E375-449A-9162-57A190786C8C}"/>
              </a:ext>
            </a:extLst>
          </p:cNvPr>
          <p:cNvSpPr>
            <a:spLocks noGrp="1"/>
          </p:cNvSpPr>
          <p:nvPr/>
        </p:nvSpPr>
        <p:spPr>
          <a:xfrm>
            <a:off x="365760" y="3429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승인 결정</a:t>
            </a:r>
          </a:p>
        </p:txBody>
      </p:sp>
      <p:graphicFrame>
        <p:nvGraphicFramePr>
          <p:cNvPr id="39" name="Table 19"/>
          <p:cNvGraphicFramePr/>
          <p:nvPr/>
        </p:nvGraphicFramePr>
        <p:xfrm>
          <a:off x="365760" y="379476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Terminal 역할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Reader 역할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거래 금액 등 입력 수신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NFC RF 인터페이스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카드소지자 인증(CVM) 처리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카드 앱 선택 (Process 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온라인 권한 부여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카드와 APDU 통신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영수증 출력 결정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EMV/Mag-Stripe 트랜잭션 처리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최종 승인/거부 결정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결과(OUT Signal) 반환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393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2B9DEE8-0AA0-4C9B-98F2-E45ACBCCA1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14A408C-1A7A-4402-A9CE-C89B28E268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DF2C6A9-99C5-46F7-B896-B377A1A9B041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B4B9E1F-432D-454F-B72B-CAD607FB611D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Contactless Modes와 거래 조합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C0E2106-7707-4BB4-8DA5-03FE357B372C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Kernel 4는 </a:t>
            </a:r>
            <a:r>
              <a:rPr sz="14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4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Capability, Terminal </a:t>
            </a:r>
            <a:r>
              <a:rPr sz="14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설정</a:t>
            </a:r>
            <a:r>
              <a:rPr sz="14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4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거래</a:t>
            </a:r>
            <a:r>
              <a:rPr sz="14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유형에</a:t>
            </a:r>
            <a:r>
              <a:rPr sz="14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따라</a:t>
            </a:r>
            <a:r>
              <a:rPr sz="14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지원</a:t>
            </a:r>
            <a:r>
              <a:rPr sz="14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가능한</a:t>
            </a:r>
            <a:r>
              <a:rPr sz="14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조합을</a:t>
            </a:r>
            <a:r>
              <a:rPr sz="14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 smtClean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판정</a:t>
            </a:r>
            <a:r>
              <a:rPr lang="ko-KR" altLang="en-US" sz="1400" b="0" dirty="0" smtClean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lang="en-US" altLang="ko-KR" sz="1400" b="0" dirty="0" smtClean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400" b="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DF4231B-32B6-4E18-9D4B-C5A366E029C3}"/>
              </a:ext>
            </a:extLst>
          </p:cNvPr>
          <p:cNvSpPr>
            <a:spLocks noGrp="1"/>
          </p:cNvSpPr>
          <p:nvPr/>
        </p:nvSpPr>
        <p:spPr>
          <a:xfrm>
            <a:off x="274320" y="1600200"/>
            <a:ext cx="2194560" cy="10058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26F32AB-9A23-4A81-9AE5-ED93ED759ADC}"/>
              </a:ext>
            </a:extLst>
          </p:cNvPr>
          <p:cNvSpPr>
            <a:spLocks noGrp="1"/>
          </p:cNvSpPr>
          <p:nvPr/>
        </p:nvSpPr>
        <p:spPr>
          <a:xfrm>
            <a:off x="365760" y="1949231"/>
            <a:ext cx="20116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EMV Mode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D9EBF02-1940-45B1-87C0-47589B8CEAAB}"/>
              </a:ext>
            </a:extLst>
          </p:cNvPr>
          <p:cNvSpPr>
            <a:spLocks noGrp="1"/>
          </p:cNvSpPr>
          <p:nvPr/>
        </p:nvSpPr>
        <p:spPr>
          <a:xfrm>
            <a:off x="274320" y="2606040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CFB32B6-D70B-4F0B-89BC-2DE88E6FEB6D}"/>
              </a:ext>
            </a:extLst>
          </p:cNvPr>
          <p:cNvSpPr>
            <a:spLocks noGrp="1"/>
          </p:cNvSpPr>
          <p:nvPr/>
        </p:nvSpPr>
        <p:spPr>
          <a:xfrm>
            <a:off x="274320" y="2774870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AIP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기능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사용</a:t>
            </a:r>
            <a:endParaRPr sz="1600" b="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buNone/>
            </a:pP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ODA와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AC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생성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지원</a:t>
            </a:r>
            <a:endParaRPr sz="1600" b="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96CEB401-3B3D-4AF3-9764-48C5BDB05FEB}"/>
              </a:ext>
            </a:extLst>
          </p:cNvPr>
          <p:cNvSpPr>
            <a:spLocks noGrp="1"/>
          </p:cNvSpPr>
          <p:nvPr/>
        </p:nvSpPr>
        <p:spPr>
          <a:xfrm>
            <a:off x="2651760" y="1600200"/>
            <a:ext cx="2194560" cy="10058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2D7F2BEC-906E-4113-A031-9532A04E485A}"/>
              </a:ext>
            </a:extLst>
          </p:cNvPr>
          <p:cNvSpPr>
            <a:spLocks noGrp="1"/>
          </p:cNvSpPr>
          <p:nvPr/>
        </p:nvSpPr>
        <p:spPr>
          <a:xfrm>
            <a:off x="2743200" y="1841510"/>
            <a:ext cx="20116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Contactless Mag-Stripe Mode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0E7D02B-010F-4275-B7AF-3C09FF0EA56D}"/>
              </a:ext>
            </a:extLst>
          </p:cNvPr>
          <p:cNvSpPr>
            <a:spLocks noGrp="1"/>
          </p:cNvSpPr>
          <p:nvPr/>
        </p:nvSpPr>
        <p:spPr>
          <a:xfrm>
            <a:off x="2651760" y="2606040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1FE6449-887C-40A0-B4E7-8E596451A762}"/>
              </a:ext>
            </a:extLst>
          </p:cNvPr>
          <p:cNvSpPr>
            <a:spLocks noGrp="1"/>
          </p:cNvSpPr>
          <p:nvPr/>
        </p:nvSpPr>
        <p:spPr>
          <a:xfrm>
            <a:off x="2651760" y="2774869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온라인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전용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처리</a:t>
            </a:r>
            <a:endParaRPr sz="1600" b="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buNone/>
            </a:pP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동적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Track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사용</a:t>
            </a:r>
            <a:endParaRPr sz="1600" b="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3BF1B24-115E-4C15-8AAE-0AB6BE6577E0}"/>
              </a:ext>
            </a:extLst>
          </p:cNvPr>
          <p:cNvSpPr>
            <a:spLocks noGrp="1"/>
          </p:cNvSpPr>
          <p:nvPr/>
        </p:nvSpPr>
        <p:spPr>
          <a:xfrm>
            <a:off x="5029200" y="1600200"/>
            <a:ext cx="2194560" cy="10058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939D6762-9EEE-4B2D-9FC1-F3A06A41B3C3}"/>
              </a:ext>
            </a:extLst>
          </p:cNvPr>
          <p:cNvSpPr>
            <a:spLocks noGrp="1"/>
          </p:cNvSpPr>
          <p:nvPr/>
        </p:nvSpPr>
        <p:spPr>
          <a:xfrm>
            <a:off x="5120640" y="1949231"/>
            <a:ext cx="20116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Mobile Transaction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DA5959BB-01FA-417B-92B5-59BE88CA6B85}"/>
              </a:ext>
            </a:extLst>
          </p:cNvPr>
          <p:cNvSpPr>
            <a:spLocks noGrp="1"/>
          </p:cNvSpPr>
          <p:nvPr/>
        </p:nvSpPr>
        <p:spPr>
          <a:xfrm>
            <a:off x="5029200" y="2606040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BCC0BAC4-72E5-4EC5-B98C-BF9867A6E216}"/>
              </a:ext>
            </a:extLst>
          </p:cNvPr>
          <p:cNvSpPr>
            <a:spLocks noGrp="1"/>
          </p:cNvSpPr>
          <p:nvPr/>
        </p:nvSpPr>
        <p:spPr>
          <a:xfrm>
            <a:off x="5029200" y="2774869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Mobile CVM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결과와</a:t>
            </a:r>
            <a:endParaRPr sz="1600" b="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buNone/>
            </a:pP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Capability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600" b="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55A4BC66-FB5B-42A3-A811-2B70D7E98B30}"/>
              </a:ext>
            </a:extLst>
          </p:cNvPr>
          <p:cNvSpPr>
            <a:spLocks noGrp="1"/>
          </p:cNvSpPr>
          <p:nvPr/>
        </p:nvSpPr>
        <p:spPr>
          <a:xfrm>
            <a:off x="7406640" y="1600200"/>
            <a:ext cx="2194560" cy="10058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D379E1F1-A7E9-419E-90A1-E2612BE6E9FA}"/>
              </a:ext>
            </a:extLst>
          </p:cNvPr>
          <p:cNvSpPr>
            <a:spLocks noGrp="1"/>
          </p:cNvSpPr>
          <p:nvPr/>
        </p:nvSpPr>
        <p:spPr>
          <a:xfrm>
            <a:off x="7498080" y="1949231"/>
            <a:ext cx="20116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Offline / Online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683868E-6EC2-45F7-866D-08E090DEA781}"/>
              </a:ext>
            </a:extLst>
          </p:cNvPr>
          <p:cNvSpPr>
            <a:spLocks noGrp="1"/>
          </p:cNvSpPr>
          <p:nvPr/>
        </p:nvSpPr>
        <p:spPr>
          <a:xfrm>
            <a:off x="7406640" y="2606040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242F4780-6CB0-435F-92A8-58B7AB48DE58}"/>
              </a:ext>
            </a:extLst>
          </p:cNvPr>
          <p:cNvSpPr>
            <a:spLocks noGrp="1"/>
          </p:cNvSpPr>
          <p:nvPr/>
        </p:nvSpPr>
        <p:spPr>
          <a:xfrm>
            <a:off x="7406640" y="2774869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Terminal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Type과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600" b="0" dirty="0" smtClean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buNone/>
            </a:pPr>
            <a:r>
              <a:rPr sz="1600" b="0" dirty="0" err="1" smtClean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한도에</a:t>
            </a:r>
            <a:r>
              <a:rPr sz="1600" b="0" dirty="0" smtClean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따라</a:t>
            </a:r>
            <a:endParaRPr sz="1600" b="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buNone/>
            </a:pP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TC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또는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ARQC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경로</a:t>
            </a:r>
            <a:endParaRPr sz="1600" b="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965493EA-30F5-45AE-8064-CE6B47D2C171}"/>
              </a:ext>
            </a:extLst>
          </p:cNvPr>
          <p:cNvSpPr>
            <a:spLocks noGrp="1"/>
          </p:cNvSpPr>
          <p:nvPr/>
        </p:nvSpPr>
        <p:spPr>
          <a:xfrm>
            <a:off x="9784080" y="1600200"/>
            <a:ext cx="219456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0211BC82-D1D1-45DB-8C29-7174DBCBEF72}"/>
              </a:ext>
            </a:extLst>
          </p:cNvPr>
          <p:cNvSpPr>
            <a:spLocks noGrp="1"/>
          </p:cNvSpPr>
          <p:nvPr/>
        </p:nvSpPr>
        <p:spPr>
          <a:xfrm>
            <a:off x="9875520" y="1841510"/>
            <a:ext cx="20116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Delayed Authorisation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0328F165-4D81-487D-B20F-F98B0983E891}"/>
              </a:ext>
            </a:extLst>
          </p:cNvPr>
          <p:cNvSpPr>
            <a:spLocks noGrp="1"/>
          </p:cNvSpPr>
          <p:nvPr/>
        </p:nvSpPr>
        <p:spPr>
          <a:xfrm>
            <a:off x="9784080" y="2606040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5D416C5B-7B86-431A-B19E-65322F19C018}"/>
              </a:ext>
            </a:extLst>
          </p:cNvPr>
          <p:cNvSpPr>
            <a:spLocks noGrp="1"/>
          </p:cNvSpPr>
          <p:nvPr/>
        </p:nvSpPr>
        <p:spPr>
          <a:xfrm>
            <a:off x="9784080" y="2774870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설정된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환경에서</a:t>
            </a:r>
            <a:endParaRPr sz="1600" b="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buNone/>
            </a:pP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후속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온라인</a:t>
            </a:r>
            <a:r>
              <a:rPr sz="1600" b="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전송</a:t>
            </a:r>
            <a:endParaRPr sz="1600" b="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77CE32B4-0580-4912-9E39-617839760FAA}"/>
              </a:ext>
            </a:extLst>
          </p:cNvPr>
          <p:cNvSpPr>
            <a:spLocks noGrp="1"/>
          </p:cNvSpPr>
          <p:nvPr/>
        </p:nvSpPr>
        <p:spPr>
          <a:xfrm>
            <a:off x="365760" y="3886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Partial Online</a:t>
            </a:r>
          </a:p>
        </p:txBody>
      </p:sp>
      <p:graphicFrame>
        <p:nvGraphicFramePr>
          <p:cNvPr id="55" name="Table 27"/>
          <p:cNvGraphicFramePr/>
          <p:nvPr/>
        </p:nvGraphicFramePr>
        <p:xfrm>
          <a:off x="365760" y="434340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572000"/>
              </a:tblGrid>
              <a:tr h="396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프로세스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입력 신호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출력 신호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Process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ACT, STOP, ABORT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OUT, STOP_ACK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Process 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Terminal AID List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선택된 AID + Kernel ID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Process 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CA Signal (K/S)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RA Signal, L1RSP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Process 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MSG Signal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디스플레이 출력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Process 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ACT, STOP, CLEAN, DET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OUT, DEK, MSG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658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1516124-F370-4F9B-8BD9-F83B5C2B80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8107AEB-1D81-464B-A143-50CAECEEA28D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0D0B258-4F1A-4F48-B94E-67E1C793D2A9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GPO와 Capability 결정</a:t>
            </a:r>
          </a:p>
        </p:txBody>
      </p:sp>
    </p:spTree>
    <p:extLst>
      <p:ext uri="{BB962C8B-B14F-4D97-AF65-F5344CB8AC3E}">
        <p14:creationId xmlns:p14="http://schemas.microsoft.com/office/powerpoint/2010/main" val="247417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DF88229-3394-412D-9903-B1C0BA9C89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FB7AAFA-6F4A-4ADF-A8F6-293A65955D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2A480228-F8C9-432C-B897-04F0553E2E3A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65FC20D-1F76-4300-BD19-C6353A0F86C5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GPO 처리 - Pre-PDOL부터 응답 검증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A0BCE50-F2D1-47EF-83F7-1071A06876B1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Kernel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FBAF769-CA79-422B-8F2B-4924658DB15E}"/>
              </a:ext>
            </a:extLst>
          </p:cNvPr>
          <p:cNvSpPr>
            <a:spLocks noGrp="1"/>
          </p:cNvSpPr>
          <p:nvPr/>
        </p:nvSpPr>
        <p:spPr>
          <a:xfrm>
            <a:off x="365761" y="1843605"/>
            <a:ext cx="1625784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89BB7C4-9EDE-4DB3-AA4A-BCE5E719BB41}"/>
              </a:ext>
            </a:extLst>
          </p:cNvPr>
          <p:cNvSpPr>
            <a:spLocks noGrp="1"/>
          </p:cNvSpPr>
          <p:nvPr/>
        </p:nvSpPr>
        <p:spPr>
          <a:xfrm>
            <a:off x="411480" y="2005821"/>
            <a:ext cx="1580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Terminal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27DB9943-5331-4D9B-99F5-6CA38E4C9D53}"/>
              </a:ext>
            </a:extLst>
          </p:cNvPr>
          <p:cNvSpPr>
            <a:spLocks noGrp="1"/>
          </p:cNvSpPr>
          <p:nvPr/>
        </p:nvSpPr>
        <p:spPr>
          <a:xfrm>
            <a:off x="3166437" y="1828800"/>
            <a:ext cx="1659564" cy="6400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CDFCC428-5E4E-4712-87AC-590D5EE384C9}"/>
              </a:ext>
            </a:extLst>
          </p:cNvPr>
          <p:cNvSpPr>
            <a:spLocks noGrp="1"/>
          </p:cNvSpPr>
          <p:nvPr/>
        </p:nvSpPr>
        <p:spPr>
          <a:xfrm>
            <a:off x="3201271" y="1991016"/>
            <a:ext cx="15840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PDOL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6E72043D-F83C-40BA-9B05-D608B62DA0EE}"/>
              </a:ext>
            </a:extLst>
          </p:cNvPr>
          <p:cNvSpPr>
            <a:spLocks noGrp="1"/>
          </p:cNvSpPr>
          <p:nvPr/>
        </p:nvSpPr>
        <p:spPr>
          <a:xfrm>
            <a:off x="5612673" y="1828800"/>
            <a:ext cx="1658981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C6CCE125-26A1-4D6C-A867-F683A971F5EF}"/>
              </a:ext>
            </a:extLst>
          </p:cNvPr>
          <p:cNvSpPr>
            <a:spLocks noGrp="1"/>
          </p:cNvSpPr>
          <p:nvPr/>
        </p:nvSpPr>
        <p:spPr>
          <a:xfrm>
            <a:off x="5612673" y="1988840"/>
            <a:ext cx="1658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83 Template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48A2260E-D621-4F76-B984-493DD0701DBF}"/>
              </a:ext>
            </a:extLst>
          </p:cNvPr>
          <p:cNvSpPr>
            <a:spLocks noGrp="1"/>
          </p:cNvSpPr>
          <p:nvPr/>
        </p:nvSpPr>
        <p:spPr>
          <a:xfrm>
            <a:off x="8400256" y="1828800"/>
            <a:ext cx="1263882" cy="6400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2339309-A3F1-426E-BFD9-F6EE08AC3676}"/>
              </a:ext>
            </a:extLst>
          </p:cNvPr>
          <p:cNvSpPr>
            <a:spLocks noGrp="1"/>
          </p:cNvSpPr>
          <p:nvPr/>
        </p:nvSpPr>
        <p:spPr>
          <a:xfrm>
            <a:off x="8400256" y="1991016"/>
            <a:ext cx="1263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Card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C9E85638-E69A-49D1-91F5-8AC5E81D3610}"/>
              </a:ext>
            </a:extLst>
          </p:cNvPr>
          <p:cNvSpPr>
            <a:spLocks noGrp="1"/>
          </p:cNvSpPr>
          <p:nvPr/>
        </p:nvSpPr>
        <p:spPr>
          <a:xfrm>
            <a:off x="10424160" y="1826624"/>
            <a:ext cx="137160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C19E2454-D2FB-4DE6-A0E8-F1FEBA96485A}"/>
              </a:ext>
            </a:extLst>
          </p:cNvPr>
          <p:cNvSpPr>
            <a:spLocks noGrp="1"/>
          </p:cNvSpPr>
          <p:nvPr/>
        </p:nvSpPr>
        <p:spPr>
          <a:xfrm>
            <a:off x="10469880" y="1988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644B125A-8F82-486F-97CA-8F5D73CBDE08}"/>
              </a:ext>
            </a:extLst>
          </p:cNvPr>
          <p:cNvSpPr>
            <a:spLocks noGrp="1"/>
          </p:cNvSpPr>
          <p:nvPr/>
        </p:nvSpPr>
        <p:spPr>
          <a:xfrm>
            <a:off x="2135560" y="180836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DB </a:t>
            </a: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초기화</a:t>
            </a:r>
            <a:endParaRPr sz="1200" b="1" dirty="0">
              <a:solidFill>
                <a:srgbClr val="EB6B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993A3831-857C-420D-8D4C-65EABD173F07}"/>
              </a:ext>
            </a:extLst>
          </p:cNvPr>
          <p:cNvSpPr>
            <a:spLocks noGrp="1"/>
          </p:cNvSpPr>
          <p:nvPr/>
        </p:nvSpPr>
        <p:spPr>
          <a:xfrm>
            <a:off x="1991545" y="2173191"/>
            <a:ext cx="13537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태그</a:t>
            </a: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조회</a:t>
            </a:r>
            <a:endParaRPr sz="1200" b="1" dirty="0">
              <a:solidFill>
                <a:srgbClr val="EB6B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2A13F053-8DF7-4CBB-AE25-827B61C1FB91}"/>
              </a:ext>
            </a:extLst>
          </p:cNvPr>
          <p:cNvSpPr>
            <a:spLocks noGrp="1"/>
          </p:cNvSpPr>
          <p:nvPr/>
        </p:nvSpPr>
        <p:spPr>
          <a:xfrm>
            <a:off x="4799618" y="18288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값 </a:t>
            </a: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연결</a:t>
            </a:r>
            <a:endParaRPr sz="1200" b="1" dirty="0">
              <a:solidFill>
                <a:srgbClr val="EB6B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52982029-323F-4112-8FC1-FEA36FB67CE0}"/>
              </a:ext>
            </a:extLst>
          </p:cNvPr>
          <p:cNvSpPr>
            <a:spLocks noGrp="1"/>
          </p:cNvSpPr>
          <p:nvPr/>
        </p:nvSpPr>
        <p:spPr>
          <a:xfrm>
            <a:off x="4761407" y="21762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GPO 전송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C2B792F-6FEF-415D-8CA6-7EFE962FC1A2}"/>
              </a:ext>
            </a:extLst>
          </p:cNvPr>
          <p:cNvSpPr>
            <a:spLocks noGrp="1"/>
          </p:cNvSpPr>
          <p:nvPr/>
        </p:nvSpPr>
        <p:spPr>
          <a:xfrm>
            <a:off x="7255920" y="1833154"/>
            <a:ext cx="13051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AIP/AFL </a:t>
            </a: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반환</a:t>
            </a:r>
            <a:endParaRPr sz="1200" b="1" dirty="0">
              <a:solidFill>
                <a:srgbClr val="EB6B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BB0824A2-AFD4-4E12-9EAB-33E355DE683D}"/>
              </a:ext>
            </a:extLst>
          </p:cNvPr>
          <p:cNvSpPr>
            <a:spLocks noGrp="1"/>
          </p:cNvSpPr>
          <p:nvPr/>
        </p:nvSpPr>
        <p:spPr>
          <a:xfrm>
            <a:off x="7451294" y="216538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응답</a:t>
            </a: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파싱</a:t>
            </a:r>
            <a:endParaRPr sz="1200" b="1" dirty="0">
              <a:solidFill>
                <a:srgbClr val="EB6B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EB7CBAE-5C77-443E-9676-4A4B0E9D2ACE}"/>
              </a:ext>
            </a:extLst>
          </p:cNvPr>
          <p:cNvSpPr>
            <a:spLocks noGrp="1"/>
          </p:cNvSpPr>
          <p:nvPr/>
        </p:nvSpPr>
        <p:spPr>
          <a:xfrm>
            <a:off x="9664138" y="1826153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모드 결정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A7128A9-22E4-4CD8-ABB7-D55F2F70EBB8}"/>
              </a:ext>
            </a:extLst>
          </p:cNvPr>
          <p:cNvSpPr>
            <a:spLocks noGrp="1"/>
          </p:cNvSpPr>
          <p:nvPr/>
        </p:nvSpPr>
        <p:spPr>
          <a:xfrm>
            <a:off x="9601200" y="21762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◀ 데이터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DA2A1AA2-CED2-4A20-8A41-835EE8B67849}"/>
              </a:ext>
            </a:extLst>
          </p:cNvPr>
          <p:cNvSpPr>
            <a:spLocks noGrp="1"/>
          </p:cNvSpPr>
          <p:nvPr/>
        </p:nvSpPr>
        <p:spPr>
          <a:xfrm>
            <a:off x="3166437" y="2656114"/>
            <a:ext cx="1659564" cy="635726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EBD02086-C9C4-4EE1-BCFD-ADB322BF1423}"/>
              </a:ext>
            </a:extLst>
          </p:cNvPr>
          <p:cNvSpPr>
            <a:spLocks noGrp="1"/>
          </p:cNvSpPr>
          <p:nvPr/>
        </p:nvSpPr>
        <p:spPr>
          <a:xfrm>
            <a:off x="3201271" y="2815283"/>
            <a:ext cx="158409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▶ C-APDU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F5DCE9F0-A6FE-4AE3-8114-AB0E7C84C42A}"/>
              </a:ext>
            </a:extLst>
          </p:cNvPr>
          <p:cNvSpPr>
            <a:spLocks noGrp="1"/>
          </p:cNvSpPr>
          <p:nvPr/>
        </p:nvSpPr>
        <p:spPr>
          <a:xfrm>
            <a:off x="4826001" y="2656114"/>
            <a:ext cx="10624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◀ R-APDU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8943CF09-B30B-4400-B448-81293ED9F15A}"/>
              </a:ext>
            </a:extLst>
          </p:cNvPr>
          <p:cNvSpPr>
            <a:spLocks noGrp="1"/>
          </p:cNvSpPr>
          <p:nvPr/>
        </p:nvSpPr>
        <p:spPr>
          <a:xfrm>
            <a:off x="4841336" y="3014841"/>
            <a:ext cx="44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누락</a:t>
            </a: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데이터는</a:t>
            </a: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규칙에</a:t>
            </a: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따라</a:t>
            </a: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 0 </a:t>
            </a:r>
            <a:r>
              <a:rPr sz="1200" b="1" dirty="0" err="1" smtClean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또는</a:t>
            </a:r>
            <a:r>
              <a:rPr sz="1200" b="1" dirty="0" smtClean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빈 </a:t>
            </a: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값으로</a:t>
            </a:r>
            <a:r>
              <a:rPr sz="1200" b="1" dirty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구성</a:t>
            </a:r>
            <a:endParaRPr sz="1200" b="1" dirty="0">
              <a:solidFill>
                <a:srgbClr val="EB6B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E23A9AC1-491E-4CC7-ABF6-86C1CB84DF1A}"/>
              </a:ext>
            </a:extLst>
          </p:cNvPr>
          <p:cNvSpPr>
            <a:spLocks noGrp="1"/>
          </p:cNvSpPr>
          <p:nvPr/>
        </p:nvSpPr>
        <p:spPr>
          <a:xfrm>
            <a:off x="365760" y="3474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/>
          </a:p>
        </p:txBody>
      </p:sp>
      <p:graphicFrame>
        <p:nvGraphicFramePr>
          <p:cNvPr id="59" name="Table 29"/>
          <p:cNvGraphicFramePr/>
          <p:nvPr/>
        </p:nvGraphicFramePr>
        <p:xfrm>
          <a:off x="365760" y="3931920"/>
          <a:ext cx="11430000" cy="2799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6400800"/>
              </a:tblGrid>
              <a:tr h="2788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신호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Terminal → Reader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트랜잭션 시작 요청 (금액, 통화, 트랜잭션 유형 포함)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OUT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Reader → Terminal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트랜잭션 결과 반환 (Outcome, Data Record, Disc. Data)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STOP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Terminal → Reader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현재 트랜잭션 즉시 종료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ABORT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Terminal → Reader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중단 (OUT Signal 트리거 가능)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DEK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Kernel → Terminal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데이터 요청 및 카드/Kernel 데이터 전송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DET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Terminal → Kernel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데이터 제공 및 트랜잭션 흐름 제어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MSG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Kernel → Process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사용자 화면 표시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CA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K/S → Process P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카드로 C-APDU 전송 요청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Process P → K/S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카드로부터 R-APDU 수신 결과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638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3E3E886-5258-44E7-B4A5-6E1A060177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53C9A7A-75FE-40B1-9F02-C0FF9C5CF7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20624C3-0AA2-41AE-B1D7-DBA10B20FE5E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8085F3C-2B4F-450B-8B0C-996ABD5CDFD1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GPO 입력과 응답 검증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3740182-A37A-4C79-B45D-B12A1ADACAC4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6E8E886-3E64-45BF-A8F9-31411239F91B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CCB8121-20C2-4BAE-AB1C-1D4B5E7B9D3E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GPO 입력 데이터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E3D833C-C479-4687-9ACE-0FA97F0451E1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2120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PDOL이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없으면</a:t>
            </a:r>
            <a:r>
              <a:rPr sz="1600" dirty="0">
                <a:latin typeface="맑은 고딕"/>
                <a:ea typeface="맑은 고딕"/>
                <a:cs typeface="맑은 고딕"/>
              </a:rPr>
              <a:t> 83 00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사용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endParaRPr lang="en-US" sz="1600" dirty="0" smtClean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600" dirty="0" smtClean="0">
                <a:latin typeface="맑은 고딕"/>
                <a:ea typeface="맑은 고딕"/>
                <a:cs typeface="맑은 고딕"/>
              </a:rPr>
              <a:t>•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PDOL이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있으면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요구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길이에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맞춰</a:t>
            </a:r>
            <a:r>
              <a:rPr sz="1600" dirty="0">
                <a:latin typeface="맑은 고딕"/>
                <a:ea typeface="맑은 고딕"/>
                <a:cs typeface="맑은 고딕"/>
              </a:rPr>
              <a:t> 값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연결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endParaRPr lang="en-US" sz="1600" dirty="0" smtClean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600" dirty="0" smtClean="0">
                <a:latin typeface="맑은 고딕"/>
                <a:ea typeface="맑은 고딕"/>
                <a:cs typeface="맑은 고딕"/>
              </a:rPr>
              <a:t>• </a:t>
            </a:r>
            <a:r>
              <a:rPr sz="1600" dirty="0">
                <a:latin typeface="맑은 고딕"/>
                <a:ea typeface="맑은 고딕"/>
                <a:cs typeface="맑은 고딕"/>
              </a:rPr>
              <a:t>Modified Terminal Type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또는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smtClean="0">
                <a:latin typeface="맑은 고딕"/>
                <a:ea typeface="맑은 고딕"/>
                <a:cs typeface="맑은 고딕"/>
              </a:rPr>
              <a:t>Enhanced </a:t>
            </a:r>
            <a:r>
              <a:rPr sz="1600" dirty="0">
                <a:latin typeface="맑은 고딕"/>
                <a:ea typeface="맑은 고딕"/>
                <a:cs typeface="맑은 고딕"/>
              </a:rPr>
              <a:t>Reader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Capabilities를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조건에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따라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제공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endParaRPr lang="en-US" sz="1600" dirty="0" smtClean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600" dirty="0" smtClean="0">
                <a:latin typeface="맑은 고딕"/>
                <a:ea typeface="맑은 고딕"/>
                <a:cs typeface="맑은 고딕"/>
              </a:rPr>
              <a:t>•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거래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금액</a:t>
            </a:r>
            <a:r>
              <a:rPr sz="1600" dirty="0">
                <a:latin typeface="맑은 고딕"/>
                <a:ea typeface="맑은 고딕"/>
                <a:cs typeface="맑은 고딕"/>
              </a:rPr>
              <a:t>,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통화</a:t>
            </a:r>
            <a:r>
              <a:rPr sz="1600" dirty="0">
                <a:latin typeface="맑은 고딕"/>
                <a:ea typeface="맑은 고딕"/>
                <a:cs typeface="맑은 고딕"/>
              </a:rPr>
              <a:t>,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국가</a:t>
            </a:r>
            <a:r>
              <a:rPr sz="1600" dirty="0">
                <a:latin typeface="맑은 고딕"/>
                <a:ea typeface="맑은 고딕"/>
                <a:cs typeface="맑은 고딕"/>
              </a:rPr>
              <a:t>,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유형</a:t>
            </a:r>
            <a:r>
              <a:rPr sz="1600" dirty="0">
                <a:latin typeface="맑은 고딕"/>
                <a:ea typeface="맑은 고딕"/>
                <a:cs typeface="맑은 고딕"/>
              </a:rPr>
              <a:t> 등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핵심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데이터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포함</a:t>
            </a:r>
            <a:endParaRPr sz="16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AFBEF5B-F228-4C9A-9C50-4281CF14FDC7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15FD44F9-6724-4487-8380-3AAD00F2B943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904040E-75BC-498E-B624-5D7FC94AA081}"/>
              </a:ext>
            </a:extLst>
          </p:cNvPr>
          <p:cNvSpPr>
            <a:spLocks noGrp="1"/>
          </p:cNvSpPr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응답 데이터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63BC67B-A610-4833-A323-DCBE36F7C752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AIP: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카드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지원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기능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비트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• AFL: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읽을</a:t>
            </a:r>
            <a:r>
              <a:rPr sz="1300" dirty="0">
                <a:latin typeface="맑은 고딕"/>
                <a:ea typeface="맑은 고딕"/>
                <a:cs typeface="맑은 고딕"/>
              </a:rPr>
              <a:t> SFI/Record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범위</a:t>
            </a:r>
            <a:endParaRPr sz="13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• Format 1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또는</a:t>
            </a:r>
            <a:r>
              <a:rPr sz="1300" dirty="0">
                <a:latin typeface="맑은 고딕"/>
                <a:ea typeface="맑은 고딕"/>
                <a:cs typeface="맑은 고딕"/>
              </a:rPr>
              <a:t> Response Message Template Format 2</a:t>
            </a:r>
          </a:p>
          <a:p>
            <a:pPr>
              <a:lnSpc>
                <a:spcPct val="25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중복</a:t>
            </a:r>
            <a:r>
              <a:rPr sz="1300" dirty="0">
                <a:latin typeface="맑은 고딕"/>
                <a:ea typeface="맑은 고딕"/>
                <a:cs typeface="맑은 고딕"/>
              </a:rPr>
              <a:t>,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길이</a:t>
            </a:r>
            <a:r>
              <a:rPr sz="1300" dirty="0">
                <a:latin typeface="맑은 고딕"/>
                <a:ea typeface="맑은 고딕"/>
                <a:cs typeface="맑은 고딕"/>
              </a:rPr>
              <a:t>,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허용되지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않은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태그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검사</a:t>
            </a:r>
            <a:endParaRPr sz="13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A718E65-80AF-409B-9EF3-6995C3AF7B02}"/>
              </a:ext>
            </a:extLst>
          </p:cNvPr>
          <p:cNvSpPr>
            <a:spLocks noGrp="1"/>
          </p:cNvSpPr>
          <p:nvPr/>
        </p:nvSpPr>
        <p:spPr>
          <a:xfrm>
            <a:off x="6035040" y="3886200"/>
            <a:ext cx="58521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B0538C0-EFAC-4E82-977C-9DB077F2E6A6}"/>
              </a:ext>
            </a:extLst>
          </p:cNvPr>
          <p:cNvSpPr>
            <a:spLocks noGrp="1"/>
          </p:cNvSpPr>
          <p:nvPr/>
        </p:nvSpPr>
        <p:spPr>
          <a:xfrm>
            <a:off x="6035040" y="3886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E5D52789-AF54-4E8C-A512-7E62DF87D350}"/>
              </a:ext>
            </a:extLst>
          </p:cNvPr>
          <p:cNvSpPr>
            <a:spLocks noGrp="1"/>
          </p:cNvSpPr>
          <p:nvPr/>
        </p:nvSpPr>
        <p:spPr>
          <a:xfrm>
            <a:off x="6172200" y="3931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실패 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11534DDD-DC81-4603-95E3-FBF883434C8E}"/>
              </a:ext>
            </a:extLst>
          </p:cNvPr>
          <p:cNvSpPr>
            <a:spLocks noGrp="1"/>
          </p:cNvSpPr>
          <p:nvPr/>
        </p:nvSpPr>
        <p:spPr>
          <a:xfrm>
            <a:off x="6035040" y="4230082"/>
            <a:ext cx="557784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Status Word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오류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필수</a:t>
            </a:r>
            <a:r>
              <a:rPr sz="1300" dirty="0">
                <a:latin typeface="맑은 고딕"/>
                <a:ea typeface="맑은 고딕"/>
                <a:cs typeface="맑은 고딕"/>
              </a:rPr>
              <a:t> AIP/AFL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부재</a:t>
            </a:r>
            <a:endParaRPr sz="13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형식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또는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길이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오류</a:t>
            </a:r>
            <a:endParaRPr sz="13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지원되지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않는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거래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조합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→ End Application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또는</a:t>
            </a:r>
            <a:r>
              <a:rPr sz="1300" dirty="0">
                <a:latin typeface="맑은 고딕"/>
                <a:ea typeface="맑은 고딕"/>
                <a:cs typeface="맑은 고딕"/>
              </a:rPr>
              <a:t> Try Another Interface</a:t>
            </a:r>
          </a:p>
        </p:txBody>
      </p:sp>
    </p:spTree>
    <p:extLst>
      <p:ext uri="{BB962C8B-B14F-4D97-AF65-F5344CB8AC3E}">
        <p14:creationId xmlns:p14="http://schemas.microsoft.com/office/powerpoint/2010/main" val="922351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8DFE6B9-A6CE-471D-A37F-84776FCE32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122AA43-7267-41FF-8E38-D7D4493CB874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B461F47-E167-4C51-ADB6-4DF9EAFE8879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Terminal Type과 Reader Capability</a:t>
            </a:r>
          </a:p>
        </p:txBody>
      </p:sp>
    </p:spTree>
    <p:extLst>
      <p:ext uri="{BB962C8B-B14F-4D97-AF65-F5344CB8AC3E}">
        <p14:creationId xmlns:p14="http://schemas.microsoft.com/office/powerpoint/2010/main" val="2016803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A74E8BB-5868-400B-B544-ED57E7C85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29A371C-7710-4627-8953-09ABDC915B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388994-4AE5-41F8-A6DA-971FB5F2B0D8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37826DB-CC74-4994-904A-ACAFC2705A30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READ RECORD와 GET DATA 처리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0FEDA42-6C94-468A-83BC-34DE9AA26E38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E924A4D-974C-4521-AC70-7E86A7A5EFE4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EEDD351-F4C0-49BA-ACB1-D8EA988FBAEE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AFL 순회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233DB88-50CB-409E-8A14-6FF75F2CC04C}"/>
              </a:ext>
            </a:extLst>
          </p:cNvPr>
          <p:cNvSpPr>
            <a:spLocks noGrp="1"/>
          </p:cNvSpPr>
          <p:nvPr/>
        </p:nvSpPr>
        <p:spPr>
          <a:xfrm>
            <a:off x="365760" y="1581912"/>
            <a:ext cx="52120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SFI와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시작</a:t>
            </a:r>
            <a:r>
              <a:rPr sz="1600" dirty="0">
                <a:latin typeface="맑은 고딕"/>
                <a:ea typeface="맑은 고딕"/>
                <a:cs typeface="맑은 고딕"/>
              </a:rPr>
              <a:t>/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종료</a:t>
            </a:r>
            <a:r>
              <a:rPr sz="1600" dirty="0">
                <a:latin typeface="맑은 고딕"/>
                <a:ea typeface="맑은 고딕"/>
                <a:cs typeface="맑은 고딕"/>
              </a:rPr>
              <a:t> Record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번호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확인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각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Entry를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순서대로</a:t>
            </a:r>
            <a:r>
              <a:rPr sz="1600" dirty="0">
                <a:latin typeface="맑은 고딕"/>
                <a:ea typeface="맑은 고딕"/>
                <a:cs typeface="맑은 고딕"/>
              </a:rPr>
              <a:t> READ RECORD</a:t>
            </a:r>
          </a:p>
          <a:p>
            <a:pPr>
              <a:lnSpc>
                <a:spcPct val="3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Offline Authentication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대상</a:t>
            </a:r>
            <a:r>
              <a:rPr sz="1600" dirty="0">
                <a:latin typeface="맑은 고딕"/>
                <a:ea typeface="맑은 고딕"/>
                <a:cs typeface="맑은 고딕"/>
              </a:rPr>
              <a:t> Record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표시를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별도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관리</a:t>
            </a:r>
            <a:endParaRPr sz="16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EF7700BE-53DA-40B5-B8BB-D3D584607E41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C94D5D2-1A01-497D-8747-BB4593EE7C5E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78ABC31-570D-4129-9CF8-A4211F6DF914}"/>
              </a:ext>
            </a:extLst>
          </p:cNvPr>
          <p:cNvSpPr>
            <a:spLocks noGrp="1"/>
          </p:cNvSpPr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레코드 검증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7F5A99F-7F23-4879-A9DD-7DFB6BB0FF1C}"/>
              </a:ext>
            </a:extLst>
          </p:cNvPr>
          <p:cNvSpPr>
            <a:spLocks noGrp="1"/>
          </p:cNvSpPr>
          <p:nvPr/>
        </p:nvSpPr>
        <p:spPr>
          <a:xfrm>
            <a:off x="6042878" y="1600200"/>
            <a:ext cx="5577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Response Message Template 70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확인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중복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Tag와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잘못된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길이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검사</a:t>
            </a:r>
            <a:endParaRPr sz="13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필요한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데이터는</a:t>
            </a:r>
            <a:r>
              <a:rPr sz="1300" dirty="0">
                <a:latin typeface="맑은 고딕"/>
                <a:ea typeface="맑은 고딕"/>
                <a:cs typeface="맑은 고딕"/>
              </a:rPr>
              <a:t> Kernel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DB에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저장</a:t>
            </a:r>
            <a:endParaRPr sz="13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알려지지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않은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독점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데이터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처리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규칙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적용</a:t>
            </a:r>
            <a:endParaRPr sz="14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175BAB2-A3A1-47E0-B94C-CAB3486B373B}"/>
              </a:ext>
            </a:extLst>
          </p:cNvPr>
          <p:cNvSpPr>
            <a:spLocks noGrp="1"/>
          </p:cNvSpPr>
          <p:nvPr/>
        </p:nvSpPr>
        <p:spPr>
          <a:xfrm>
            <a:off x="6035040" y="3794760"/>
            <a:ext cx="5852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406C332F-75D8-42DC-A245-DB35430A4384}"/>
              </a:ext>
            </a:extLst>
          </p:cNvPr>
          <p:cNvSpPr>
            <a:spLocks noGrp="1"/>
          </p:cNvSpPr>
          <p:nvPr/>
        </p:nvSpPr>
        <p:spPr>
          <a:xfrm>
            <a:off x="6035040" y="379476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F05EA7DD-FD8B-4E9A-975B-6980BF7692FB}"/>
              </a:ext>
            </a:extLst>
          </p:cNvPr>
          <p:cNvSpPr>
            <a:spLocks noGrp="1"/>
          </p:cNvSpPr>
          <p:nvPr/>
        </p:nvSpPr>
        <p:spPr>
          <a:xfrm>
            <a:off x="6172200" y="3840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GET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C8370310-AF2D-4CDC-A4B6-317862C17271}"/>
              </a:ext>
            </a:extLst>
          </p:cNvPr>
          <p:cNvSpPr>
            <a:spLocks noGrp="1"/>
          </p:cNvSpPr>
          <p:nvPr/>
        </p:nvSpPr>
        <p:spPr>
          <a:xfrm>
            <a:off x="6042878" y="4206240"/>
            <a:ext cx="557784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Application Transaction Counter 등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추가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데이터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조회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지원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여부와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응답</a:t>
            </a:r>
            <a:r>
              <a:rPr sz="1400" dirty="0">
                <a:latin typeface="맑은 고딕"/>
                <a:ea typeface="맑은 고딕"/>
                <a:cs typeface="맑은 고딕"/>
              </a:rPr>
              <a:t> Status Word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확인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선택적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데이터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실패가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전체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거래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실패인지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구분</a:t>
            </a:r>
            <a:endParaRPr sz="1400" dirty="0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47322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92B8F07-DFA7-4C4E-81C0-26D46DFF1F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605600E-0230-4D31-991E-204167EB0A16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D21DAB0-AFF8-42B5-9877-205810B59D01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Offline Data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471190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5AB2BC6-299F-494B-A08D-49D4E27D1A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D5ACDA6E-5056-4468-B489-807A0D08B0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F8BEB42-5422-491D-9EBE-180B0B750B50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117F540-33F0-488E-9637-00E695C2AD00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ODA 처리 개요</a:t>
            </a:r>
          </a:p>
        </p:txBody>
      </p:sp>
      <p:graphicFrame>
        <p:nvGraphicFramePr>
          <p:cNvPr id="11" name="Table 5"/>
          <p:cNvGraphicFramePr/>
          <p:nvPr/>
        </p:nvGraphicFramePr>
        <p:xfrm>
          <a:off x="365760" y="1188720"/>
          <a:ext cx="114300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589520"/>
                <a:gridCol w="1097280"/>
              </a:tblGrid>
              <a:tr h="544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섹션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트랜잭션 모드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Mag-Stripe 모드 / EMV 모드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CVM (카드소지자 인증)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Online PIN, No CVM, Mobile CVM 등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Data Exchange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DEK/DET Signal로 Terminal ↔ Kernel 데이터 교환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Data Storage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카드에 데이터 읽기/쓰기 (SDS / IDS)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3.7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Torn Transaction 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카드 이탈 후 재접촉 시 트랜잭션 복구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Mobile 트랜잭션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휴대폰 기기의 CVM 처리 지원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3.9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Balance Reading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카드 오프라인 잔액 조회 및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Relay Resistance Protocol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릴레이 공격 방어 (타이밍 측정 기반)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3.11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Non-CDA 최적화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CDA 불필요 시 레코드 읽기 최소화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3.12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278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CE70C93-5B02-480D-81BD-4FDE134D63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C7F7B11F-35A8-4B05-9443-70E47BEB00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1553FCF-2CDD-477D-9AA5-5326112F0163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A2AF68D-82E8-41C2-A339-2864BB078A7A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인증서 체인과 인증 방식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CBE9919-8903-4230-B014-972A4261150A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4A02050-12F1-4B35-8C40-2AE5F3FFC91C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1DAAC81-8899-4448-87FB-2DA82F8C29DD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공개키 체인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09BA223-F432-4B0F-8556-ED817FB0D4C4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4864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600" dirty="0">
                <a:latin typeface="맑은 고딕"/>
                <a:ea typeface="맑은 고딕"/>
                <a:cs typeface="맑은 고딕"/>
              </a:rPr>
              <a:t>• Scheme CA Public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Key로</a:t>
            </a:r>
            <a:r>
              <a:rPr sz="1600" dirty="0">
                <a:latin typeface="맑은 고딕"/>
                <a:ea typeface="맑은 고딕"/>
                <a:cs typeface="맑은 고딕"/>
              </a:rPr>
              <a:t> Issuer Certificate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복원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Issuer Public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Key로</a:t>
            </a:r>
            <a:r>
              <a:rPr sz="1600" dirty="0">
                <a:latin typeface="맑은 고딕"/>
                <a:ea typeface="맑은 고딕"/>
                <a:cs typeface="맑은 고딕"/>
              </a:rPr>
              <a:t> ICC </a:t>
            </a:r>
            <a:r>
              <a:rPr sz="1600" dirty="0" smtClean="0">
                <a:latin typeface="맑은 고딕"/>
                <a:ea typeface="맑은 고딕"/>
                <a:cs typeface="맑은 고딕"/>
              </a:rPr>
              <a:t>Certificate</a:t>
            </a:r>
            <a:r>
              <a:rPr lang="en-US" sz="1600" dirty="0" smtClean="0">
                <a:latin typeface="맑은 고딕"/>
                <a:ea typeface="맑은 고딕"/>
                <a:cs typeface="맑은 고딕"/>
              </a:rPr>
              <a:t>,</a:t>
            </a:r>
            <a:r>
              <a:rPr sz="1600" dirty="0" smtClean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>
                <a:latin typeface="맑은 고딕"/>
                <a:ea typeface="맑은 고딕"/>
                <a:cs typeface="맑은 고딕"/>
              </a:rPr>
              <a:t>SDA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데이터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검증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PAN,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만료일</a:t>
            </a:r>
            <a:r>
              <a:rPr sz="1600" dirty="0">
                <a:latin typeface="맑은 고딕"/>
                <a:ea typeface="맑은 고딕"/>
                <a:cs typeface="맑은 고딕"/>
              </a:rPr>
              <a:t>, Algorithm Indicator, Hash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일치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확인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Revocation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List로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폐기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인증서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확인</a:t>
            </a:r>
            <a:endParaRPr sz="16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614B4D6-C4B6-41DC-9D84-D35485C0278C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80508A32-67D9-43BA-BB34-7B65DD9FB091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F6D5FAD-93D3-465F-8A62-186BC538E045}"/>
              </a:ext>
            </a:extLst>
          </p:cNvPr>
          <p:cNvSpPr>
            <a:spLocks noGrp="1"/>
          </p:cNvSpPr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SDA / DDA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E1B3434D-E433-4AE1-809C-799B9281E5EB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5778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• SDA: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정적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Application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Data의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서명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검증</a:t>
            </a:r>
            <a:endParaRPr sz="160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• DDA: Internal Authenticate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동적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서명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검증</a:t>
            </a:r>
            <a:endParaRPr sz="160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불가능한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데이터로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복제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방어</a:t>
            </a:r>
            <a:endParaRPr sz="160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E5B88B0-AF2B-4644-81EE-DAD65E145A01}"/>
              </a:ext>
            </a:extLst>
          </p:cNvPr>
          <p:cNvSpPr>
            <a:spLocks noGrp="1"/>
          </p:cNvSpPr>
          <p:nvPr/>
        </p:nvSpPr>
        <p:spPr>
          <a:xfrm>
            <a:off x="365760" y="3977639"/>
            <a:ext cx="115214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734776F-DF4A-4712-A7A3-24AB1133B6CA}"/>
              </a:ext>
            </a:extLst>
          </p:cNvPr>
          <p:cNvSpPr>
            <a:spLocks noGrp="1"/>
          </p:cNvSpPr>
          <p:nvPr/>
        </p:nvSpPr>
        <p:spPr>
          <a:xfrm>
            <a:off x="365760" y="3977639"/>
            <a:ext cx="1152144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0B1564F-A994-4D20-9063-0AA09D30AA07}"/>
              </a:ext>
            </a:extLst>
          </p:cNvPr>
          <p:cNvSpPr>
            <a:spLocks noGrp="1"/>
          </p:cNvSpPr>
          <p:nvPr/>
        </p:nvSpPr>
        <p:spPr>
          <a:xfrm>
            <a:off x="502920" y="4023359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CDA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00D30DA-782F-4F46-BECC-2FF554EC35A6}"/>
              </a:ext>
            </a:extLst>
          </p:cNvPr>
          <p:cNvSpPr>
            <a:spLocks noGrp="1"/>
          </p:cNvSpPr>
          <p:nvPr/>
        </p:nvSpPr>
        <p:spPr>
          <a:xfrm>
            <a:off x="365760" y="4389119"/>
            <a:ext cx="112471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dirty="0">
                <a:latin typeface="맑은 고딕"/>
                <a:ea typeface="맑은 고딕"/>
                <a:cs typeface="맑은 고딕"/>
              </a:rPr>
              <a:t>• GENERATE AC </a:t>
            </a:r>
            <a:r>
              <a:rPr dirty="0" err="1">
                <a:latin typeface="맑은 고딕"/>
                <a:ea typeface="맑은 고딕"/>
                <a:cs typeface="맑은 고딕"/>
              </a:rPr>
              <a:t>응답의</a:t>
            </a:r>
            <a:r>
              <a:rPr dirty="0">
                <a:latin typeface="맑은 고딕"/>
                <a:ea typeface="맑은 고딕"/>
                <a:cs typeface="맑은 고딕"/>
              </a:rPr>
              <a:t> SDAD </a:t>
            </a:r>
            <a:r>
              <a:rPr dirty="0" err="1">
                <a:latin typeface="맑은 고딕"/>
                <a:ea typeface="맑은 고딕"/>
                <a:cs typeface="맑은 고딕"/>
              </a:rPr>
              <a:t>검증</a:t>
            </a:r>
            <a:endParaRPr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dirty="0">
                <a:latin typeface="맑은 고딕"/>
                <a:ea typeface="맑은 고딕"/>
                <a:cs typeface="맑은 고딕"/>
              </a:rPr>
              <a:t>• </a:t>
            </a:r>
            <a:r>
              <a:rPr dirty="0" err="1">
                <a:latin typeface="맑은 고딕"/>
                <a:ea typeface="맑은 고딕"/>
                <a:cs typeface="맑은 고딕"/>
              </a:rPr>
              <a:t>AC와</a:t>
            </a:r>
            <a:r>
              <a:rPr dirty="0">
                <a:latin typeface="맑은 고딕"/>
                <a:ea typeface="맑은 고딕"/>
                <a:cs typeface="맑은 고딕"/>
              </a:rPr>
              <a:t> Terminal Dynamic </a:t>
            </a:r>
            <a:r>
              <a:rPr dirty="0" err="1">
                <a:latin typeface="맑은 고딕"/>
                <a:ea typeface="맑은 고딕"/>
                <a:cs typeface="맑은 고딕"/>
              </a:rPr>
              <a:t>Data를</a:t>
            </a:r>
            <a:r>
              <a:rPr dirty="0"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latin typeface="맑은 고딕"/>
                <a:ea typeface="맑은 고딕"/>
                <a:cs typeface="맑은 고딕"/>
              </a:rPr>
              <a:t>하나의</a:t>
            </a:r>
            <a:r>
              <a:rPr dirty="0"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latin typeface="맑은 고딕"/>
                <a:ea typeface="맑은 고딕"/>
                <a:cs typeface="맑은 고딕"/>
              </a:rPr>
              <a:t>서명으로</a:t>
            </a:r>
            <a:r>
              <a:rPr dirty="0"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latin typeface="맑은 고딕"/>
                <a:ea typeface="맑은 고딕"/>
                <a:cs typeface="맑은 고딕"/>
              </a:rPr>
              <a:t>결합</a:t>
            </a:r>
            <a:endParaRPr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dirty="0">
                <a:latin typeface="맑은 고딕"/>
                <a:ea typeface="맑은 고딕"/>
                <a:cs typeface="맑은 고딕"/>
              </a:rPr>
              <a:t>• </a:t>
            </a:r>
            <a:r>
              <a:rPr dirty="0" err="1">
                <a:latin typeface="맑은 고딕"/>
                <a:ea typeface="맑은 고딕"/>
                <a:cs typeface="맑은 고딕"/>
              </a:rPr>
              <a:t>거래</a:t>
            </a:r>
            <a:r>
              <a:rPr dirty="0"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latin typeface="맑은 고딕"/>
                <a:ea typeface="맑은 고딕"/>
                <a:cs typeface="맑은 고딕"/>
              </a:rPr>
              <a:t>결과와</a:t>
            </a:r>
            <a:r>
              <a:rPr dirty="0"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latin typeface="맑은 고딕"/>
                <a:ea typeface="맑은 고딕"/>
                <a:cs typeface="맑은 고딕"/>
              </a:rPr>
              <a:t>카드</a:t>
            </a:r>
            <a:r>
              <a:rPr dirty="0"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latin typeface="맑은 고딕"/>
                <a:ea typeface="맑은 고딕"/>
                <a:cs typeface="맑은 고딕"/>
              </a:rPr>
              <a:t>인증을</a:t>
            </a:r>
            <a:r>
              <a:rPr dirty="0"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latin typeface="맑은 고딕"/>
                <a:ea typeface="맑은 고딕"/>
                <a:cs typeface="맑은 고딕"/>
              </a:rPr>
              <a:t>동시에</a:t>
            </a:r>
            <a:r>
              <a:rPr dirty="0"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latin typeface="맑은 고딕"/>
                <a:ea typeface="맑은 고딕"/>
                <a:cs typeface="맑은 고딕"/>
              </a:rPr>
              <a:t>보호</a:t>
            </a:r>
            <a:endParaRPr dirty="0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54177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F466C01B-4ADC-4483-8EA8-5C47874FC6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9664BFE-E54F-498D-8BD0-DDA81FFE47D1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4D6CD30-08E6-475B-B419-B3DC6FFBE463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Processing Restrictions</a:t>
            </a:r>
          </a:p>
        </p:txBody>
      </p:sp>
    </p:spTree>
    <p:extLst>
      <p:ext uri="{BB962C8B-B14F-4D97-AF65-F5344CB8AC3E}">
        <p14:creationId xmlns:p14="http://schemas.microsoft.com/office/powerpoint/2010/main" val="1108793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CCB9D7D-899E-4556-BC60-1AC9759DB9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97850A1-3F73-49F9-9068-36B0A8FC68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7C656C6-E2D8-406F-BFE0-E09333F87BF3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9831E27-ADDD-4919-B746-FC6E93299183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Dynamic Reader Limits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E29BD48-7F5C-4847-A1AE-9B37740D2155}"/>
              </a:ext>
            </a:extLst>
          </p:cNvPr>
          <p:cNvSpPr>
            <a:spLocks noGrp="1"/>
          </p:cNvSpPr>
          <p:nvPr/>
        </p:nvSpPr>
        <p:spPr>
          <a:xfrm>
            <a:off x="365760" y="1627632"/>
            <a:ext cx="53949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EE416CD5-5B30-4C06-B17A-E9853F718782}"/>
              </a:ext>
            </a:extLst>
          </p:cNvPr>
          <p:cNvSpPr>
            <a:spLocks noGrp="1"/>
          </p:cNvSpPr>
          <p:nvPr/>
        </p:nvSpPr>
        <p:spPr>
          <a:xfrm>
            <a:off x="365760" y="1627632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8B2C545-D702-4001-9247-9CAA1F86ACCA}"/>
              </a:ext>
            </a:extLst>
          </p:cNvPr>
          <p:cNvSpPr>
            <a:spLocks noGrp="1"/>
          </p:cNvSpPr>
          <p:nvPr/>
        </p:nvSpPr>
        <p:spPr>
          <a:xfrm>
            <a:off x="365760" y="2039112"/>
            <a:ext cx="5120640" cy="215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5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AID,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거래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, Reader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설정에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따라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Limit Set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선택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25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Contactless Transaction Limit</a:t>
            </a:r>
          </a:p>
          <a:p>
            <a:pPr algn="l">
              <a:lnSpc>
                <a:spcPct val="25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CVM Required Limit</a:t>
            </a:r>
          </a:p>
          <a:p>
            <a:pPr algn="l">
              <a:lnSpc>
                <a:spcPct val="25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Floor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Limit을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적용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0175D52B-E3F0-4674-8581-387780E908A1}"/>
              </a:ext>
            </a:extLst>
          </p:cNvPr>
          <p:cNvSpPr>
            <a:spLocks noGrp="1"/>
          </p:cNvSpPr>
          <p:nvPr/>
        </p:nvSpPr>
        <p:spPr>
          <a:xfrm>
            <a:off x="6035040" y="1627632"/>
            <a:ext cx="58521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A41925DB-9FD9-435F-BC68-509B7B3F6684}"/>
              </a:ext>
            </a:extLst>
          </p:cNvPr>
          <p:cNvSpPr>
            <a:spLocks noGrp="1"/>
          </p:cNvSpPr>
          <p:nvPr/>
        </p:nvSpPr>
        <p:spPr>
          <a:xfrm>
            <a:off x="6035040" y="1627632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3A99C3FB-EC7B-4BB2-81A0-8A6BD1A1E706}"/>
              </a:ext>
            </a:extLst>
          </p:cNvPr>
          <p:cNvSpPr>
            <a:spLocks noGrp="1"/>
          </p:cNvSpPr>
          <p:nvPr/>
        </p:nvSpPr>
        <p:spPr>
          <a:xfrm>
            <a:off x="6035040" y="2057835"/>
            <a:ext cx="5577840" cy="1908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또는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거래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조건에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따라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Reader Limit Indicator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갱신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3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금액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결과를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후속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CVM과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Risk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Management에서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사용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3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Limit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미지원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Reader는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정적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설정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사용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E2545440-7995-4F25-B2B4-82A7A3DD9419}"/>
              </a:ext>
            </a:extLst>
          </p:cNvPr>
          <p:cNvSpPr>
            <a:spLocks noGrp="1"/>
          </p:cNvSpPr>
          <p:nvPr/>
        </p:nvSpPr>
        <p:spPr>
          <a:xfrm>
            <a:off x="365760" y="475488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4586B507-5F1C-4647-B0AF-86FC0C5EDB3D}"/>
              </a:ext>
            </a:extLst>
          </p:cNvPr>
          <p:cNvSpPr>
            <a:spLocks noGrp="1"/>
          </p:cNvSpPr>
          <p:nvPr/>
        </p:nvSpPr>
        <p:spPr>
          <a:xfrm>
            <a:off x="365760" y="475488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50524862-7E1F-45F5-9B0B-D0DF57039397}"/>
              </a:ext>
            </a:extLst>
          </p:cNvPr>
          <p:cNvSpPr>
            <a:spLocks noGrp="1"/>
          </p:cNvSpPr>
          <p:nvPr/>
        </p:nvSpPr>
        <p:spPr>
          <a:xfrm>
            <a:off x="365760" y="5183413"/>
            <a:ext cx="5394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Transaction Limit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초과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: Contactless Application Not Allowed</a:t>
            </a:r>
          </a:p>
          <a:p>
            <a:pPr algn="l">
              <a:lnSpc>
                <a:spcPct val="2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CVM Limit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초과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: CVM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표시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2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Floor Limit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초과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: Online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경로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우선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6023C9F6-6829-445C-B7C9-94C38FBD6BEB}"/>
              </a:ext>
            </a:extLst>
          </p:cNvPr>
          <p:cNvSpPr>
            <a:spLocks noGrp="1"/>
          </p:cNvSpPr>
          <p:nvPr/>
        </p:nvSpPr>
        <p:spPr>
          <a:xfrm>
            <a:off x="365760" y="5180397"/>
            <a:ext cx="5394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09FEDB4-B330-40AF-A70E-F8D0DBF807B2}"/>
              </a:ext>
            </a:extLst>
          </p:cNvPr>
          <p:cNvSpPr>
            <a:spLocks noGrp="1"/>
          </p:cNvSpPr>
          <p:nvPr/>
        </p:nvSpPr>
        <p:spPr>
          <a:xfrm>
            <a:off x="365760" y="4581128"/>
            <a:ext cx="5577840" cy="53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4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거래</a:t>
            </a:r>
            <a:r>
              <a:rPr sz="1400"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제한</a:t>
            </a:r>
            <a:endParaRPr sz="1400" b="1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FAAE2225-064B-4036-9C48-4675D2ADC923}"/>
              </a:ext>
            </a:extLst>
          </p:cNvPr>
          <p:cNvSpPr>
            <a:spLocks noGrp="1"/>
          </p:cNvSpPr>
          <p:nvPr/>
        </p:nvSpPr>
        <p:spPr>
          <a:xfrm>
            <a:off x="6035040" y="1508760"/>
            <a:ext cx="5120640" cy="454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4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동적</a:t>
            </a:r>
            <a:r>
              <a:rPr sz="1400"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업데이트</a:t>
            </a:r>
            <a:endParaRPr sz="1400" b="1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B4ABBCD-65D4-48BA-BA24-21313E1542E6}"/>
              </a:ext>
            </a:extLst>
          </p:cNvPr>
          <p:cNvSpPr>
            <a:spLocks noGrp="1"/>
          </p:cNvSpPr>
          <p:nvPr/>
        </p:nvSpPr>
        <p:spPr>
          <a:xfrm>
            <a:off x="350046" y="162880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Limit </a:t>
            </a:r>
            <a:r>
              <a:rPr sz="14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선택</a:t>
            </a:r>
            <a:endParaRPr sz="1400" b="1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48330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A0688EA-88CE-4485-978D-5A5EE21957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1E782DA-76B7-459C-888A-9F6DAEC98C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1967AA3-7D2B-4F67-889A-F023AA8D9083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6A45058-A2AA-48B7-BB46-EDA5A9072AE5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AUC, 버전, 유효기간 검사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BA0CB4E-FEBD-40A0-BB10-CCE79C00E27D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467F4FD-2E60-4CA8-837F-692807223ACC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EDCF0FC-6EE1-4991-BAB2-393CFA34F151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Application Version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69253DD-D94A-486A-A469-D8935C21D7D2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2120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sz="16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카드와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Terminal의</a:t>
            </a:r>
            <a:r>
              <a:rPr sz="1600" dirty="0">
                <a:latin typeface="맑은 고딕"/>
                <a:ea typeface="맑은 고딕"/>
                <a:cs typeface="맑은 고딕"/>
              </a:rPr>
              <a:t> Application Version Number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비교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불일치</a:t>
            </a:r>
            <a:r>
              <a:rPr sz="1600" dirty="0">
                <a:latin typeface="맑은 고딕"/>
                <a:ea typeface="맑은 고딕"/>
                <a:cs typeface="맑은 고딕"/>
              </a:rPr>
              <a:t> 시 TVR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설정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바로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종료하지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않고</a:t>
            </a:r>
            <a:r>
              <a:rPr sz="1600" dirty="0">
                <a:latin typeface="맑은 고딕"/>
                <a:ea typeface="맑은 고딕"/>
                <a:cs typeface="맑은 고딕"/>
              </a:rPr>
              <a:t> Action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Analysis에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반영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가능</a:t>
            </a:r>
            <a:endParaRPr sz="16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B8972DC-B158-4EEC-92A6-9AF53F475300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69B644B-CEFB-4D75-866B-B91F757B4CB4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EF31022-2423-4E16-AA30-CC19607F5346}"/>
              </a:ext>
            </a:extLst>
          </p:cNvPr>
          <p:cNvSpPr>
            <a:spLocks noGrp="1"/>
          </p:cNvSpPr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Application Usage Control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6A81817-2F11-4931-A4B2-13E5DE0F7A3A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5778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국내</a:t>
            </a:r>
            <a:r>
              <a:rPr sz="1600" dirty="0">
                <a:latin typeface="맑은 고딕"/>
                <a:ea typeface="맑은 고딕"/>
                <a:cs typeface="맑은 고딕"/>
              </a:rPr>
              <a:t>/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국제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거래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허용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현금</a:t>
            </a:r>
            <a:r>
              <a:rPr sz="1600" dirty="0">
                <a:latin typeface="맑은 고딕"/>
                <a:ea typeface="맑은 고딕"/>
                <a:cs typeface="맑은 고딕"/>
              </a:rPr>
              <a:t>,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상품</a:t>
            </a:r>
            <a:r>
              <a:rPr sz="1600" dirty="0">
                <a:latin typeface="맑은 고딕"/>
                <a:ea typeface="맑은 고딕"/>
                <a:cs typeface="맑은 고딕"/>
              </a:rPr>
              <a:t>,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서비스</a:t>
            </a:r>
            <a:r>
              <a:rPr sz="1600" dirty="0">
                <a:latin typeface="맑은 고딕"/>
                <a:ea typeface="맑은 고딕"/>
                <a:cs typeface="맑은 고딕"/>
              </a:rPr>
              <a:t>,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Cashback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허용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ATM/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비ATM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환경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조건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검사</a:t>
            </a:r>
            <a:endParaRPr sz="16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37261E0-030B-4C4D-A118-CB1758E4B6AE}"/>
              </a:ext>
            </a:extLst>
          </p:cNvPr>
          <p:cNvSpPr>
            <a:spLocks noGrp="1"/>
          </p:cNvSpPr>
          <p:nvPr/>
        </p:nvSpPr>
        <p:spPr>
          <a:xfrm>
            <a:off x="365760" y="4069080"/>
            <a:ext cx="115214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0DCC41E-D28C-4A36-A793-58A5236A0618}"/>
              </a:ext>
            </a:extLst>
          </p:cNvPr>
          <p:cNvSpPr>
            <a:spLocks noGrp="1"/>
          </p:cNvSpPr>
          <p:nvPr/>
        </p:nvSpPr>
        <p:spPr>
          <a:xfrm>
            <a:off x="365760" y="4069080"/>
            <a:ext cx="1152144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DA23012A-556C-4C54-9F67-0981C34258B3}"/>
              </a:ext>
            </a:extLst>
          </p:cNvPr>
          <p:cNvSpPr>
            <a:spLocks noGrp="1"/>
          </p:cNvSpPr>
          <p:nvPr/>
        </p:nvSpPr>
        <p:spPr>
          <a:xfrm>
            <a:off x="502920" y="4114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날짜 검사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A60A0379-EF85-404D-A956-D7C39D7ECCE3}"/>
              </a:ext>
            </a:extLst>
          </p:cNvPr>
          <p:cNvSpPr>
            <a:spLocks noGrp="1"/>
          </p:cNvSpPr>
          <p:nvPr/>
        </p:nvSpPr>
        <p:spPr>
          <a:xfrm>
            <a:off x="365760" y="4489269"/>
            <a:ext cx="11247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Application Effective Date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이전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사용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확인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Application Expiration Date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경과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확인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600" dirty="0">
                <a:latin typeface="맑은 고딕"/>
                <a:ea typeface="맑은 고딕"/>
                <a:cs typeface="맑은 고딕"/>
              </a:rPr>
              <a:t>• Terminal Date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형식과</a:t>
            </a:r>
            <a:r>
              <a:rPr sz="1600" dirty="0">
                <a:latin typeface="맑은 고딕"/>
                <a:ea typeface="맑은 고딕"/>
                <a:cs typeface="맑은 고딕"/>
              </a:rPr>
              <a:t> BCD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유효성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검증</a:t>
            </a:r>
            <a:endParaRPr sz="1600" dirty="0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56732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17FAC985-3176-4910-9B0E-DDEC0543D3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6E39DAA-7078-4514-8583-0E24F4F0A18D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092C3A9-D8F7-4D2B-9B40-D93A76BAC610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Cardholder Verification</a:t>
            </a:r>
          </a:p>
        </p:txBody>
      </p:sp>
    </p:spTree>
    <p:extLst>
      <p:ext uri="{BB962C8B-B14F-4D97-AF65-F5344CB8AC3E}">
        <p14:creationId xmlns:p14="http://schemas.microsoft.com/office/powerpoint/2010/main" val="1258311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9890BDA-0522-4BA2-AA50-8A99889DF0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C9DC325-414C-4857-ADE3-2372F759EA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7B537A7-F9AC-4177-8086-82740C81110B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24A15D3-3C59-4862-B57B-69DCBEAC2851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CVM Process Control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C7445B2-B9B6-41A2-A67E-6090C33E5363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8A6C6CC-A243-4B74-A55E-DDB794AE210A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825BB49-1DF4-4570-B1A5-ED3D2EB97322}"/>
              </a:ext>
            </a:extLst>
          </p:cNvPr>
          <p:cNvSpPr>
            <a:spLocks noGrp="1"/>
          </p:cNvSpPr>
          <p:nvPr/>
        </p:nvSpPr>
        <p:spPr>
          <a:xfrm>
            <a:off x="365760" y="3212976"/>
            <a:ext cx="51206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거래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금액과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Reader CVM Required Limit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비교</a:t>
            </a:r>
            <a:endParaRPr sz="16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30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카드의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CVM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Capability와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Terminal Capability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6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30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거래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유형과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환경에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맞는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방법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선택</a:t>
            </a:r>
            <a:endParaRPr sz="16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7F2786E6-D9A4-42AB-A1EF-68AB0C234916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E787E89A-7F74-4709-AFA1-5CC0FE386212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8D657657-D7BD-461A-9CEA-79E064D34DBC}"/>
              </a:ext>
            </a:extLst>
          </p:cNvPr>
          <p:cNvSpPr>
            <a:spLocks noGrp="1"/>
          </p:cNvSpPr>
          <p:nvPr/>
        </p:nvSpPr>
        <p:spPr>
          <a:xfrm>
            <a:off x="6148671" y="3076388"/>
            <a:ext cx="55778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No CVM</a:t>
            </a:r>
          </a:p>
          <a:p>
            <a:pPr algn="l">
              <a:lnSpc>
                <a:spcPct val="20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Signature</a:t>
            </a:r>
          </a:p>
          <a:p>
            <a:pPr algn="l">
              <a:lnSpc>
                <a:spcPct val="20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Online PIN</a:t>
            </a:r>
          </a:p>
          <a:p>
            <a:pPr algn="l">
              <a:lnSpc>
                <a:spcPct val="20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Consumer Device CVM / Contactless Mobile CVM</a:t>
            </a:r>
          </a:p>
          <a:p>
            <a:pPr algn="l">
              <a:lnSpc>
                <a:spcPct val="20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CVM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불가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결과</a:t>
            </a:r>
            <a:endParaRPr sz="16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1087C29-FC2F-481F-88B1-6D037CB2BEC4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600"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CVM </a:t>
            </a:r>
            <a:r>
              <a:rPr sz="16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필요성</a:t>
            </a:r>
            <a:endParaRPr sz="1600" b="1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CDBF4F5-84BE-4D2D-9C4B-7B755EA8A43C}"/>
              </a:ext>
            </a:extLst>
          </p:cNvPr>
          <p:cNvSpPr>
            <a:spLocks noGrp="1"/>
          </p:cNvSpPr>
          <p:nvPr/>
        </p:nvSpPr>
        <p:spPr>
          <a:xfrm>
            <a:off x="6035040" y="1484784"/>
            <a:ext cx="5120640" cy="506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6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지원</a:t>
            </a:r>
            <a:r>
              <a:rPr sz="1600"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방식</a:t>
            </a:r>
            <a:endParaRPr sz="1600" b="1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10876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B705241-EC0D-4EC9-938B-E0C7A91F63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D81B82B2-64AE-4BDF-BA78-8483FA58E8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6F47460-E4B5-4D70-907C-07266525D335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641A02F-7E9B-496D-B815-E03301F6D9AC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Mobile CVM과 Reader Limit 검증</a:t>
            </a:r>
          </a:p>
        </p:txBody>
      </p:sp>
      <p:graphicFrame>
        <p:nvGraphicFramePr>
          <p:cNvPr id="22" name="Table 6"/>
          <p:cNvGraphicFramePr/>
          <p:nvPr/>
        </p:nvGraphicFramePr>
        <p:xfrm>
          <a:off x="365760" y="1600200"/>
          <a:ext cx="1152144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4194"/>
                <a:gridCol w="2464526"/>
                <a:gridCol w="4641669"/>
                <a:gridCol w="1881052"/>
              </a:tblGrid>
              <a:tr h="525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ODA 방식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방향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수준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SDA</a:t>
                      </a:r>
                    </a:p>
                    <a:p>
                      <a:pPr algn="ctr">
                        <a:buNone/>
                      </a:pPr>
                      <a:r>
                        <a:rPr sz="1200"/>
                        <a:t>(Static Data Auth)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CA → Issuer → Card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정적 서명 검증</a:t>
                      </a:r>
                    </a:p>
                    <a:p>
                      <a:pPr algn="ctr">
                        <a:buNone/>
                      </a:pPr>
                      <a:r>
                        <a:rPr sz="1400"/>
                        <a:t>SDAD 포함 레코드 서명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낮음 (복제 취약)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DDA</a:t>
                      </a:r>
                    </a:p>
                    <a:p>
                      <a:pPr algn="ctr">
                        <a:buNone/>
                      </a:pPr>
                      <a:r>
                        <a:rPr sz="1200"/>
                        <a:t>(Dynamic Data Auth)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CA → Issuer → ICC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동적 서명 생성</a:t>
                      </a:r>
                    </a:p>
                    <a:p>
                      <a:pPr algn="ctr">
                        <a:buNone/>
                      </a:pPr>
                      <a:r>
                        <a:rPr sz="1400"/>
                        <a:t>Intern. Authenticate 명령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중간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CDA</a:t>
                      </a:r>
                    </a:p>
                    <a:p>
                      <a:pPr algn="ctr">
                        <a:buNone/>
                      </a:pPr>
                      <a:r>
                        <a:rPr sz="1200"/>
                        <a:t>(Combined DDA/AC)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CA → Issuer → ICC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GENERATE AC와 통합</a:t>
                      </a:r>
                    </a:p>
                    <a:p>
                      <a:pPr algn="ctr">
                        <a:buNone/>
                      </a:pPr>
                      <a:r>
                        <a:rPr sz="1400"/>
                        <a:t>SDAD가 AC에 포함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latin typeface="맑은 고딕"/>
                          <a:ea typeface="맑은 고딕"/>
                          <a:cs typeface="맑은 고딕"/>
                        </a:rPr>
                        <a:t>높음 (권장)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BE223632-D9E0-4958-B91D-8829E1181F8A}"/>
              </a:ext>
            </a:extLst>
          </p:cNvPr>
          <p:cNvSpPr>
            <a:spLocks noGrp="1"/>
          </p:cNvSpPr>
          <p:nvPr/>
        </p:nvSpPr>
        <p:spPr>
          <a:xfrm>
            <a:off x="365760" y="3840480"/>
            <a:ext cx="54864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0E6AE02-B50F-4A26-BB39-BB11AD0919B7}"/>
              </a:ext>
            </a:extLst>
          </p:cNvPr>
          <p:cNvSpPr>
            <a:spLocks noGrp="1"/>
          </p:cNvSpPr>
          <p:nvPr/>
        </p:nvSpPr>
        <p:spPr>
          <a:xfrm>
            <a:off x="365760" y="384048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2E0D902-8AEA-4F0E-A9A5-804902E7DDDA}"/>
              </a:ext>
            </a:extLst>
          </p:cNvPr>
          <p:cNvSpPr>
            <a:spLocks noGrp="1"/>
          </p:cNvSpPr>
          <p:nvPr/>
        </p:nvSpPr>
        <p:spPr>
          <a:xfrm>
            <a:off x="382541" y="4278064"/>
            <a:ext cx="5212080" cy="1908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기기에서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PIN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또는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생체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인증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수행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3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9F71의 Method, Result, Context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해석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3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거래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금액과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Mobile CVM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가능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비교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EAA461D2-6627-4CDE-8D84-2F9607E2CDA8}"/>
              </a:ext>
            </a:extLst>
          </p:cNvPr>
          <p:cNvSpPr>
            <a:spLocks noGrp="1"/>
          </p:cNvSpPr>
          <p:nvPr/>
        </p:nvSpPr>
        <p:spPr>
          <a:xfrm>
            <a:off x="6035040" y="3840480"/>
            <a:ext cx="5852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8DC1E1F-984C-43A8-948B-1BAAE66939AF}"/>
              </a:ext>
            </a:extLst>
          </p:cNvPr>
          <p:cNvSpPr>
            <a:spLocks noGrp="1"/>
          </p:cNvSpPr>
          <p:nvPr/>
        </p:nvSpPr>
        <p:spPr>
          <a:xfrm>
            <a:off x="6035040" y="384048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475E423-A171-41F8-8DEE-B928645D5F6B}"/>
              </a:ext>
            </a:extLst>
          </p:cNvPr>
          <p:cNvSpPr>
            <a:spLocks noGrp="1"/>
          </p:cNvSpPr>
          <p:nvPr/>
        </p:nvSpPr>
        <p:spPr>
          <a:xfrm>
            <a:off x="6025461" y="4278064"/>
            <a:ext cx="5577840" cy="1908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금액이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한도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이하이면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No CVM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가능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3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한도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초과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기기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/Terminal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지원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CVM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400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300000"/>
              </a:lnSpc>
              <a:buNone/>
            </a:pP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지원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방식이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없으면</a:t>
            </a:r>
            <a:r>
              <a:rPr sz="1400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CVM Unable To Complete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36FC0A7-1005-43D4-98F6-C6FD93E0E458}"/>
              </a:ext>
            </a:extLst>
          </p:cNvPr>
          <p:cNvSpPr>
            <a:spLocks noGrp="1"/>
          </p:cNvSpPr>
          <p:nvPr/>
        </p:nvSpPr>
        <p:spPr>
          <a:xfrm>
            <a:off x="6025461" y="3717032"/>
            <a:ext cx="5212080" cy="454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400" b="1" dirty="0">
                <a:latin typeface="맑은 고딕"/>
                <a:ea typeface="맑은 고딕"/>
                <a:cs typeface="맑은 고딕"/>
              </a:rPr>
              <a:t>Reader CVM Required Limit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7144EB2-8E9F-418F-8EBA-32B8C4B64A13}"/>
              </a:ext>
            </a:extLst>
          </p:cNvPr>
          <p:cNvSpPr>
            <a:spLocks noGrp="1"/>
          </p:cNvSpPr>
          <p:nvPr/>
        </p:nvSpPr>
        <p:spPr>
          <a:xfrm>
            <a:off x="358754" y="3892331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 dirty="0">
                <a:latin typeface="맑은 고딕"/>
                <a:ea typeface="맑은 고딕"/>
                <a:cs typeface="맑은 고딕"/>
              </a:rPr>
              <a:t>Mobile CVM</a:t>
            </a:r>
          </a:p>
        </p:txBody>
      </p:sp>
    </p:spTree>
    <p:extLst>
      <p:ext uri="{BB962C8B-B14F-4D97-AF65-F5344CB8AC3E}">
        <p14:creationId xmlns:p14="http://schemas.microsoft.com/office/powerpoint/2010/main" val="1098178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1C3D016A-3265-4286-812F-C666573B09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D7F4FA74-4E50-4139-BEE3-0A8924298FFC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2D01CB5-D64D-4CA7-ADBC-CECD5CB550BB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8. Terminal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1298671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4B49820-C0C4-4103-AF49-9F3C6D5F0E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EC02211-DC04-4806-B1EE-31E1BAEA35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5FED5E9-CB4B-45D5-B33E-A1F8EE78B077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3686DFC-CC0C-4C91-BBD1-FAE9B4A9AD37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Terminal Risk Management 구성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CBE9E09-7F5E-4410-AEB5-DC26D306D3CC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CAFD3A7F-3DFD-4030-962B-8A981968E217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502920" y="2492896"/>
            <a:ext cx="51206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거래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금액이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Floor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Limit을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초과하면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400" b="1" dirty="0" smtClean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buNone/>
            </a:pPr>
            <a:r>
              <a:rPr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Online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신호를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TVR에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설정</a:t>
            </a: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5A4E621-760B-411E-81CD-0512D21361C9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9DAD2642-AF00-4137-9213-832CCA6A88C5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365760" y="1628800"/>
            <a:ext cx="2489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 dirty="0">
                <a:latin typeface="맑은 고딕"/>
                <a:ea typeface="맑은 고딕"/>
                <a:cs typeface="맑은 고딕"/>
              </a:rPr>
              <a:t>Floor Limit Checking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="" xmlns:a16="http://schemas.microsoft.com/office/drawing/2014/main" id="{5CBE9E09-7F5E-4410-AEB5-DC26D306D3CC}"/>
              </a:ext>
            </a:extLst>
          </p:cNvPr>
          <p:cNvSpPr>
            <a:spLocks noGrp="1"/>
          </p:cNvSpPr>
          <p:nvPr/>
        </p:nvSpPr>
        <p:spPr>
          <a:xfrm>
            <a:off x="365760" y="3933057"/>
            <a:ext cx="53949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7">
            <a:extLst>
              <a:ext uri="{FF2B5EF4-FFF2-40B4-BE49-F238E27FC236}">
                <a16:creationId xmlns="" xmlns:a16="http://schemas.microsoft.com/office/drawing/2014/main" id="{CAFD3A7F-3DFD-4030-962B-8A981968E217}"/>
              </a:ext>
            </a:extLst>
          </p:cNvPr>
          <p:cNvSpPr>
            <a:spLocks noGrp="1"/>
          </p:cNvSpPr>
          <p:nvPr/>
        </p:nvSpPr>
        <p:spPr>
          <a:xfrm>
            <a:off x="365760" y="3933057"/>
            <a:ext cx="53949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486165" y="4869161"/>
            <a:ext cx="512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ATC</a:t>
            </a: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와 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Last Online ATC</a:t>
            </a: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를 이용해</a:t>
            </a:r>
            <a:endParaRPr lang="en-US" altLang="ko-KR" sz="1400" b="1" dirty="0" smtClean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buNone/>
            </a:pP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연속 오프라인 거래 횟수를 평가한다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ectangle 10">
            <a:extLst>
              <a:ext uri="{FF2B5EF4-FFF2-40B4-BE49-F238E27FC236}">
                <a16:creationId xmlns="" xmlns:a16="http://schemas.microsoft.com/office/drawing/2014/main" id="{B5A4E621-760B-411E-81CD-0512D21361C9}"/>
              </a:ext>
            </a:extLst>
          </p:cNvPr>
          <p:cNvSpPr>
            <a:spLocks noGrp="1"/>
          </p:cNvSpPr>
          <p:nvPr/>
        </p:nvSpPr>
        <p:spPr>
          <a:xfrm>
            <a:off x="6035040" y="3933057"/>
            <a:ext cx="58521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Rectangle 11">
            <a:extLst>
              <a:ext uri="{FF2B5EF4-FFF2-40B4-BE49-F238E27FC236}">
                <a16:creationId xmlns="" xmlns:a16="http://schemas.microsoft.com/office/drawing/2014/main" id="{9DAD2642-AF00-4137-9213-832CCA6A88C5}"/>
              </a:ext>
            </a:extLst>
          </p:cNvPr>
          <p:cNvSpPr>
            <a:spLocks noGrp="1"/>
          </p:cNvSpPr>
          <p:nvPr/>
        </p:nvSpPr>
        <p:spPr>
          <a:xfrm>
            <a:off x="6035040" y="3933057"/>
            <a:ext cx="58521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365760" y="3933057"/>
            <a:ext cx="19858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dirty="0" smtClean="0">
                <a:latin typeface="맑은 고딕"/>
                <a:ea typeface="맑은 고딕"/>
                <a:cs typeface="맑은 고딕"/>
              </a:rPr>
              <a:t>Velocity Checking</a:t>
            </a:r>
            <a:endParaRPr sz="14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6035040" y="1627311"/>
            <a:ext cx="3157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dirty="0" smtClean="0">
                <a:latin typeface="맑은 고딕"/>
                <a:ea typeface="맑은 고딕"/>
                <a:cs typeface="맑은 고딕"/>
              </a:rPr>
              <a:t>Random Transaction Selection</a:t>
            </a:r>
            <a:endParaRPr sz="14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6035040" y="3933056"/>
            <a:ext cx="2489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dirty="0" smtClean="0">
                <a:latin typeface="맑은 고딕"/>
                <a:ea typeface="맑은 고딕"/>
                <a:cs typeface="맑은 고딕"/>
              </a:rPr>
              <a:t>Exception File</a:t>
            </a:r>
            <a:endParaRPr sz="14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6400800" y="2435540"/>
            <a:ext cx="512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한도 이하 거래 일부를 무작위로 온라인 전환해</a:t>
            </a:r>
            <a:endParaRPr lang="en-US" altLang="ko-KR" sz="1400" b="1" dirty="0" smtClean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buNone/>
            </a:pP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오프라인 공격을 제한한다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6400800" y="4768397"/>
            <a:ext cx="512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PAN </a:t>
            </a: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또는 카드 식별자가 예외 목록에 있으면 </a:t>
            </a:r>
            <a:endParaRPr lang="en-US" altLang="ko-KR" sz="1400" b="1" dirty="0" smtClean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buNone/>
            </a:pP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위험 신호를 설정한다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378106" y="6237312"/>
            <a:ext cx="9750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각 검사의 결과는 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TVR</a:t>
            </a: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에 누적되어 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en-US" altLang="ko-KR" sz="1400" b="1" baseline="30000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st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Terminal Action Analysis</a:t>
            </a: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에 사용된다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3315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D1C040C-7C61-4091-8C7A-E5E7DFC3B0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20C3296-AFD4-4FF4-BFE9-76A0929F3CC3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3D104B0-5A54-4168-91C3-B387E1998F22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9. 1st Terminal Action Analysis</a:t>
            </a:r>
          </a:p>
        </p:txBody>
      </p:sp>
    </p:spTree>
    <p:extLst>
      <p:ext uri="{BB962C8B-B14F-4D97-AF65-F5344CB8AC3E}">
        <p14:creationId xmlns:p14="http://schemas.microsoft.com/office/powerpoint/2010/main" val="1495902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4B49820-C0C4-4103-AF49-9F3C6D5F0E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EC02211-DC04-4806-B1EE-31E1BAEA35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5FED5E9-CB4B-45D5-B33E-A1F8EE78B077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3686DFC-CC0C-4C91-BBD1-FAE9B4A9AD37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맑은 고딕"/>
                <a:cs typeface="맑은 고딕"/>
              </a:rPr>
              <a:t>TVR</a:t>
            </a:r>
            <a:r>
              <a:rPr lang="ko-KR" altLang="en-US" sz="2400" b="1" dirty="0">
                <a:solidFill>
                  <a:srgbClr val="FFFFFF"/>
                </a:solidFill>
                <a:latin typeface="맑은 고딕"/>
                <a:cs typeface="맑은 고딕"/>
              </a:rPr>
              <a:t>와 </a:t>
            </a:r>
            <a:r>
              <a:rPr lang="en-US" altLang="ko-KR" sz="2400" b="1" dirty="0">
                <a:solidFill>
                  <a:srgbClr val="FFFFFF"/>
                </a:solidFill>
                <a:latin typeface="맑은 고딕"/>
                <a:cs typeface="맑은 고딕"/>
              </a:rPr>
              <a:t>IAC/TAC </a:t>
            </a:r>
            <a:r>
              <a:rPr lang="ko-KR" altLang="en-US" sz="2400" b="1" dirty="0">
                <a:solidFill>
                  <a:srgbClr val="FFFFFF"/>
                </a:solidFill>
                <a:latin typeface="맑은 고딕"/>
                <a:cs typeface="맑은 고딕"/>
              </a:rPr>
              <a:t>비교</a:t>
            </a:r>
            <a:endParaRPr lang="ko-KR" altLang="en-US" sz="2400" b="1" dirty="0">
              <a:solidFill>
                <a:srgbClr val="FFFFFF"/>
              </a:solidFill>
              <a:latin typeface="맑은 고딕"/>
              <a:cs typeface="맑은 고딕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CBE9E09-7F5E-4410-AEB5-DC26D306D3CC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CAFD3A7F-3DFD-4030-962B-8A981968E217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502920" y="2325288"/>
            <a:ext cx="51206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TVR AND (IAC-Denial OR TAC-Denial)</a:t>
            </a:r>
          </a:p>
          <a:p>
            <a:endParaRPr lang="en-US"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r>
              <a:rPr lang="en-US"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일치 비트가 있으면 </a:t>
            </a:r>
            <a:r>
              <a:rPr lang="en-US"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AAC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요청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5A4E621-760B-411E-81CD-0512D21361C9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9DAD2642-AF00-4137-9213-832CCA6A88C5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365760" y="1628800"/>
            <a:ext cx="2489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dirty="0" smtClean="0">
                <a:latin typeface="맑은 고딕"/>
                <a:ea typeface="맑은 고딕"/>
                <a:cs typeface="맑은 고딕"/>
              </a:rPr>
              <a:t>Denial </a:t>
            </a:r>
            <a:r>
              <a:rPr lang="ko-KR" altLang="en-US" sz="1400" b="1" dirty="0" smtClean="0">
                <a:latin typeface="맑은 고딕"/>
                <a:ea typeface="맑은 고딕"/>
                <a:cs typeface="맑은 고딕"/>
              </a:rPr>
              <a:t>판단</a:t>
            </a:r>
            <a:endParaRPr sz="14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="" xmlns:a16="http://schemas.microsoft.com/office/drawing/2014/main" id="{5CBE9E09-7F5E-4410-AEB5-DC26D306D3CC}"/>
              </a:ext>
            </a:extLst>
          </p:cNvPr>
          <p:cNvSpPr>
            <a:spLocks noGrp="1"/>
          </p:cNvSpPr>
          <p:nvPr/>
        </p:nvSpPr>
        <p:spPr>
          <a:xfrm>
            <a:off x="365760" y="3933057"/>
            <a:ext cx="53949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7">
            <a:extLst>
              <a:ext uri="{FF2B5EF4-FFF2-40B4-BE49-F238E27FC236}">
                <a16:creationId xmlns="" xmlns:a16="http://schemas.microsoft.com/office/drawing/2014/main" id="{CAFD3A7F-3DFD-4030-962B-8A981968E217}"/>
              </a:ext>
            </a:extLst>
          </p:cNvPr>
          <p:cNvSpPr>
            <a:spLocks noGrp="1"/>
          </p:cNvSpPr>
          <p:nvPr/>
        </p:nvSpPr>
        <p:spPr>
          <a:xfrm>
            <a:off x="365760" y="3933057"/>
            <a:ext cx="53949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512939" y="4653136"/>
            <a:ext cx="51206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Denial/Online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조건이 없고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Offline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가능</a:t>
            </a:r>
          </a:p>
          <a:p>
            <a:endParaRPr lang="ko-KR" altLang="en-US" sz="1400" b="1" dirty="0">
              <a:solidFill>
                <a:srgbClr val="0D1B3E"/>
              </a:solidFill>
              <a:latin typeface="맑은 고딕"/>
              <a:cs typeface="맑은 고딕"/>
            </a:endParaRPr>
          </a:p>
          <a:p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TC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요청</a:t>
            </a:r>
          </a:p>
          <a:p>
            <a:endParaRPr lang="ko-KR" altLang="en-US" sz="1400" b="1" dirty="0">
              <a:solidFill>
                <a:srgbClr val="0D1B3E"/>
              </a:solidFill>
              <a:latin typeface="맑은 고딕"/>
              <a:cs typeface="맑은 고딕"/>
            </a:endParaRPr>
          </a:p>
          <a:p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Terminal Type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과 거래 조합 조건 확인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ectangle 10">
            <a:extLst>
              <a:ext uri="{FF2B5EF4-FFF2-40B4-BE49-F238E27FC236}">
                <a16:creationId xmlns="" xmlns:a16="http://schemas.microsoft.com/office/drawing/2014/main" id="{B5A4E621-760B-411E-81CD-0512D21361C9}"/>
              </a:ext>
            </a:extLst>
          </p:cNvPr>
          <p:cNvSpPr>
            <a:spLocks noGrp="1"/>
          </p:cNvSpPr>
          <p:nvPr/>
        </p:nvSpPr>
        <p:spPr>
          <a:xfrm>
            <a:off x="6035040" y="3933057"/>
            <a:ext cx="58521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Rectangle 11">
            <a:extLst>
              <a:ext uri="{FF2B5EF4-FFF2-40B4-BE49-F238E27FC236}">
                <a16:creationId xmlns="" xmlns:a16="http://schemas.microsoft.com/office/drawing/2014/main" id="{9DAD2642-AF00-4137-9213-832CCA6A88C5}"/>
              </a:ext>
            </a:extLst>
          </p:cNvPr>
          <p:cNvSpPr>
            <a:spLocks noGrp="1"/>
          </p:cNvSpPr>
          <p:nvPr/>
        </p:nvSpPr>
        <p:spPr>
          <a:xfrm>
            <a:off x="6035040" y="3933057"/>
            <a:ext cx="58521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365760" y="3933057"/>
            <a:ext cx="19858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맑은 고딕"/>
                <a:ea typeface="맑은 고딕"/>
                <a:cs typeface="맑은 고딕"/>
              </a:rPr>
              <a:t>Offline </a:t>
            </a:r>
            <a:r>
              <a:rPr lang="ko-KR" altLang="en-US" sz="1400" b="1" dirty="0">
                <a:latin typeface="맑은 고딕"/>
                <a:cs typeface="맑은 고딕"/>
              </a:rPr>
              <a:t>판단</a:t>
            </a:r>
            <a:endParaRPr sz="14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6035040" y="1627311"/>
            <a:ext cx="3157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맑은 고딕"/>
                <a:ea typeface="맑은 고딕"/>
                <a:cs typeface="맑은 고딕"/>
              </a:rPr>
              <a:t>Online </a:t>
            </a:r>
            <a:r>
              <a:rPr lang="ko-KR" altLang="en-US" sz="1400" b="1" dirty="0">
                <a:latin typeface="맑은 고딕"/>
                <a:cs typeface="맑은 고딕"/>
              </a:rPr>
              <a:t>판단</a:t>
            </a:r>
            <a:endParaRPr sz="14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6035040" y="3933056"/>
            <a:ext cx="2489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400" b="1" dirty="0" smtClean="0">
                <a:latin typeface="맑은 고딕"/>
                <a:ea typeface="맑은 고딕"/>
                <a:cs typeface="맑은 고딕"/>
              </a:rPr>
              <a:t>우선 순위</a:t>
            </a:r>
            <a:endParaRPr sz="14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6370510" y="2265298"/>
            <a:ext cx="51206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Denial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조건이 없을 때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Online Code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비교</a:t>
            </a:r>
          </a:p>
          <a:p>
            <a:endParaRPr lang="ko-KR" altLang="en-US" sz="1400" b="1" dirty="0">
              <a:solidFill>
                <a:srgbClr val="0D1B3E"/>
              </a:solidFill>
              <a:latin typeface="맑은 고딕"/>
              <a:cs typeface="맑은 고딕"/>
            </a:endParaRPr>
          </a:p>
          <a:p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일치하면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ARQC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요청</a:t>
            </a:r>
          </a:p>
          <a:p>
            <a:endParaRPr lang="ko-KR" altLang="en-US" sz="1400" b="1" dirty="0">
              <a:solidFill>
                <a:srgbClr val="0D1B3E"/>
              </a:solidFill>
              <a:latin typeface="맑은 고딕"/>
              <a:cs typeface="맑은 고딕"/>
            </a:endParaRPr>
          </a:p>
          <a:p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Online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불가 시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Default Code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비교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6339840" y="4768397"/>
            <a:ext cx="5852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Denial → Online → Default/Offline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순서로 평가하며 </a:t>
            </a:r>
            <a:endParaRPr lang="en-US" altLang="ko-KR" sz="1400" b="1" dirty="0" smtClean="0">
              <a:solidFill>
                <a:srgbClr val="0D1B3E"/>
              </a:solidFill>
              <a:latin typeface="맑은 고딕"/>
              <a:cs typeface="맑은 고딕"/>
            </a:endParaRPr>
          </a:p>
          <a:p>
            <a:endParaRPr lang="en-US" altLang="ko-KR" sz="1400" b="1" dirty="0" smtClean="0">
              <a:solidFill>
                <a:srgbClr val="0D1B3E"/>
              </a:solidFill>
              <a:latin typeface="맑은 고딕"/>
              <a:cs typeface="맑은 고딕"/>
            </a:endParaRPr>
          </a:p>
          <a:p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cs typeface="맑은 고딕"/>
              </a:rPr>
              <a:t>카드가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요청한 조건과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Zero Amount/Status Check </a:t>
            </a: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cs typeface="맑은 고딕"/>
              </a:rPr>
              <a:t>규칙을 반영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0147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EC02211-DC04-4806-B1EE-31E1BAEA35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5FED5E9-CB4B-45D5-B33E-A1F8EE78B077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3686DFC-CC0C-4C91-BBD1-FAE9B4A9AD37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맑은 고딕"/>
                <a:cs typeface="맑은 고딕"/>
              </a:rPr>
              <a:t>TVR</a:t>
            </a:r>
            <a:r>
              <a:rPr lang="ko-KR" altLang="en-US" sz="2400" b="1" dirty="0">
                <a:solidFill>
                  <a:srgbClr val="FFFFFF"/>
                </a:solidFill>
                <a:latin typeface="맑은 고딕"/>
                <a:cs typeface="맑은 고딕"/>
              </a:rPr>
              <a:t>와 </a:t>
            </a:r>
            <a:r>
              <a:rPr lang="en-US" altLang="ko-KR" sz="2400" b="1" dirty="0">
                <a:solidFill>
                  <a:srgbClr val="FFFFFF"/>
                </a:solidFill>
                <a:latin typeface="맑은 고딕"/>
                <a:cs typeface="맑은 고딕"/>
              </a:rPr>
              <a:t>IAC/TAC </a:t>
            </a:r>
            <a:r>
              <a:rPr lang="ko-KR" altLang="en-US" sz="2400" b="1" dirty="0">
                <a:solidFill>
                  <a:srgbClr val="FFFFFF"/>
                </a:solidFill>
                <a:latin typeface="맑은 고딕"/>
                <a:cs typeface="맑은 고딕"/>
              </a:rPr>
              <a:t>비교</a:t>
            </a:r>
            <a:endParaRPr lang="ko-KR" altLang="en-US" sz="2400" b="1" dirty="0">
              <a:solidFill>
                <a:srgbClr val="FFFFFF"/>
              </a:solidFill>
              <a:latin typeface="맑은 고딕"/>
              <a:cs typeface="맑은 고딕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CBE9E09-7F5E-4410-AEB5-DC26D306D3CC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CAFD3A7F-3DFD-4030-962B-8A981968E217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490464" y="1936577"/>
            <a:ext cx="512064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명확한 거절 조건</a:t>
            </a:r>
          </a:p>
          <a:p>
            <a:pPr>
              <a:lnSpc>
                <a:spcPct val="250000"/>
              </a:lnSpc>
            </a:pP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지원되지 않는 거래 또는 치명적 검증 실패</a:t>
            </a:r>
          </a:p>
          <a:p>
            <a:pPr>
              <a:lnSpc>
                <a:spcPct val="250000"/>
              </a:lnSpc>
            </a:pP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P1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의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Cryptogram Type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을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AAC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로 설정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5A4E621-760B-411E-81CD-0512D21361C9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9DAD2642-AF00-4137-9213-832CCA6A88C5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365760" y="1628800"/>
            <a:ext cx="2489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요청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AAC</a:t>
            </a:r>
            <a:endParaRPr lang="en-US" altLang="ko-KR" sz="1400" b="1" dirty="0">
              <a:solidFill>
                <a:srgbClr val="0D1B3E"/>
              </a:solidFill>
              <a:latin typeface="맑은 고딕"/>
              <a:cs typeface="맑은 고딕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="" xmlns:a16="http://schemas.microsoft.com/office/drawing/2014/main" id="{5CBE9E09-7F5E-4410-AEB5-DC26D306D3CC}"/>
              </a:ext>
            </a:extLst>
          </p:cNvPr>
          <p:cNvSpPr>
            <a:spLocks noGrp="1"/>
          </p:cNvSpPr>
          <p:nvPr/>
        </p:nvSpPr>
        <p:spPr>
          <a:xfrm>
            <a:off x="365760" y="3933057"/>
            <a:ext cx="53949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7">
            <a:extLst>
              <a:ext uri="{FF2B5EF4-FFF2-40B4-BE49-F238E27FC236}">
                <a16:creationId xmlns="" xmlns:a16="http://schemas.microsoft.com/office/drawing/2014/main" id="{CAFD3A7F-3DFD-4030-962B-8A981968E217}"/>
              </a:ext>
            </a:extLst>
          </p:cNvPr>
          <p:cNvSpPr>
            <a:spLocks noGrp="1"/>
          </p:cNvSpPr>
          <p:nvPr/>
        </p:nvSpPr>
        <p:spPr>
          <a:xfrm>
            <a:off x="365760" y="3933057"/>
            <a:ext cx="53949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512939" y="4653136"/>
            <a:ext cx="51206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오프라인 승인 가능</a:t>
            </a:r>
          </a:p>
          <a:p>
            <a:endParaRPr lang="ko-KR" altLang="en-US" sz="1400" b="1" dirty="0">
              <a:solidFill>
                <a:srgbClr val="0D1B3E"/>
              </a:solidFill>
              <a:latin typeface="맑은 고딕"/>
              <a:cs typeface="맑은 고딕"/>
            </a:endParaRPr>
          </a:p>
          <a:p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모든 제한과 위험 판단 통과</a:t>
            </a:r>
          </a:p>
          <a:p>
            <a:endParaRPr lang="ko-KR" altLang="en-US" sz="1400" b="1" dirty="0">
              <a:solidFill>
                <a:srgbClr val="0D1B3E"/>
              </a:solidFill>
              <a:latin typeface="맑은 고딕"/>
              <a:cs typeface="맑은 고딕"/>
            </a:endParaRPr>
          </a:p>
          <a:p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카드가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TC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대신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ARQC/AAC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를 반환할 수 있음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ectangle 10">
            <a:extLst>
              <a:ext uri="{FF2B5EF4-FFF2-40B4-BE49-F238E27FC236}">
                <a16:creationId xmlns="" xmlns:a16="http://schemas.microsoft.com/office/drawing/2014/main" id="{B5A4E621-760B-411E-81CD-0512D21361C9}"/>
              </a:ext>
            </a:extLst>
          </p:cNvPr>
          <p:cNvSpPr>
            <a:spLocks noGrp="1"/>
          </p:cNvSpPr>
          <p:nvPr/>
        </p:nvSpPr>
        <p:spPr>
          <a:xfrm>
            <a:off x="6035040" y="3933057"/>
            <a:ext cx="5852160" cy="218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Rectangle 11">
            <a:extLst>
              <a:ext uri="{FF2B5EF4-FFF2-40B4-BE49-F238E27FC236}">
                <a16:creationId xmlns="" xmlns:a16="http://schemas.microsoft.com/office/drawing/2014/main" id="{9DAD2642-AF00-4137-9213-832CCA6A88C5}"/>
              </a:ext>
            </a:extLst>
          </p:cNvPr>
          <p:cNvSpPr>
            <a:spLocks noGrp="1"/>
          </p:cNvSpPr>
          <p:nvPr/>
        </p:nvSpPr>
        <p:spPr>
          <a:xfrm>
            <a:off x="6035040" y="3933057"/>
            <a:ext cx="5852160" cy="307806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365760" y="3933057"/>
            <a:ext cx="19858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맑은 고딕"/>
                <a:cs typeface="맑은 고딕"/>
              </a:rPr>
              <a:t>요청 </a:t>
            </a:r>
            <a:r>
              <a:rPr lang="en-US" sz="1400" b="1" dirty="0">
                <a:latin typeface="맑은 고딕"/>
                <a:ea typeface="맑은 고딕"/>
                <a:cs typeface="맑은 고딕"/>
              </a:rPr>
              <a:t>TC</a:t>
            </a:r>
            <a:endParaRPr sz="14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6035040" y="1627311"/>
            <a:ext cx="3157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요청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ARQC</a:t>
            </a:r>
            <a:endParaRPr lang="en-US" altLang="ko-KR" sz="1400" b="1" dirty="0">
              <a:solidFill>
                <a:srgbClr val="0D1B3E"/>
              </a:solidFill>
              <a:latin typeface="맑은 고딕"/>
              <a:cs typeface="맑은 고딕"/>
            </a:endParaRPr>
          </a:p>
        </p:txBody>
      </p:sp>
      <p:sp>
        <p:nvSpPr>
          <p:cNvPr id="32" name="TextBox 5">
            <a:extLst>
              <a:ext uri="{FF2B5EF4-FFF2-40B4-BE49-F238E27FC236}">
                <a16:creationId xmlns="" xmlns:a16="http://schemas.microsoft.com/office/drawing/2014/main" id="{B49D47D7-B8C6-483B-AE36-BFE6969D61A8}"/>
              </a:ext>
            </a:extLst>
          </p:cNvPr>
          <p:cNvSpPr>
            <a:spLocks noGrp="1"/>
          </p:cNvSpPr>
          <p:nvPr/>
        </p:nvSpPr>
        <p:spPr>
          <a:xfrm>
            <a:off x="6035040" y="3933056"/>
            <a:ext cx="2489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맑은 고딕"/>
                <a:cs typeface="맑은 고딕"/>
              </a:rPr>
              <a:t>명령 구성</a:t>
            </a:r>
            <a:endParaRPr sz="14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6326581" y="1936577"/>
            <a:ext cx="512064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온라인이 필요하거나 정책상 온라인 선택</a:t>
            </a:r>
          </a:p>
          <a:p>
            <a:pPr>
              <a:lnSpc>
                <a:spcPct val="250000"/>
              </a:lnSpc>
            </a:pP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CDOL1 Related Data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구성</a:t>
            </a:r>
          </a:p>
          <a:p>
            <a:pPr>
              <a:lnSpc>
                <a:spcPct val="250000"/>
              </a:lnSpc>
            </a:pP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• CDA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요청 비트는 조건 충족 시 함께 설정</a:t>
            </a:r>
          </a:p>
        </p:txBody>
      </p:sp>
      <p:sp>
        <p:nvSpPr>
          <p:cNvPr id="34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6456040" y="4768397"/>
            <a:ext cx="5852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CDOL1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의 </a:t>
            </a:r>
            <a:r>
              <a:rPr lang="en-US" altLang="ko-KR" sz="1400" b="1" dirty="0">
                <a:solidFill>
                  <a:srgbClr val="0D1B3E"/>
                </a:solidFill>
                <a:latin typeface="맑은 고딕"/>
                <a:cs typeface="맑은 고딕"/>
              </a:rPr>
              <a:t>Tag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순서와 길이에 맞춰 데이터 필드를 </a:t>
            </a: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cs typeface="맑은 고딕"/>
              </a:rPr>
              <a:t>생성</a:t>
            </a:r>
            <a:endParaRPr lang="en-US" altLang="ko-KR" sz="1400" b="1" dirty="0" smtClean="0">
              <a:solidFill>
                <a:srgbClr val="0D1B3E"/>
              </a:solidFill>
              <a:latin typeface="맑은 고딕"/>
              <a:cs typeface="맑은 고딕"/>
            </a:endParaRPr>
          </a:p>
          <a:p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cs typeface="맑은 고딕"/>
              </a:rPr>
              <a:t> </a:t>
            </a:r>
          </a:p>
          <a:p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cs typeface="맑은 고딕"/>
              </a:rPr>
              <a:t>누락 </a:t>
            </a:r>
            <a:r>
              <a:rPr lang="ko-KR" altLang="en-US" sz="1400" b="1" dirty="0">
                <a:solidFill>
                  <a:srgbClr val="0D1B3E"/>
                </a:solidFill>
                <a:latin typeface="맑은 고딕"/>
                <a:cs typeface="맑은 고딕"/>
              </a:rPr>
              <a:t>데이터는 해당 규칙대로 </a:t>
            </a: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cs typeface="맑은 고딕"/>
              </a:rPr>
              <a:t>생성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" name="TextBox 8">
            <a:extLst>
              <a:ext uri="{FF2B5EF4-FFF2-40B4-BE49-F238E27FC236}">
                <a16:creationId xmlns="" xmlns:a16="http://schemas.microsoft.com/office/drawing/2014/main" id="{78504805-C598-4EF2-8480-0EB657A51D2A}"/>
              </a:ext>
            </a:extLst>
          </p:cNvPr>
          <p:cNvSpPr>
            <a:spLocks noGrp="1"/>
          </p:cNvSpPr>
          <p:nvPr/>
        </p:nvSpPr>
        <p:spPr>
          <a:xfrm>
            <a:off x="378106" y="6237312"/>
            <a:ext cx="9750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각 검사의 결과는 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TVR</a:t>
            </a: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에 누적되어 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en-US" altLang="ko-KR" sz="1400" b="1" baseline="30000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st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Terminal Action Analysis</a:t>
            </a:r>
            <a:r>
              <a:rPr lang="ko-KR" altLang="en-US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에 사용된다</a:t>
            </a:r>
            <a:r>
              <a:rPr lang="en-US" altLang="ko-KR" sz="1400" b="1" dirty="0" smtClean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12219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C04A129-C1B1-4256-8156-86BA16E04C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8F7EE74-F0D5-4A43-BE6C-E2BCD765A814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0D2618E-36F3-4934-97F3-2C6004504E27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10. 1st Card Action Analysis</a:t>
            </a:r>
          </a:p>
        </p:txBody>
      </p:sp>
    </p:spTree>
    <p:extLst>
      <p:ext uri="{BB962C8B-B14F-4D97-AF65-F5344CB8AC3E}">
        <p14:creationId xmlns:p14="http://schemas.microsoft.com/office/powerpoint/2010/main" val="489803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530A18F-A09C-4970-A0BD-00704FDEB9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714E757-5010-40F1-8A51-713CE6F20C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9AFDAB8-1DEA-4FAF-9353-BD53E91D079C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BEAE03-CDC3-4749-8820-391C7890E2E2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GENERATE AC 응답 형식과 검증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6064950-609B-4F9E-A51C-EE1DD2FFC48B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DA577FD-7056-490A-9AC9-0EE72CADD378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BCF637B-2584-461F-BEC2-E0E52496F250}"/>
              </a:ext>
            </a:extLst>
          </p:cNvPr>
          <p:cNvSpPr>
            <a:spLocks noGrp="1"/>
          </p:cNvSpPr>
          <p:nvPr/>
        </p:nvSpPr>
        <p:spPr>
          <a:xfrm>
            <a:off x="365760" y="2348419"/>
            <a:ext cx="54502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30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Response Message Template Format 1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또는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2</a:t>
            </a:r>
          </a:p>
          <a:p>
            <a:pPr algn="l">
              <a:lnSpc>
                <a:spcPct val="30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CID, ATC, AC, IAD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6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30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CDA이면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SDAD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포함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서명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검증</a:t>
            </a:r>
            <a:endParaRPr sz="16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7F816A3C-3BB4-4976-A720-8F3F5D18D9CC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E508D7A9-61F2-43F3-BC7B-8196CB16D0AA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02584F1-CDFD-4EA1-8CDD-F1916E4A6D69}"/>
              </a:ext>
            </a:extLst>
          </p:cNvPr>
          <p:cNvSpPr>
            <a:spLocks noGrp="1"/>
          </p:cNvSpPr>
          <p:nvPr/>
        </p:nvSpPr>
        <p:spPr>
          <a:xfrm>
            <a:off x="6095847" y="2132856"/>
            <a:ext cx="5577840" cy="244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5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AAC: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거절</a:t>
            </a:r>
            <a:endParaRPr sz="16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25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TC: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오프라인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승인</a:t>
            </a:r>
            <a:endParaRPr sz="16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25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ARQC: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온라인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요청</a:t>
            </a:r>
            <a:endParaRPr sz="16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250000"/>
              </a:lnSpc>
              <a:buNone/>
            </a:pP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요청보다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허용되지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않은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상향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결과는</a:t>
            </a:r>
            <a:r>
              <a:rPr sz="16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오류</a:t>
            </a:r>
            <a:endParaRPr sz="16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D8105EC-1382-4313-A83E-B6110928553C}"/>
              </a:ext>
            </a:extLst>
          </p:cNvPr>
          <p:cNvSpPr>
            <a:spLocks noGrp="1"/>
          </p:cNvSpPr>
          <p:nvPr/>
        </p:nvSpPr>
        <p:spPr>
          <a:xfrm>
            <a:off x="6035040" y="4937760"/>
            <a:ext cx="58521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89CF9AEF-859D-43CE-90E5-34B64673DD1A}"/>
              </a:ext>
            </a:extLst>
          </p:cNvPr>
          <p:cNvSpPr>
            <a:spLocks noGrp="1"/>
          </p:cNvSpPr>
          <p:nvPr/>
        </p:nvSpPr>
        <p:spPr>
          <a:xfrm>
            <a:off x="6035040" y="493776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83B5F5A8-21A8-4B01-AD5B-C5F7B5831F86}"/>
              </a:ext>
            </a:extLst>
          </p:cNvPr>
          <p:cNvSpPr>
            <a:spLocks noGrp="1"/>
          </p:cNvSpPr>
          <p:nvPr/>
        </p:nvSpPr>
        <p:spPr>
          <a:xfrm>
            <a:off x="6095847" y="5446740"/>
            <a:ext cx="55778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필수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Tag,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길이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중복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buNone/>
            </a:pP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CID의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Advice/Reason Code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해석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buNone/>
            </a:pP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Data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Record와</a:t>
            </a:r>
            <a:r>
              <a:rPr sz="1400" b="1" dirty="0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 TVR/TSI </a:t>
            </a:r>
            <a:r>
              <a:rPr sz="1400" b="1" dirty="0" err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갱신</a:t>
            </a:r>
            <a:endParaRPr sz="1400" b="1" dirty="0">
              <a:solidFill>
                <a:srgbClr val="0D1B3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8F94051-68B9-4466-B39E-B501D39048AB}"/>
              </a:ext>
            </a:extLst>
          </p:cNvPr>
          <p:cNvSpPr>
            <a:spLocks noGrp="1"/>
          </p:cNvSpPr>
          <p:nvPr/>
        </p:nvSpPr>
        <p:spPr>
          <a:xfrm>
            <a:off x="6035040" y="5349240"/>
            <a:ext cx="5577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E26445D-530B-45E7-AF37-BB9D04626526}"/>
              </a:ext>
            </a:extLst>
          </p:cNvPr>
          <p:cNvSpPr>
            <a:spLocks noGrp="1"/>
          </p:cNvSpPr>
          <p:nvPr/>
        </p:nvSpPr>
        <p:spPr>
          <a:xfrm>
            <a:off x="376171" y="1652051"/>
            <a:ext cx="11217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응답</a:t>
            </a:r>
            <a:r>
              <a:rPr sz="1400"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형식</a:t>
            </a:r>
            <a:endParaRPr sz="1400" b="1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697BB41-55E4-438C-8A0B-176235E2B964}"/>
              </a:ext>
            </a:extLst>
          </p:cNvPr>
          <p:cNvSpPr>
            <a:spLocks noGrp="1"/>
          </p:cNvSpPr>
          <p:nvPr/>
        </p:nvSpPr>
        <p:spPr>
          <a:xfrm>
            <a:off x="6057798" y="1612056"/>
            <a:ext cx="177937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Cryptogram 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58F98FC-1588-4B7C-93B3-EB621F67D4F0}"/>
              </a:ext>
            </a:extLst>
          </p:cNvPr>
          <p:cNvSpPr>
            <a:spLocks noGrp="1"/>
          </p:cNvSpPr>
          <p:nvPr/>
        </p:nvSpPr>
        <p:spPr>
          <a:xfrm>
            <a:off x="6057798" y="4933742"/>
            <a:ext cx="1141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400"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 smtClean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검증</a:t>
            </a:r>
            <a:endParaRPr sz="1400" b="1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08606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A11F60D-50FD-4773-9C3B-83AFA42007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6CF5CF3-5885-47CA-BF07-A9A36C884303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2D5AAD0-FDEC-4A72-BD05-99528620323F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11. Online 및 2nd Action Analysis</a:t>
            </a:r>
          </a:p>
        </p:txBody>
      </p:sp>
    </p:spTree>
    <p:extLst>
      <p:ext uri="{BB962C8B-B14F-4D97-AF65-F5344CB8AC3E}">
        <p14:creationId xmlns:p14="http://schemas.microsoft.com/office/powerpoint/2010/main" val="6007540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F4DC1304-32CE-4D48-86A3-D83DC44724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8AE730A1-BEA1-46D1-843C-A15A0A994E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05FC9BE-77DD-4EE8-AA13-62AFAA50E1FE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FF9129-6339-496D-B27D-AA96D4E13F87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Online Processing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12DB89F-B42C-4E84-9602-A1E9EB0280D1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478B5FC-960D-4176-A6C6-AF1C8B301BC5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36576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25362B5-A9A5-414F-88E3-BE64D3311B3C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Online Request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4B872C6-E581-48BE-AF84-1DF31A7B1A30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3657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ARQC, ATC, IAD, AIP, TVR,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거래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금액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 smtClean="0">
                <a:latin typeface="맑은 고딕"/>
                <a:ea typeface="맑은 고딕"/>
                <a:cs typeface="맑은 고딕"/>
              </a:rPr>
              <a:t>전송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300000"/>
              </a:lnSpc>
              <a:buNone/>
            </a:pPr>
            <a:r>
              <a:rPr sz="1400" dirty="0">
                <a:latin typeface="맑은 고딕"/>
                <a:ea typeface="맑은 고딕"/>
                <a:cs typeface="맑은 고딕"/>
              </a:rPr>
              <a:t>• Mag-Stripe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Mode</a:t>
            </a:r>
            <a:r>
              <a:rPr sz="1400" dirty="0" err="1" smtClean="0">
                <a:latin typeface="맑은 고딕"/>
                <a:ea typeface="맑은 고딕"/>
                <a:cs typeface="맑은 고딕"/>
              </a:rPr>
              <a:t>에서</a:t>
            </a:r>
            <a:r>
              <a:rPr sz="1400" dirty="0" smtClean="0">
                <a:latin typeface="맑은 고딕"/>
                <a:ea typeface="맑은 고딕"/>
                <a:cs typeface="맑은 고딕"/>
              </a:rPr>
              <a:t> </a:t>
            </a:r>
            <a:r>
              <a:rPr lang="en-US" sz="1400" dirty="0">
                <a:latin typeface="맑은 고딕"/>
                <a:ea typeface="맑은 고딕"/>
                <a:cs typeface="맑은 고딕"/>
              </a:rPr>
              <a:t/>
            </a:r>
            <a:br>
              <a:rPr lang="en-US" sz="1400" dirty="0">
                <a:latin typeface="맑은 고딕"/>
                <a:ea typeface="맑은 고딕"/>
                <a:cs typeface="맑은 고딕"/>
              </a:rPr>
            </a:br>
            <a:r>
              <a:rPr sz="1400" dirty="0" err="1" smtClean="0">
                <a:latin typeface="맑은 고딕"/>
                <a:ea typeface="맑은 고딕"/>
                <a:cs typeface="맑은 고딕"/>
              </a:rPr>
              <a:t>동적</a:t>
            </a:r>
            <a:r>
              <a:rPr sz="1400" dirty="0" smtClean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>
                <a:latin typeface="맑은 고딕"/>
                <a:ea typeface="맑은 고딕"/>
                <a:cs typeface="맑은 고딕"/>
              </a:rPr>
              <a:t>Track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데이터와</a:t>
            </a:r>
            <a:r>
              <a:rPr sz="1400" dirty="0">
                <a:latin typeface="맑은 고딕"/>
                <a:ea typeface="맑은 고딕"/>
                <a:cs typeface="맑은 고딕"/>
              </a:rPr>
              <a:t> ATC/AC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검사</a:t>
            </a:r>
            <a:endParaRPr sz="14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0E6309F-D6AB-469B-8DA9-CCA499D98E98}"/>
              </a:ext>
            </a:extLst>
          </p:cNvPr>
          <p:cNvSpPr>
            <a:spLocks noGrp="1"/>
          </p:cNvSpPr>
          <p:nvPr/>
        </p:nvSpPr>
        <p:spPr>
          <a:xfrm>
            <a:off x="4160520" y="118872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FB21EB5-F939-480B-A8EC-1E1130E493C0}"/>
              </a:ext>
            </a:extLst>
          </p:cNvPr>
          <p:cNvSpPr>
            <a:spLocks noGrp="1"/>
          </p:cNvSpPr>
          <p:nvPr/>
        </p:nvSpPr>
        <p:spPr>
          <a:xfrm>
            <a:off x="4160520" y="1188720"/>
            <a:ext cx="36576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C1344DD-AF52-49DC-878A-7B5635DCF677}"/>
              </a:ext>
            </a:extLst>
          </p:cNvPr>
          <p:cNvSpPr>
            <a:spLocks noGrp="1"/>
          </p:cNvSpPr>
          <p:nvPr/>
        </p:nvSpPr>
        <p:spPr>
          <a:xfrm>
            <a:off x="429768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Host Response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4424C93-F57C-4DCC-99D9-FAE429631F6D}"/>
              </a:ext>
            </a:extLst>
          </p:cNvPr>
          <p:cNvSpPr>
            <a:spLocks noGrp="1"/>
          </p:cNvSpPr>
          <p:nvPr/>
        </p:nvSpPr>
        <p:spPr>
          <a:xfrm>
            <a:off x="4118067" y="1599758"/>
            <a:ext cx="3794760" cy="237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•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Authorisation</a:t>
            </a:r>
            <a:r>
              <a:rPr sz="1300" dirty="0">
                <a:latin typeface="맑은 고딕"/>
                <a:ea typeface="맑은 고딕"/>
                <a:cs typeface="맑은 고딕"/>
              </a:rPr>
              <a:t> Response Code</a:t>
            </a:r>
          </a:p>
          <a:p>
            <a:pPr>
              <a:lnSpc>
                <a:spcPct val="30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• Issuer Authentication Data</a:t>
            </a:r>
          </a:p>
          <a:p>
            <a:pPr>
              <a:lnSpc>
                <a:spcPct val="30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• Issuer Script Template 1/2</a:t>
            </a:r>
          </a:p>
          <a:p>
            <a:pPr>
              <a:lnSpc>
                <a:spcPct val="300000"/>
              </a:lnSpc>
              <a:buNone/>
            </a:pPr>
            <a:r>
              <a:rPr sz="1300" dirty="0">
                <a:latin typeface="맑은 고딕"/>
                <a:ea typeface="맑은 고딕"/>
                <a:cs typeface="맑은 고딕"/>
              </a:rPr>
              <a:t>• Online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처리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성공</a:t>
            </a:r>
            <a:r>
              <a:rPr sz="1300" dirty="0">
                <a:latin typeface="맑은 고딕"/>
                <a:ea typeface="맑은 고딕"/>
                <a:cs typeface="맑은 고딕"/>
              </a:rPr>
              <a:t>/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실패</a:t>
            </a:r>
            <a:r>
              <a:rPr sz="1300" dirty="0">
                <a:latin typeface="맑은 고딕"/>
                <a:ea typeface="맑은 고딕"/>
                <a:cs typeface="맑은 고딕"/>
              </a:rPr>
              <a:t> </a:t>
            </a:r>
            <a:r>
              <a:rPr sz="1300" dirty="0" err="1">
                <a:latin typeface="맑은 고딕"/>
                <a:ea typeface="맑은 고딕"/>
                <a:cs typeface="맑은 고딕"/>
              </a:rPr>
              <a:t>상태</a:t>
            </a:r>
            <a:endParaRPr sz="13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C7116014-99A0-4BD8-BF75-CEE7CB458F54}"/>
              </a:ext>
            </a:extLst>
          </p:cNvPr>
          <p:cNvSpPr>
            <a:spLocks noGrp="1"/>
          </p:cNvSpPr>
          <p:nvPr/>
        </p:nvSpPr>
        <p:spPr>
          <a:xfrm>
            <a:off x="7979758" y="1188720"/>
            <a:ext cx="3998882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1BE14AAE-5018-4829-BCED-EE8C12A63BCE}"/>
              </a:ext>
            </a:extLst>
          </p:cNvPr>
          <p:cNvSpPr>
            <a:spLocks noGrp="1"/>
          </p:cNvSpPr>
          <p:nvPr/>
        </p:nvSpPr>
        <p:spPr>
          <a:xfrm>
            <a:off x="7979758" y="1188720"/>
            <a:ext cx="3998882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172E1C6-12C8-4CCB-975C-18C714F442EE}"/>
              </a:ext>
            </a:extLst>
          </p:cNvPr>
          <p:cNvSpPr>
            <a:spLocks noGrp="1"/>
          </p:cNvSpPr>
          <p:nvPr/>
        </p:nvSpPr>
        <p:spPr>
          <a:xfrm>
            <a:off x="8142514" y="1234440"/>
            <a:ext cx="36989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Kernel 재개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89087E14-C3CC-4EA1-9E4F-3F590726530C}"/>
              </a:ext>
            </a:extLst>
          </p:cNvPr>
          <p:cNvSpPr>
            <a:spLocks noGrp="1"/>
          </p:cNvSpPr>
          <p:nvPr/>
        </p:nvSpPr>
        <p:spPr>
          <a:xfrm>
            <a:off x="7979758" y="1844824"/>
            <a:ext cx="3998882" cy="1316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400" dirty="0" err="1">
                <a:latin typeface="맑은 고딕"/>
                <a:ea typeface="맑은 고딕"/>
                <a:cs typeface="맑은 고딕"/>
              </a:rPr>
              <a:t>Terminal이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온라인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결과를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제공하면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endParaRPr lang="en-US" sz="1400" dirty="0" smtClean="0"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400" dirty="0" smtClean="0">
                <a:latin typeface="맑은 고딕"/>
                <a:ea typeface="맑은 고딕"/>
                <a:cs typeface="맑은 고딕"/>
              </a:rPr>
              <a:t>Kernel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DB를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갱신하고</a:t>
            </a:r>
            <a:r>
              <a:rPr sz="1400" dirty="0">
                <a:latin typeface="맑은 고딕"/>
                <a:ea typeface="맑은 고딕"/>
                <a:cs typeface="맑은 고딕"/>
              </a:rPr>
              <a:t> Issuer Authentication, Script, 2nd Action Analysis </a:t>
            </a:r>
            <a:r>
              <a:rPr sz="1400" dirty="0" err="1">
                <a:latin typeface="맑은 고딕"/>
                <a:ea typeface="맑은 고딕"/>
                <a:cs typeface="맑은 고딕"/>
              </a:rPr>
              <a:t>순서로</a:t>
            </a:r>
            <a:r>
              <a:rPr sz="1400" dirty="0"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400" dirty="0" smtClean="0">
                <a:latin typeface="맑은 고딕"/>
                <a:ea typeface="맑은 고딕"/>
                <a:cs typeface="맑은 고딕"/>
              </a:rPr>
              <a:t>진행</a:t>
            </a:r>
            <a:endParaRPr sz="1400" dirty="0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4873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FD54B3E7-4AB7-4C3F-AC4B-A08448634F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E07D7B5-FC85-4248-BBFF-05A978E29656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C409F82-A585-448A-AC18-F9EF59F78E48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12. 2nd Terminal/Card Action Analysis</a:t>
            </a:r>
          </a:p>
        </p:txBody>
      </p:sp>
    </p:spTree>
    <p:extLst>
      <p:ext uri="{BB962C8B-B14F-4D97-AF65-F5344CB8AC3E}">
        <p14:creationId xmlns:p14="http://schemas.microsoft.com/office/powerpoint/2010/main" val="10535598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F50352D-BDA4-4370-AB83-6C52F388CB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4A13BC6-534D-40E3-A287-CE72A862FA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DAD3C876-F838-4DA6-8EF0-1F75C5AE6D4D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915D13-3191-4A1D-908C-243C76AADBE6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2nd Terminal Action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EF0B70C-008B-47E3-9565-3D8D95D5A7AE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Host 승인</a:t>
            </a:r>
          </a:p>
        </p:txBody>
      </p:sp>
      <p:graphicFrame>
        <p:nvGraphicFramePr>
          <p:cNvPr id="13" name="Table 6"/>
          <p:cNvGraphicFramePr/>
          <p:nvPr/>
        </p:nvGraphicFramePr>
        <p:xfrm>
          <a:off x="365760" y="1600200"/>
          <a:ext cx="114300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914400"/>
                <a:gridCol w="914400"/>
                <a:gridCol w="5943600"/>
              </a:tblGrid>
              <a:tr h="563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명령어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INS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용도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Compute Cryptographic Checksum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'2A'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Mag-Stripe CVC3 암호문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Exchange Relay Resistance Data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'2C'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릴레이 공격 방어 — 타이밍 측정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Generate 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'AE'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ARQC/TC/AAC 암호문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Get Data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'CA'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단일 데이터 오브젝트 조회 (SDS, Balance)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Get Processing Options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'A8'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AIP + AFL 수신, 트랜잭션 시작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Put Data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'DA'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카드에 데이터 쓰기 (SDS)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Read Record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'00'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'B2'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AFL이 가리키는 레코드 읽기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Recover AC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'80'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'D0'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>
                          <a:latin typeface="맑은 고딕"/>
                          <a:ea typeface="맑은 고딕"/>
                          <a:cs typeface="맑은 고딕"/>
                        </a:rPr>
                        <a:t>중단된 트랜잭션의 AC 복구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29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1BAFABA-6C2A-46C0-A5C6-E4C6BA6299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5E6BE71-FE06-482E-AEBC-613B25CCD4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2DB68207-1C43-4B92-B17E-568190D70954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E0B7F51-91C8-4C07-8455-E5310C83E829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2nd Card Action Analysis와 최종 Outcome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A51A0D53-D587-48EF-A0D0-9ED71E609E17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C5D0A82-5674-4E06-80AF-9F36AC7D8748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4883F51-DC14-4942-ADC6-DEA9A22D8FE8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최종 TC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4C2CAB9-C1F0-44EF-B4FF-717B3BC94009}"/>
              </a:ext>
            </a:extLst>
          </p:cNvPr>
          <p:cNvSpPr>
            <a:spLocks noGrp="1"/>
          </p:cNvSpPr>
          <p:nvPr/>
        </p:nvSpPr>
        <p:spPr>
          <a:xfrm>
            <a:off x="373598" y="1600200"/>
            <a:ext cx="521208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400" b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• 승인 Outcome</a:t>
            </a:r>
          </a:p>
          <a:p>
            <a:pPr>
              <a:lnSpc>
                <a:spcPct val="20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• Receipt와 UI 요청 설정</a:t>
            </a:r>
          </a:p>
          <a:p>
            <a:pPr>
              <a:lnSpc>
                <a:spcPct val="20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• 최종 Data Record 생성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0DF9B0B-6FB1-440F-BF3A-A20419E898F0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EDB499C-D68A-4E72-A47A-79952E9DA7A1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610CE681-24C3-4468-A4A4-5EC69179786F}"/>
              </a:ext>
            </a:extLst>
          </p:cNvPr>
          <p:cNvSpPr>
            <a:spLocks noGrp="1"/>
          </p:cNvSpPr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최종 AAC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059F47C-7981-404D-AA1B-F2CE014AED3C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577840" cy="4639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• 거절 Outcome</a:t>
            </a:r>
          </a:p>
          <a:p>
            <a:pPr>
              <a:lnSpc>
                <a:spcPct val="15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• Reason/Advice와 Error Indication 반영</a:t>
            </a:r>
          </a:p>
        </p:txBody>
      </p:sp>
    </p:spTree>
    <p:extLst>
      <p:ext uri="{BB962C8B-B14F-4D97-AF65-F5344CB8AC3E}">
        <p14:creationId xmlns:p14="http://schemas.microsoft.com/office/powerpoint/2010/main" val="1966036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5EAAF5B-BD2D-4208-8220-CE571FA673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7880270-298B-4D60-A250-01BC95F4228F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ECF09B0-123D-46B7-AE6B-9F1081F9C021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 APDU와 Configuration Data</a:t>
            </a:r>
          </a:p>
        </p:txBody>
      </p:sp>
    </p:spTree>
    <p:extLst>
      <p:ext uri="{BB962C8B-B14F-4D97-AF65-F5344CB8AC3E}">
        <p14:creationId xmlns:p14="http://schemas.microsoft.com/office/powerpoint/2010/main" val="9726785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DB1CCBC-2B18-4214-99C1-ED6D77088D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18A3729-C059-4FEB-8363-55AF1D803C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40205A3-42C1-458C-8714-D61C2460D9B3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48BB873-9303-437D-A719-994286020127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Kernel 4 주요 C-APDU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C32741C-2235-4083-8D17-2383D63FE6F1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Kernel은 거래 단계와 카드 Capability에 따라 표준 EMV 명령을 순서대로 전송합니다.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6F71F62-3C3A-4368-B0D1-B7CB94137A37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964795D-92AE-4B7C-842E-E3EAD2C669BE}"/>
              </a:ext>
            </a:extLst>
          </p:cNvPr>
          <p:cNvSpPr>
            <a:spLocks noGrp="1"/>
          </p:cNvSpPr>
          <p:nvPr/>
        </p:nvSpPr>
        <p:spPr>
          <a:xfrm>
            <a:off x="411480" y="175285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A3DEDF6-CD2E-4EB8-9E24-D3A59AE98C25}"/>
              </a:ext>
            </a:extLst>
          </p:cNvPr>
          <p:cNvSpPr>
            <a:spLocks noGrp="1"/>
          </p:cNvSpPr>
          <p:nvPr/>
        </p:nvSpPr>
        <p:spPr>
          <a:xfrm>
            <a:off x="2286000" y="160020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A6490EC-424A-44F0-B4DE-F6CCDDB0C9E5}"/>
              </a:ext>
            </a:extLst>
          </p:cNvPr>
          <p:cNvSpPr>
            <a:spLocks noGrp="1"/>
          </p:cNvSpPr>
          <p:nvPr/>
        </p:nvSpPr>
        <p:spPr>
          <a:xfrm>
            <a:off x="2377440" y="1668221"/>
            <a:ext cx="35204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9E733EC-C840-4A64-BE71-FD4AB888D0A7}"/>
              </a:ext>
            </a:extLst>
          </p:cNvPr>
          <p:cNvSpPr>
            <a:spLocks noGrp="1"/>
          </p:cNvSpPr>
          <p:nvPr/>
        </p:nvSpPr>
        <p:spPr>
          <a:xfrm>
            <a:off x="365760" y="224028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46A3D7D-D856-4C4E-AFE8-6469E4D29EC1}"/>
              </a:ext>
            </a:extLst>
          </p:cNvPr>
          <p:cNvSpPr>
            <a:spLocks noGrp="1"/>
          </p:cNvSpPr>
          <p:nvPr/>
        </p:nvSpPr>
        <p:spPr>
          <a:xfrm>
            <a:off x="411480" y="239293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6571E59-A0F5-45A6-ABEC-BBE172701A3E}"/>
              </a:ext>
            </a:extLst>
          </p:cNvPr>
          <p:cNvSpPr>
            <a:spLocks noGrp="1"/>
          </p:cNvSpPr>
          <p:nvPr/>
        </p:nvSpPr>
        <p:spPr>
          <a:xfrm>
            <a:off x="2286000" y="224028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7F13D43-E5E0-43C9-9912-1B8EB5756C29}"/>
              </a:ext>
            </a:extLst>
          </p:cNvPr>
          <p:cNvSpPr>
            <a:spLocks noGrp="1"/>
          </p:cNvSpPr>
          <p:nvPr/>
        </p:nvSpPr>
        <p:spPr>
          <a:xfrm>
            <a:off x="2377440" y="239293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851D4674-9077-4B1D-BD54-32D27C9B0144}"/>
              </a:ext>
            </a:extLst>
          </p:cNvPr>
          <p:cNvSpPr>
            <a:spLocks noGrp="1"/>
          </p:cNvSpPr>
          <p:nvPr/>
        </p:nvSpPr>
        <p:spPr>
          <a:xfrm>
            <a:off x="365760" y="288036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86425B7-434E-4A51-8EF8-7242BA3C3DFB}"/>
              </a:ext>
            </a:extLst>
          </p:cNvPr>
          <p:cNvSpPr>
            <a:spLocks noGrp="1"/>
          </p:cNvSpPr>
          <p:nvPr/>
        </p:nvSpPr>
        <p:spPr>
          <a:xfrm>
            <a:off x="411480" y="303301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F05C53A7-AA62-4F96-83B1-5CBF314A6FC2}"/>
              </a:ext>
            </a:extLst>
          </p:cNvPr>
          <p:cNvSpPr>
            <a:spLocks noGrp="1"/>
          </p:cNvSpPr>
          <p:nvPr/>
        </p:nvSpPr>
        <p:spPr>
          <a:xfrm>
            <a:off x="2286000" y="288036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A338CBF3-6F1D-43EF-BB71-BF4C9AEA8698}"/>
              </a:ext>
            </a:extLst>
          </p:cNvPr>
          <p:cNvSpPr>
            <a:spLocks noGrp="1"/>
          </p:cNvSpPr>
          <p:nvPr/>
        </p:nvSpPr>
        <p:spPr>
          <a:xfrm>
            <a:off x="2377440" y="303301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91A26653-07CC-40FC-8711-DF8CD1D36660}"/>
              </a:ext>
            </a:extLst>
          </p:cNvPr>
          <p:cNvSpPr>
            <a:spLocks noGrp="1"/>
          </p:cNvSpPr>
          <p:nvPr/>
        </p:nvSpPr>
        <p:spPr>
          <a:xfrm>
            <a:off x="365760" y="352044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56888647-948C-4F27-96FA-107EF1499657}"/>
              </a:ext>
            </a:extLst>
          </p:cNvPr>
          <p:cNvSpPr>
            <a:spLocks noGrp="1"/>
          </p:cNvSpPr>
          <p:nvPr/>
        </p:nvSpPr>
        <p:spPr>
          <a:xfrm>
            <a:off x="411480" y="367309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42555BA1-632B-4148-8048-C975CC943330}"/>
              </a:ext>
            </a:extLst>
          </p:cNvPr>
          <p:cNvSpPr>
            <a:spLocks noGrp="1"/>
          </p:cNvSpPr>
          <p:nvPr/>
        </p:nvSpPr>
        <p:spPr>
          <a:xfrm>
            <a:off x="2286000" y="352044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9F29A458-A7A3-4EDE-AE52-CA091F255B56}"/>
              </a:ext>
            </a:extLst>
          </p:cNvPr>
          <p:cNvSpPr>
            <a:spLocks noGrp="1"/>
          </p:cNvSpPr>
          <p:nvPr/>
        </p:nvSpPr>
        <p:spPr>
          <a:xfrm>
            <a:off x="2377440" y="367309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45CA2157-A727-4C26-B332-3353AF85D40E}"/>
              </a:ext>
            </a:extLst>
          </p:cNvPr>
          <p:cNvSpPr>
            <a:spLocks noGrp="1"/>
          </p:cNvSpPr>
          <p:nvPr/>
        </p:nvSpPr>
        <p:spPr>
          <a:xfrm>
            <a:off x="365760" y="416052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1C506A23-4B11-4FEA-9DC7-557C51B40090}"/>
              </a:ext>
            </a:extLst>
          </p:cNvPr>
          <p:cNvSpPr>
            <a:spLocks noGrp="1"/>
          </p:cNvSpPr>
          <p:nvPr/>
        </p:nvSpPr>
        <p:spPr>
          <a:xfrm>
            <a:off x="411480" y="431317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1A951095-EFC6-42EA-8C27-ED31293AA1D7}"/>
              </a:ext>
            </a:extLst>
          </p:cNvPr>
          <p:cNvSpPr>
            <a:spLocks noGrp="1"/>
          </p:cNvSpPr>
          <p:nvPr/>
        </p:nvSpPr>
        <p:spPr>
          <a:xfrm>
            <a:off x="2286000" y="416052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A153C9E8-4D4A-43DB-8F31-A9A402D2DB02}"/>
              </a:ext>
            </a:extLst>
          </p:cNvPr>
          <p:cNvSpPr>
            <a:spLocks noGrp="1"/>
          </p:cNvSpPr>
          <p:nvPr/>
        </p:nvSpPr>
        <p:spPr>
          <a:xfrm>
            <a:off x="2377440" y="431317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BE92FDA2-B5D7-4C93-AD0B-21A2262D8174}"/>
              </a:ext>
            </a:extLst>
          </p:cNvPr>
          <p:cNvSpPr>
            <a:spLocks noGrp="1"/>
          </p:cNvSpPr>
          <p:nvPr/>
        </p:nvSpPr>
        <p:spPr>
          <a:xfrm>
            <a:off x="365760" y="480060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4F1AD757-F782-47DA-B16B-DC5A48380AB4}"/>
              </a:ext>
            </a:extLst>
          </p:cNvPr>
          <p:cNvSpPr>
            <a:spLocks noGrp="1"/>
          </p:cNvSpPr>
          <p:nvPr/>
        </p:nvSpPr>
        <p:spPr>
          <a:xfrm>
            <a:off x="411480" y="495325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A59745B5-7BC8-4FC1-9A14-4D3D01CBF8E8}"/>
              </a:ext>
            </a:extLst>
          </p:cNvPr>
          <p:cNvSpPr>
            <a:spLocks noGrp="1"/>
          </p:cNvSpPr>
          <p:nvPr/>
        </p:nvSpPr>
        <p:spPr>
          <a:xfrm>
            <a:off x="2286000" y="480060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3488B55A-0B22-4DFD-BCDB-D7417A7262F3}"/>
              </a:ext>
            </a:extLst>
          </p:cNvPr>
          <p:cNvSpPr>
            <a:spLocks noGrp="1"/>
          </p:cNvSpPr>
          <p:nvPr/>
        </p:nvSpPr>
        <p:spPr>
          <a:xfrm>
            <a:off x="2377440" y="495325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DED4AC19-E7BE-466E-A8EA-F10CE26F254B}"/>
              </a:ext>
            </a:extLst>
          </p:cNvPr>
          <p:cNvSpPr>
            <a:spLocks noGrp="1"/>
          </p:cNvSpPr>
          <p:nvPr/>
        </p:nvSpPr>
        <p:spPr>
          <a:xfrm>
            <a:off x="365760" y="544068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908CC632-F167-4951-9D5D-35C55C9304C0}"/>
              </a:ext>
            </a:extLst>
          </p:cNvPr>
          <p:cNvSpPr>
            <a:spLocks noGrp="1"/>
          </p:cNvSpPr>
          <p:nvPr/>
        </p:nvSpPr>
        <p:spPr>
          <a:xfrm>
            <a:off x="411480" y="559333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2219F189-D8E4-418D-9908-CD0B131DA7C8}"/>
              </a:ext>
            </a:extLst>
          </p:cNvPr>
          <p:cNvSpPr>
            <a:spLocks noGrp="1"/>
          </p:cNvSpPr>
          <p:nvPr/>
        </p:nvSpPr>
        <p:spPr>
          <a:xfrm>
            <a:off x="2286000" y="544068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092BB101-66D3-4BC2-929E-9C96CD7E78B0}"/>
              </a:ext>
            </a:extLst>
          </p:cNvPr>
          <p:cNvSpPr>
            <a:spLocks noGrp="1"/>
          </p:cNvSpPr>
          <p:nvPr/>
        </p:nvSpPr>
        <p:spPr>
          <a:xfrm>
            <a:off x="2377440" y="559333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4A56EAB7-D4CC-4187-BA88-1243DC9460DE}"/>
              </a:ext>
            </a:extLst>
          </p:cNvPr>
          <p:cNvSpPr>
            <a:spLocks noGrp="1"/>
          </p:cNvSpPr>
          <p:nvPr/>
        </p:nvSpPr>
        <p:spPr>
          <a:xfrm>
            <a:off x="365760" y="608076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E19F4FEC-5B90-402F-9ECC-E1462D51FF20}"/>
              </a:ext>
            </a:extLst>
          </p:cNvPr>
          <p:cNvSpPr>
            <a:spLocks noGrp="1"/>
          </p:cNvSpPr>
          <p:nvPr/>
        </p:nvSpPr>
        <p:spPr>
          <a:xfrm>
            <a:off x="411480" y="623341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550008FB-BF32-4D63-840C-1F71517F6562}"/>
              </a:ext>
            </a:extLst>
          </p:cNvPr>
          <p:cNvSpPr>
            <a:spLocks noGrp="1"/>
          </p:cNvSpPr>
          <p:nvPr/>
        </p:nvSpPr>
        <p:spPr>
          <a:xfrm>
            <a:off x="2286000" y="608076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97D6550A-ECA6-49A3-817A-AE9D3423FCEB}"/>
              </a:ext>
            </a:extLst>
          </p:cNvPr>
          <p:cNvSpPr>
            <a:spLocks noGrp="1"/>
          </p:cNvSpPr>
          <p:nvPr/>
        </p:nvSpPr>
        <p:spPr>
          <a:xfrm>
            <a:off x="2377440" y="623341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6D092870-CA53-4E78-AD5D-1F9D3541B119}"/>
              </a:ext>
            </a:extLst>
          </p:cNvPr>
          <p:cNvSpPr>
            <a:spLocks noGrp="1"/>
          </p:cNvSpPr>
          <p:nvPr/>
        </p:nvSpPr>
        <p:spPr>
          <a:xfrm>
            <a:off x="6355080" y="160020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713CF66A-2B6D-4BE9-B154-56A4B654DAB4}"/>
              </a:ext>
            </a:extLst>
          </p:cNvPr>
          <p:cNvSpPr>
            <a:spLocks noGrp="1"/>
          </p:cNvSpPr>
          <p:nvPr/>
        </p:nvSpPr>
        <p:spPr>
          <a:xfrm>
            <a:off x="6400800" y="175285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AA2517F5-80EF-46D2-B195-6A4298768475}"/>
              </a:ext>
            </a:extLst>
          </p:cNvPr>
          <p:cNvSpPr>
            <a:spLocks noGrp="1"/>
          </p:cNvSpPr>
          <p:nvPr/>
        </p:nvSpPr>
        <p:spPr>
          <a:xfrm>
            <a:off x="8275320" y="160020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1C064546-0648-4A60-B2F1-94308AD620A2}"/>
              </a:ext>
            </a:extLst>
          </p:cNvPr>
          <p:cNvSpPr>
            <a:spLocks noGrp="1"/>
          </p:cNvSpPr>
          <p:nvPr/>
        </p:nvSpPr>
        <p:spPr>
          <a:xfrm>
            <a:off x="8366760" y="167335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A076AED6-CF9E-43AB-9593-D7B302B42DA9}"/>
              </a:ext>
            </a:extLst>
          </p:cNvPr>
          <p:cNvSpPr>
            <a:spLocks noGrp="1"/>
          </p:cNvSpPr>
          <p:nvPr/>
        </p:nvSpPr>
        <p:spPr>
          <a:xfrm>
            <a:off x="6355080" y="224028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7737D5DD-55FF-4758-BDC1-7BFCB96E39BD}"/>
              </a:ext>
            </a:extLst>
          </p:cNvPr>
          <p:cNvSpPr>
            <a:spLocks noGrp="1"/>
          </p:cNvSpPr>
          <p:nvPr/>
        </p:nvSpPr>
        <p:spPr>
          <a:xfrm>
            <a:off x="6400800" y="239293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="" xmlns:a16="http://schemas.microsoft.com/office/drawing/2014/main" id="{5A1567FC-B3CC-4B77-9E3D-D0329B7757A5}"/>
              </a:ext>
            </a:extLst>
          </p:cNvPr>
          <p:cNvSpPr>
            <a:spLocks noGrp="1"/>
          </p:cNvSpPr>
          <p:nvPr/>
        </p:nvSpPr>
        <p:spPr>
          <a:xfrm>
            <a:off x="8275320" y="224028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752FF173-5C85-4D12-AA93-60D11E119991}"/>
              </a:ext>
            </a:extLst>
          </p:cNvPr>
          <p:cNvSpPr>
            <a:spLocks noGrp="1"/>
          </p:cNvSpPr>
          <p:nvPr/>
        </p:nvSpPr>
        <p:spPr>
          <a:xfrm>
            <a:off x="8366760" y="239293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="" xmlns:a16="http://schemas.microsoft.com/office/drawing/2014/main" id="{32370CDA-6BEB-4143-8D3A-0081D3802438}"/>
              </a:ext>
            </a:extLst>
          </p:cNvPr>
          <p:cNvSpPr>
            <a:spLocks noGrp="1"/>
          </p:cNvSpPr>
          <p:nvPr/>
        </p:nvSpPr>
        <p:spPr>
          <a:xfrm>
            <a:off x="6355080" y="288036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C37A1BAC-1811-4FD9-A8F4-A0810BEA4C54}"/>
              </a:ext>
            </a:extLst>
          </p:cNvPr>
          <p:cNvSpPr>
            <a:spLocks noGrp="1"/>
          </p:cNvSpPr>
          <p:nvPr/>
        </p:nvSpPr>
        <p:spPr>
          <a:xfrm>
            <a:off x="6400800" y="303301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="" xmlns:a16="http://schemas.microsoft.com/office/drawing/2014/main" id="{D704B889-D5DE-40BC-B513-EBD0CCFAFCAA}"/>
              </a:ext>
            </a:extLst>
          </p:cNvPr>
          <p:cNvSpPr>
            <a:spLocks noGrp="1"/>
          </p:cNvSpPr>
          <p:nvPr/>
        </p:nvSpPr>
        <p:spPr>
          <a:xfrm>
            <a:off x="8275320" y="288036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354A896D-C64D-453E-8A0C-4E2EC03F76CF}"/>
              </a:ext>
            </a:extLst>
          </p:cNvPr>
          <p:cNvSpPr>
            <a:spLocks noGrp="1"/>
          </p:cNvSpPr>
          <p:nvPr/>
        </p:nvSpPr>
        <p:spPr>
          <a:xfrm>
            <a:off x="8366760" y="303301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="" xmlns:a16="http://schemas.microsoft.com/office/drawing/2014/main" id="{DF298E79-580A-4026-A7BB-61231B6CA7A1}"/>
              </a:ext>
            </a:extLst>
          </p:cNvPr>
          <p:cNvSpPr>
            <a:spLocks noGrp="1"/>
          </p:cNvSpPr>
          <p:nvPr/>
        </p:nvSpPr>
        <p:spPr>
          <a:xfrm>
            <a:off x="6355080" y="352044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3A560117-37FA-4B63-8819-2C96272438D2}"/>
              </a:ext>
            </a:extLst>
          </p:cNvPr>
          <p:cNvSpPr>
            <a:spLocks noGrp="1"/>
          </p:cNvSpPr>
          <p:nvPr/>
        </p:nvSpPr>
        <p:spPr>
          <a:xfrm>
            <a:off x="6400800" y="367309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="" xmlns:a16="http://schemas.microsoft.com/office/drawing/2014/main" id="{023D8F2A-7017-4B67-9DF0-2F5B2E2AFA9B}"/>
              </a:ext>
            </a:extLst>
          </p:cNvPr>
          <p:cNvSpPr>
            <a:spLocks noGrp="1"/>
          </p:cNvSpPr>
          <p:nvPr/>
        </p:nvSpPr>
        <p:spPr>
          <a:xfrm>
            <a:off x="8275320" y="352044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790B0B9D-0527-4F38-998A-649E4F0D8DCB}"/>
              </a:ext>
            </a:extLst>
          </p:cNvPr>
          <p:cNvSpPr>
            <a:spLocks noGrp="1"/>
          </p:cNvSpPr>
          <p:nvPr/>
        </p:nvSpPr>
        <p:spPr>
          <a:xfrm>
            <a:off x="8366760" y="367309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="" xmlns:a16="http://schemas.microsoft.com/office/drawing/2014/main" id="{D957DACE-0C91-4672-AD96-3782A2723DB4}"/>
              </a:ext>
            </a:extLst>
          </p:cNvPr>
          <p:cNvSpPr>
            <a:spLocks noGrp="1"/>
          </p:cNvSpPr>
          <p:nvPr/>
        </p:nvSpPr>
        <p:spPr>
          <a:xfrm>
            <a:off x="6355080" y="416052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DC54A3C8-DCA1-4679-AE7A-76E23D61D724}"/>
              </a:ext>
            </a:extLst>
          </p:cNvPr>
          <p:cNvSpPr>
            <a:spLocks noGrp="1"/>
          </p:cNvSpPr>
          <p:nvPr/>
        </p:nvSpPr>
        <p:spPr>
          <a:xfrm>
            <a:off x="6400800" y="431317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="" xmlns:a16="http://schemas.microsoft.com/office/drawing/2014/main" id="{1C331B6F-C6D3-4F2F-9AFC-0E7D44F28EA0}"/>
              </a:ext>
            </a:extLst>
          </p:cNvPr>
          <p:cNvSpPr>
            <a:spLocks noGrp="1"/>
          </p:cNvSpPr>
          <p:nvPr/>
        </p:nvSpPr>
        <p:spPr>
          <a:xfrm>
            <a:off x="8275320" y="416052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2DCDAED6-C098-4F08-B147-635CBF91BCE2}"/>
              </a:ext>
            </a:extLst>
          </p:cNvPr>
          <p:cNvSpPr>
            <a:spLocks noGrp="1"/>
          </p:cNvSpPr>
          <p:nvPr/>
        </p:nvSpPr>
        <p:spPr>
          <a:xfrm>
            <a:off x="8366760" y="431317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="" xmlns:a16="http://schemas.microsoft.com/office/drawing/2014/main" id="{870A1357-DAB2-47FC-A012-6F61B0221030}"/>
              </a:ext>
            </a:extLst>
          </p:cNvPr>
          <p:cNvSpPr>
            <a:spLocks noGrp="1"/>
          </p:cNvSpPr>
          <p:nvPr/>
        </p:nvSpPr>
        <p:spPr>
          <a:xfrm>
            <a:off x="6355080" y="480060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D70454F0-F070-4B8F-85BA-2E4B89B8E4A9}"/>
              </a:ext>
            </a:extLst>
          </p:cNvPr>
          <p:cNvSpPr>
            <a:spLocks noGrp="1"/>
          </p:cNvSpPr>
          <p:nvPr/>
        </p:nvSpPr>
        <p:spPr>
          <a:xfrm>
            <a:off x="6400800" y="495325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="" xmlns:a16="http://schemas.microsoft.com/office/drawing/2014/main" id="{271D860B-85FB-410A-B39E-1AF5102711B9}"/>
              </a:ext>
            </a:extLst>
          </p:cNvPr>
          <p:cNvSpPr>
            <a:spLocks noGrp="1"/>
          </p:cNvSpPr>
          <p:nvPr/>
        </p:nvSpPr>
        <p:spPr>
          <a:xfrm>
            <a:off x="8275320" y="480060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71896AB0-9380-4587-825A-967539AB15E4}"/>
              </a:ext>
            </a:extLst>
          </p:cNvPr>
          <p:cNvSpPr>
            <a:spLocks noGrp="1"/>
          </p:cNvSpPr>
          <p:nvPr/>
        </p:nvSpPr>
        <p:spPr>
          <a:xfrm>
            <a:off x="8366760" y="495325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="" xmlns:a16="http://schemas.microsoft.com/office/drawing/2014/main" id="{3B0F1720-C45E-4013-8AEF-F77E96AFFE8C}"/>
              </a:ext>
            </a:extLst>
          </p:cNvPr>
          <p:cNvSpPr>
            <a:spLocks noGrp="1"/>
          </p:cNvSpPr>
          <p:nvPr/>
        </p:nvSpPr>
        <p:spPr>
          <a:xfrm>
            <a:off x="6355080" y="544068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="" xmlns:a16="http://schemas.microsoft.com/office/drawing/2014/main" id="{9858377B-B9C9-4E1B-ABFE-BEB7CEC90F2F}"/>
              </a:ext>
            </a:extLst>
          </p:cNvPr>
          <p:cNvSpPr>
            <a:spLocks noGrp="1"/>
          </p:cNvSpPr>
          <p:nvPr/>
        </p:nvSpPr>
        <p:spPr>
          <a:xfrm>
            <a:off x="6400800" y="559333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="" xmlns:a16="http://schemas.microsoft.com/office/drawing/2014/main" id="{142E4149-55D0-4712-B41A-11C618AD1AD9}"/>
              </a:ext>
            </a:extLst>
          </p:cNvPr>
          <p:cNvSpPr>
            <a:spLocks noGrp="1"/>
          </p:cNvSpPr>
          <p:nvPr/>
        </p:nvSpPr>
        <p:spPr>
          <a:xfrm>
            <a:off x="8275320" y="544068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25248A5F-9D63-46FF-8855-7EC020A48322}"/>
              </a:ext>
            </a:extLst>
          </p:cNvPr>
          <p:cNvSpPr>
            <a:spLocks noGrp="1"/>
          </p:cNvSpPr>
          <p:nvPr/>
        </p:nvSpPr>
        <p:spPr>
          <a:xfrm>
            <a:off x="8366760" y="559333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="" xmlns:a16="http://schemas.microsoft.com/office/drawing/2014/main" id="{A2AE2CA0-A276-412E-82A9-DAE55AFE73CC}"/>
              </a:ext>
            </a:extLst>
          </p:cNvPr>
          <p:cNvSpPr>
            <a:spLocks noGrp="1"/>
          </p:cNvSpPr>
          <p:nvPr/>
        </p:nvSpPr>
        <p:spPr>
          <a:xfrm>
            <a:off x="6355080" y="6080760"/>
            <a:ext cx="192024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="" xmlns:a16="http://schemas.microsoft.com/office/drawing/2014/main" id="{FF755FCB-20DD-4877-9C4A-C3C978419E04}"/>
              </a:ext>
            </a:extLst>
          </p:cNvPr>
          <p:cNvSpPr>
            <a:spLocks noGrp="1"/>
          </p:cNvSpPr>
          <p:nvPr/>
        </p:nvSpPr>
        <p:spPr>
          <a:xfrm>
            <a:off x="6400800" y="6233419"/>
            <a:ext cx="1828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="" xmlns:a16="http://schemas.microsoft.com/office/drawing/2014/main" id="{18634C17-CE10-4737-B5F2-7CF256C25BA8}"/>
              </a:ext>
            </a:extLst>
          </p:cNvPr>
          <p:cNvSpPr>
            <a:spLocks noGrp="1"/>
          </p:cNvSpPr>
          <p:nvPr/>
        </p:nvSpPr>
        <p:spPr>
          <a:xfrm>
            <a:off x="8275320" y="608076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C27AC9D3-3F31-4630-811B-CBBCB9367930}"/>
              </a:ext>
            </a:extLst>
          </p:cNvPr>
          <p:cNvSpPr>
            <a:spLocks noGrp="1"/>
          </p:cNvSpPr>
          <p:nvPr/>
        </p:nvSpPr>
        <p:spPr>
          <a:xfrm>
            <a:off x="8366760" y="6233419"/>
            <a:ext cx="35204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185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37B9A41-437D-4232-B447-A25D43F5D0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5BDC6544-4805-4BD9-8629-C38E7F6AC0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08A3FF3-E4F3-4C88-BCA9-5F1EDFE79990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F0F5805-B572-4636-879D-8D784340A3DB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데이터 오브젝트와 설정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1A3FF1D-0842-4923-B372-B34AD3E29626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거래 데이터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6D2A39DB-1D0F-4132-8D4E-225D987025C8}"/>
              </a:ext>
            </a:extLst>
          </p:cNvPr>
          <p:cNvSpPr>
            <a:spLocks noGrp="1"/>
          </p:cNvSpPr>
          <p:nvPr/>
        </p:nvSpPr>
        <p:spPr>
          <a:xfrm>
            <a:off x="457200" y="1627632"/>
            <a:ext cx="2286000" cy="713232"/>
          </a:xfrm>
          <a:prstGeom prst="rect">
            <a:avLst/>
          </a:prstGeom>
          <a:solidFill>
            <a:srgbClr val="D0DFF5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AF3C229-74A4-47D6-8B84-60EC43080A8F}"/>
              </a:ext>
            </a:extLst>
          </p:cNvPr>
          <p:cNvSpPr>
            <a:spLocks noGrp="1"/>
          </p:cNvSpPr>
          <p:nvPr/>
        </p:nvSpPr>
        <p:spPr>
          <a:xfrm>
            <a:off x="502920" y="1762559"/>
            <a:ext cx="21945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9F02 Amount Authorised</a:t>
            </a:r>
          </a:p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9C Transaction Type</a:t>
            </a:r>
          </a:p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5F2A Transaction Currency</a:t>
            </a:r>
          </a:p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9A Transaction Date</a:t>
            </a:r>
          </a:p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9F37 Unpredictable Number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906E21B-D826-4FD3-93E2-0D87B9271967}"/>
              </a:ext>
            </a:extLst>
          </p:cNvPr>
          <p:cNvSpPr>
            <a:spLocks noGrp="1"/>
          </p:cNvSpPr>
          <p:nvPr/>
        </p:nvSpPr>
        <p:spPr>
          <a:xfrm>
            <a:off x="1417320" y="2348919"/>
            <a:ext cx="365760" cy="179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카드/결과 데이터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DF98430-F96C-4A1B-A6C9-4E216B3532CF}"/>
              </a:ext>
            </a:extLst>
          </p:cNvPr>
          <p:cNvSpPr>
            <a:spLocks noGrp="1"/>
          </p:cNvSpPr>
          <p:nvPr/>
        </p:nvSpPr>
        <p:spPr>
          <a:xfrm>
            <a:off x="457200" y="2715768"/>
            <a:ext cx="2286000" cy="713232"/>
          </a:xfrm>
          <a:prstGeom prst="rect">
            <a:avLst/>
          </a:prstGeom>
          <a:solidFill>
            <a:srgbClr val="D0DFF5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BEFE227-97DF-4ED3-ABAB-B3B00DB5A318}"/>
              </a:ext>
            </a:extLst>
          </p:cNvPr>
          <p:cNvSpPr>
            <a:spLocks noGrp="1"/>
          </p:cNvSpPr>
          <p:nvPr/>
        </p:nvSpPr>
        <p:spPr>
          <a:xfrm>
            <a:off x="502920" y="2850695"/>
            <a:ext cx="21945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82 AIP, 94 AFL</a:t>
            </a:r>
          </a:p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9F27 CID, 9F36 ATC, 9F26 AC</a:t>
            </a:r>
          </a:p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9F10 IAD</a:t>
            </a:r>
          </a:p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95 TVR, 9B TSI, 9F34 CVM 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CF4DE3FA-7D05-465D-8C52-281D1C0721D1}"/>
              </a:ext>
            </a:extLst>
          </p:cNvPr>
          <p:cNvSpPr>
            <a:spLocks noGrp="1"/>
          </p:cNvSpPr>
          <p:nvPr/>
        </p:nvSpPr>
        <p:spPr>
          <a:xfrm>
            <a:off x="1417320" y="3456432"/>
            <a:ext cx="365760" cy="286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EB6B1A"/>
                </a:solidFill>
                <a:latin typeface="맑은 고딕"/>
                <a:ea typeface="맑은 고딕"/>
                <a:cs typeface="맑은 고딕"/>
              </a:rPr>
              <a:t>Terminal Configuration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852A530D-4D0A-405F-BAEB-240C27935705}"/>
              </a:ext>
            </a:extLst>
          </p:cNvPr>
          <p:cNvSpPr>
            <a:spLocks noGrp="1"/>
          </p:cNvSpPr>
          <p:nvPr/>
        </p:nvSpPr>
        <p:spPr>
          <a:xfrm>
            <a:off x="457200" y="3785616"/>
            <a:ext cx="2286000" cy="713232"/>
          </a:xfrm>
          <a:prstGeom prst="rect">
            <a:avLst/>
          </a:prstGeom>
          <a:solidFill>
            <a:srgbClr val="D0DFF5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1DD04E20-4F03-400E-8AD6-7CBFD8EE84FE}"/>
              </a:ext>
            </a:extLst>
          </p:cNvPr>
          <p:cNvSpPr>
            <a:spLocks noGrp="1"/>
          </p:cNvSpPr>
          <p:nvPr/>
        </p:nvSpPr>
        <p:spPr>
          <a:xfrm>
            <a:off x="502920" y="3920543"/>
            <a:ext cx="219456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Terminal Type 9F35</a:t>
            </a:r>
          </a:p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Reader Capabilities 9F6D</a:t>
            </a:r>
          </a:p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Transaction/CVM/Floor Limits</a:t>
            </a:r>
          </a:p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TAC Denial/Online/Default</a:t>
            </a:r>
          </a:p>
          <a:p>
            <a:pPr algn="ctr">
              <a:buNone/>
            </a:pPr>
            <a:r>
              <a:rPr sz="12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CA Public Keys와 Revocation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47FA5A4-62D6-4DE0-84EF-24FAEB9C3A3F}"/>
              </a:ext>
            </a:extLst>
          </p:cNvPr>
          <p:cNvSpPr>
            <a:spLocks noGrp="1"/>
          </p:cNvSpPr>
          <p:nvPr/>
        </p:nvSpPr>
        <p:spPr>
          <a:xfrm>
            <a:off x="1417320" y="4548785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C0757BBE-D9D4-477F-9EFC-A9C3319F3E3F}"/>
              </a:ext>
            </a:extLst>
          </p:cNvPr>
          <p:cNvSpPr>
            <a:spLocks noGrp="1"/>
          </p:cNvSpPr>
          <p:nvPr/>
        </p:nvSpPr>
        <p:spPr>
          <a:xfrm>
            <a:off x="457200" y="4868583"/>
            <a:ext cx="2286000" cy="713232"/>
          </a:xfrm>
          <a:prstGeom prst="rect">
            <a:avLst/>
          </a:prstGeom>
          <a:solidFill>
            <a:srgbClr val="D0DFF5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8E933DA1-F639-4D6A-98C3-A5C39BAA086D}"/>
              </a:ext>
            </a:extLst>
          </p:cNvPr>
          <p:cNvSpPr>
            <a:spLocks noGrp="1"/>
          </p:cNvSpPr>
          <p:nvPr/>
        </p:nvSpPr>
        <p:spPr>
          <a:xfrm>
            <a:off x="502920" y="5003510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865C7F87-8F02-4E2D-A4EC-27E26BF0A649}"/>
              </a:ext>
            </a:extLst>
          </p:cNvPr>
          <p:cNvSpPr>
            <a:spLocks noGrp="1"/>
          </p:cNvSpPr>
          <p:nvPr/>
        </p:nvSpPr>
        <p:spPr>
          <a:xfrm>
            <a:off x="1417320" y="56224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52F5BF93-9B19-4343-8DD4-BEA48552EE44}"/>
              </a:ext>
            </a:extLst>
          </p:cNvPr>
          <p:cNvSpPr>
            <a:spLocks noGrp="1"/>
          </p:cNvSpPr>
          <p:nvPr/>
        </p:nvSpPr>
        <p:spPr>
          <a:xfrm>
            <a:off x="457200" y="5916204"/>
            <a:ext cx="2286000" cy="713232"/>
          </a:xfrm>
          <a:prstGeom prst="rect">
            <a:avLst/>
          </a:prstGeom>
          <a:solidFill>
            <a:srgbClr val="D0DFF5"/>
          </a:solidFill>
          <a:ln w="12700"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7E328F4E-296F-4B90-AF65-EA6F9C2A1CAB}"/>
              </a:ext>
            </a:extLst>
          </p:cNvPr>
          <p:cNvSpPr>
            <a:spLocks noGrp="1"/>
          </p:cNvSpPr>
          <p:nvPr/>
        </p:nvSpPr>
        <p:spPr>
          <a:xfrm>
            <a:off x="502920" y="6051131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5215E2D8-2B20-42E7-84BE-801A4913F305}"/>
              </a:ext>
            </a:extLst>
          </p:cNvPr>
          <p:cNvSpPr>
            <a:spLocks noGrp="1"/>
          </p:cNvSpPr>
          <p:nvPr/>
        </p:nvSpPr>
        <p:spPr>
          <a:xfrm>
            <a:off x="3017520" y="1627632"/>
            <a:ext cx="4019006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76A30481-E90C-408A-8046-EA32945CE9EA}"/>
              </a:ext>
            </a:extLst>
          </p:cNvPr>
          <p:cNvSpPr>
            <a:spLocks noGrp="1"/>
          </p:cNvSpPr>
          <p:nvPr/>
        </p:nvSpPr>
        <p:spPr>
          <a:xfrm>
            <a:off x="3017520" y="1627632"/>
            <a:ext cx="4019006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0BE9ABF8-6F5E-488A-814C-C0F87F8EC7A8}"/>
              </a:ext>
            </a:extLst>
          </p:cNvPr>
          <p:cNvSpPr>
            <a:spLocks noGrp="1"/>
          </p:cNvSpPr>
          <p:nvPr/>
        </p:nvSpPr>
        <p:spPr>
          <a:xfrm>
            <a:off x="3154680" y="16733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3B3B91EB-E690-4E7C-8AFF-AF7B181E4B9D}"/>
              </a:ext>
            </a:extLst>
          </p:cNvPr>
          <p:cNvSpPr>
            <a:spLocks noGrp="1"/>
          </p:cNvSpPr>
          <p:nvPr/>
        </p:nvSpPr>
        <p:spPr>
          <a:xfrm>
            <a:off x="3017520" y="2039112"/>
            <a:ext cx="401900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5D2AEADC-6938-4D27-B7D4-FC2F5C4BB9EE}"/>
              </a:ext>
            </a:extLst>
          </p:cNvPr>
          <p:cNvSpPr>
            <a:spLocks noGrp="1"/>
          </p:cNvSpPr>
          <p:nvPr/>
        </p:nvSpPr>
        <p:spPr>
          <a:xfrm>
            <a:off x="7132320" y="1606137"/>
            <a:ext cx="49377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AEFA82DC-88E2-4F72-AF9B-1AB419BB76DF}"/>
              </a:ext>
            </a:extLst>
          </p:cNvPr>
          <p:cNvSpPr>
            <a:spLocks noGrp="1"/>
          </p:cNvSpPr>
          <p:nvPr/>
        </p:nvSpPr>
        <p:spPr>
          <a:xfrm>
            <a:off x="7132320" y="1605207"/>
            <a:ext cx="49377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855B1AD6-D421-4AEF-8202-2EA11600F9C8}"/>
              </a:ext>
            </a:extLst>
          </p:cNvPr>
          <p:cNvSpPr>
            <a:spLocks noGrp="1"/>
          </p:cNvSpPr>
          <p:nvPr/>
        </p:nvSpPr>
        <p:spPr>
          <a:xfrm>
            <a:off x="7132320" y="16733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4F9C57E9-5FC9-4DA8-9C4B-81C687316D2F}"/>
              </a:ext>
            </a:extLst>
          </p:cNvPr>
          <p:cNvSpPr>
            <a:spLocks noGrp="1"/>
          </p:cNvSpPr>
          <p:nvPr/>
        </p:nvSpPr>
        <p:spPr>
          <a:xfrm>
            <a:off x="7132320" y="2054787"/>
            <a:ext cx="466344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9539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A47E9F5-BF74-40AB-864C-7B9C125F1E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995EC75-8970-48D1-8A00-FC4BCDDEA2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266C1B3E-1989-445E-81E8-8289684590C1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CC563A3-301E-44B1-BFF0-D875F97B7605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Configuration Data와 구현 보호 장치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7C25CC5-6F97-4814-AD8A-9DCFA1049B5E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필수 설정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70431D3-5874-47F4-9418-7D0C01B6C159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EDF2AFD-8491-4491-BE16-BA2EBA9CA04C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ADC5965-42A6-4B37-9E6A-D8924022BA66}"/>
              </a:ext>
            </a:extLst>
          </p:cNvPr>
          <p:cNvSpPr>
            <a:spLocks noGrp="1"/>
          </p:cNvSpPr>
          <p:nvPr/>
        </p:nvSpPr>
        <p:spPr>
          <a:xfrm>
            <a:off x="502920" y="1645920"/>
            <a:ext cx="5120640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Terminal Type과 Reader Capability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Transaction, CVM, Floor Limits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TAC Denial/Online/Default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지원 Version과 Country/Currency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DA6FEF62-1CBE-4B4D-9473-DFEB9C54C4F7}"/>
              </a:ext>
            </a:extLst>
          </p:cNvPr>
          <p:cNvSpPr>
            <a:spLocks noGrp="1"/>
          </p:cNvSpPr>
          <p:nvPr/>
        </p:nvSpPr>
        <p:spPr>
          <a:xfrm>
            <a:off x="365760" y="2011680"/>
            <a:ext cx="512064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보안 자산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8C14B69C-D77F-44FB-ACC0-30F4416C91CD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9BD4582-972E-4BD8-BEC9-2693214B60D0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33F6455-842F-4D82-B758-45BE217F85FD}"/>
              </a:ext>
            </a:extLst>
          </p:cNvPr>
          <p:cNvSpPr>
            <a:spLocks noGrp="1"/>
          </p:cNvSpPr>
          <p:nvPr/>
        </p:nvSpPr>
        <p:spPr>
          <a:xfrm>
            <a:off x="6172200" y="1645920"/>
            <a:ext cx="5577840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RID/Index별 CA Public Key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만료일과 Hash Algorithm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Certificate Revocation List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운영 중 안전한 갱신 절차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F9B7CF8-8E07-438B-B16A-EB7A3982DA12}"/>
              </a:ext>
            </a:extLst>
          </p:cNvPr>
          <p:cNvSpPr>
            <a:spLocks noGrp="1"/>
          </p:cNvSpPr>
          <p:nvPr/>
        </p:nvSpPr>
        <p:spPr>
          <a:xfrm>
            <a:off x="6035040" y="2011680"/>
            <a:ext cx="5577840" cy="473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구현 보호</a:t>
            </a:r>
          </a:p>
        </p:txBody>
      </p:sp>
    </p:spTree>
    <p:extLst>
      <p:ext uri="{BB962C8B-B14F-4D97-AF65-F5344CB8AC3E}">
        <p14:creationId xmlns:p14="http://schemas.microsoft.com/office/powerpoint/2010/main" val="17892076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303C9FA-CA90-4870-A721-17160DFC82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63809BC-3E4B-4636-B0F4-0F1F471CDEE5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3950E6A-21C5-412D-99D7-2AC3D1B3E3C2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 동작 예시와 구현 체크리스트</a:t>
            </a:r>
          </a:p>
        </p:txBody>
      </p:sp>
    </p:spTree>
    <p:extLst>
      <p:ext uri="{BB962C8B-B14F-4D97-AF65-F5344CB8AC3E}">
        <p14:creationId xmlns:p14="http://schemas.microsoft.com/office/powerpoint/2010/main" val="4379710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9A3981B-7354-45BF-B05E-BD938DEA83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24A1DC9-1AE8-407C-9418-62C357E300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148C716-D8B2-498D-8A7E-B5C95FCCADA9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1AAD732-CEAD-4547-BA65-C10FBFA3FA7E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동작 예시 1 - 소액 EMV 오프라인 승인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35450D0-350C-49A7-8460-4FEF2CE44736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Processing Restrictions와 Risk Management 결과가 양호하고 Terminal/Card가 Offline을 지원하는 경우</a:t>
            </a:r>
          </a:p>
        </p:txBody>
      </p:sp>
      <p:graphicFrame>
        <p:nvGraphicFramePr>
          <p:cNvPr id="13" name="Table 6"/>
          <p:cNvGraphicFramePr/>
          <p:nvPr/>
        </p:nvGraphicFramePr>
        <p:xfrm>
          <a:off x="365760" y="1600200"/>
          <a:ext cx="11430000" cy="5074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86000"/>
                <a:gridCol w="3200400"/>
                <a:gridCol w="5943600"/>
              </a:tblGrid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ACT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금액 1,000원, 구매, 랜덤값 포함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State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PDOL 구성 → GPO 명령 준비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GET PROCESSING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PDOL Related Data 전송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Card → 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GPO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AIP: EMV 모드, CDA 지원 / AFL: SFI 1, 레코드 1~3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State 2→3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AFL 파싱, READ RECORD 루프 시작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READ RECORD (×3)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SFI 1 레코드 1, 2, 3 순차 읽기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Card → 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레코드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Issuer/ICC 인증서, TVR 관련 데이터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ODA 수행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CA→Issuer→ICC 인증서 체인 검증 (CDA)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Terminal Risk Mgmt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TVR 설정, IAC/TAC 분석 → TC 결정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GENERATE AC (RCP='40')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TC 요청, CDOL1 데이터 포함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Card → 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Gen AC 응답 (Format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TC + SDAD (CDA 서명) 포함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CDA 검증 + S11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서명 검증 성공 → Outcome = APPROVED</a:t>
                      </a:r>
                    </a:p>
                  </a:txBody>
                  <a:tcPr anchor="ctr"/>
                </a:tc>
              </a:tr>
              <a:tr h="390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OUT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Outcome(Approved) + Data Record + UI 메시지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0216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7062D42-31B1-460A-A4FD-79B43B00F8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F2D0D25-DFD7-4AEA-8BAE-2273AF00C3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191AA7B-2810-4FC0-A937-1BECA507EDA0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01A8EB5-ADBA-4071-ABBC-33554D1CFDA2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동작 예시 2 - 고액 EMV 온라인 승인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2F2D6AC-72E5-4366-94B6-085D46E4337C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CVM Required Limit 또는 Floor Limit을 초과해 ARQC를 요청하고 Host 승인 후 TC로 완료하는 흐름</a:t>
            </a:r>
          </a:p>
        </p:txBody>
      </p:sp>
      <p:graphicFrame>
        <p:nvGraphicFramePr>
          <p:cNvPr id="13" name="Table 6"/>
          <p:cNvGraphicFramePr/>
          <p:nvPr/>
        </p:nvGraphicFramePr>
        <p:xfrm>
          <a:off x="365760" y="1600200"/>
          <a:ext cx="11430000" cy="5074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60320"/>
                <a:gridCol w="3474720"/>
                <a:gridCol w="5394960"/>
              </a:tblGrid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ACT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금액 500,000원 (한도 초과), 구매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State 1→2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GPO 수행, AIP 확인 (EMV 모드)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READ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레코드 읽기 (ODA 데이터 수집)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Terminal Risk Mgmt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금액 &gt; Floor Limit → ARQC 결정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GENERATE AC (RCP='80')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ARQC 요청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Card → 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Gen AC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ARQC + IAD + ATC 포함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State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Outcome = ONLINE_REQUEST, Data Record 생성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OUT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ARQC + Data Record (권한 부여 데이터) 포함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Terminal → Issuer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온라인 전송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Data Record를 Issuer에게 전송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Issuer → 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권한 부여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ARPC + Issuer Script (선택적)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Terminal → 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DET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온라인 응답 데이터 제공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GENERATE AC (2차, RCP='40')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TC 요청 (Issuer ARPC 검증)</a:t>
                      </a:r>
                    </a:p>
                  </a:txBody>
                  <a:tcPr anchor="ctr"/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Card → 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TC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온라인 승인 확정</a:t>
                      </a:r>
                    </a:p>
                  </a:txBody>
                  <a:tcPr anchor="ctr"/>
                </a:tc>
              </a:tr>
              <a:tr h="3624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OUT Signal (최종)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Outcome = APPROVED, 최종 Data Record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4908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93DF68B-7965-47F9-84F1-5F780D83F1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A5DDAEC-F539-42F5-B758-937EBA6AA7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EBC745A-AD0F-40DA-882C-29CD93ACBBA3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FB42146-9BD9-47A3-A1EF-6134C71A16D1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동작 예시 3 - 거절과 Try Another 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2F67DEA-DAA7-4C60-AFD0-4E131C8DD7A2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카드가 AAC를 반환하거나 Contactless 처리 조건이 충족되지 않는 경우의 분기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A21A290-C5E8-4A18-8559-F936F65F61B4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506D0A5-1DB1-49B9-A543-AB364F8D99AC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E2BA2D7-1DE3-42B5-A160-0539A6F60B56}"/>
              </a:ext>
            </a:extLst>
          </p:cNvPr>
          <p:cNvSpPr>
            <a:spLocks noGrp="1"/>
          </p:cNvSpPr>
          <p:nvPr/>
        </p:nvSpPr>
        <p:spPr>
          <a:xfrm>
            <a:off x="50292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거절 경로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8C64DF8-6501-4FB6-BED9-872B583E0716}"/>
              </a:ext>
            </a:extLst>
          </p:cNvPr>
          <p:cNvSpPr>
            <a:spLocks noGrp="1"/>
          </p:cNvSpPr>
          <p:nvPr/>
        </p:nvSpPr>
        <p:spPr>
          <a:xfrm>
            <a:off x="365760" y="2011680"/>
            <a:ext cx="512064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① 치명적 검증 실패 또는 Denial Code 일치</a:t>
            </a:r>
          </a:p>
          <a:p>
            <a:pPr>
              <a:lnSpc>
                <a:spcPct val="20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② Terminal이 AAC 요청</a:t>
            </a:r>
          </a:p>
          <a:p>
            <a:pPr>
              <a:lnSpc>
                <a:spcPct val="20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③ 카드가 AAC 반환</a:t>
            </a:r>
          </a:p>
          <a:p>
            <a:pPr>
              <a:lnSpc>
                <a:spcPct val="20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④ Not Authorised UI</a:t>
            </a:r>
          </a:p>
          <a:p>
            <a:pPr>
              <a:lnSpc>
                <a:spcPct val="20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⑤ Declined Outcome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40579274-B39B-4F6D-9620-A74CFBBAC2B9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B612EA14-1DAA-40C4-819E-DA3D7DE98D4E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2988681-A709-421D-A643-5D4E7BF84E85}"/>
              </a:ext>
            </a:extLst>
          </p:cNvPr>
          <p:cNvSpPr>
            <a:spLocks noGrp="1"/>
          </p:cNvSpPr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다른 인터페이스 경로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A4DF426-7D28-4781-A001-CB9A72A5E928}"/>
              </a:ext>
            </a:extLst>
          </p:cNvPr>
          <p:cNvSpPr>
            <a:spLocks noGrp="1"/>
          </p:cNvSpPr>
          <p:nvPr/>
        </p:nvSpPr>
        <p:spPr>
          <a:xfrm>
            <a:off x="6035040" y="2011680"/>
            <a:ext cx="55778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① 카드/Reader 조합 또는 응답이 Contactless 처리 불가</a:t>
            </a:r>
          </a:p>
          <a:p>
            <a:pPr>
              <a:lnSpc>
                <a:spcPct val="15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② Error Indication과 Start 파라미터 설정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③ Try Another Interface UI</a:t>
            </a:r>
          </a:p>
          <a:p>
            <a:pPr>
              <a:lnSpc>
                <a:spcPct val="15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④ Contact 또는 다른 결제 수단으로 전환</a:t>
            </a:r>
          </a:p>
        </p:txBody>
      </p:sp>
    </p:spTree>
    <p:extLst>
      <p:ext uri="{BB962C8B-B14F-4D97-AF65-F5344CB8AC3E}">
        <p14:creationId xmlns:p14="http://schemas.microsoft.com/office/powerpoint/2010/main" val="3399079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9D2C231-612D-45C3-9FF9-7DD025E442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C9BBE1C-8B51-491E-8342-9E55981D81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0E77AB1-EF09-4CB0-A65A-CB1C921F50A8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ECBC2DC-D2E6-4D4B-9BB9-A62356110E7A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동작 예시 4 - Mobile CVM과 Dynamic Limits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8E48998-B6EA-41A4-9824-8CCED09B2C22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Mobile 거래에서는 기기 인증 결과와 Reader Limit을 함께 검증합니다.</a:t>
            </a:r>
          </a:p>
        </p:txBody>
      </p:sp>
      <p:graphicFrame>
        <p:nvGraphicFramePr>
          <p:cNvPr id="13" name="Table 6"/>
          <p:cNvGraphicFramePr/>
          <p:nvPr/>
        </p:nvGraphicFramePr>
        <p:xfrm>
          <a:off x="365760" y="1600200"/>
          <a:ext cx="11430000" cy="5074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86000"/>
                <a:gridCol w="3474720"/>
                <a:gridCol w="5669280"/>
              </a:tblGrid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ACT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금액, 통화, 트랜잭션 유형 포함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State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PDOL 구성, GPO 명령 준비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GET PROCESSING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PDOL Related Data 전송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Card → 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GPO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AIP: Mag-Stripe 모드 비트 설정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State 2 — Mag 분기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Mag-Stripe 모드 결정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READ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Track 1 / Track 2 데이터 읽기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Card → 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레코드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Track 1 Data, Track 2 Data 포함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UN(Numeric)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4바이트 랜덤 숫자 (Unpredictable Number)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COMPUTE CRYPTOGRAPHIC CHECKSUM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UN 포함, CVC3 계산 요청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Card → 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CCC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CVC3(암호문), ATC, nUN, nq 포함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Track 데이터 조립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Discretionary Data에 CVC3 삽입 (비트맵 위치)</a:t>
                      </a:r>
                    </a:p>
                  </a:txBody>
                  <a:tcPr anchor="ctr"/>
                </a:tc>
              </a:tr>
              <a:tr h="390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State 11 — 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Outcome = ONLINE_REQUEST (항상 온라인)</a:t>
                      </a:r>
                    </a:p>
                  </a:txBody>
                  <a:tcPr anchor="ctr"/>
                </a:tc>
              </a:tr>
              <a:tr h="390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Kernel → 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OUT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Mag-Stripe 형식 Data Record (Track 포함)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6885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AE9CE8A-E85B-4C3B-B623-F02B9DF099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6B56B90-A4FC-4453-B15E-7EAA7BFDA5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D31DF7A-9BE9-4CEA-9F5D-9406FD9E4A88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9E6E743-E8F2-4224-BF7C-A406B3BABDFC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동작 예시 5 - Zero Amount와 Status 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997D89E-129A-4373-9F86-F1DAF65570AF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Zero Amount 거래와 Status Check 요청은 일반 구매와 다른 지원 조건을 적용합니다.</a:t>
            </a:r>
          </a:p>
        </p:txBody>
      </p:sp>
      <p:graphicFrame>
        <p:nvGraphicFramePr>
          <p:cNvPr id="13" name="Table 6"/>
          <p:cNvGraphicFramePr/>
          <p:nvPr/>
        </p:nvGraphicFramePr>
        <p:xfrm>
          <a:off x="365760" y="1600200"/>
          <a:ext cx="11430000" cy="5074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3200"/>
                <a:gridCol w="4572000"/>
                <a:gridCol w="4114800"/>
              </a:tblGrid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필드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값 목록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설명</a:t>
                      </a: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Approved / Online Request / Declined / End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트랜잭션 최종 상태</a:t>
                      </a: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No / A / B / C / 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재시작 유형 (No=종료, A/B/C=재시도)</a:t>
                      </a: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Online Response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Yes /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온라인 응답 데이터 포함 여부</a:t>
                      </a: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CVM Performed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Online PIN / Conf. Code Verified / Obtain Signature / No CVM / 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적용된 카드소지자 인증 방법</a:t>
                      </a: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UI Request on 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Yes /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화면 표시 요청 포함 여부</a:t>
                      </a: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UI Request on Restart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Yes /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재시작 시 화면 표시 여부</a:t>
                      </a: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Data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Present / Not 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권한 부여·정산 데이터 포함 여부</a:t>
                      </a: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Discretionary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Present / Not 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추가 Kernel 데이터 포함 여부</a:t>
                      </a: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Receipt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Yes / 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영수증 발행 필요 여부</a:t>
                      </a: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Field Off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Yes /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RF 필드 비활성화 요청</a:t>
                      </a:r>
                    </a:p>
                  </a:txBody>
                  <a:tcPr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Removal Timeout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0~999ms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/>
                        <a:t>카드 제거 대기 시간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4452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970F70F-BA9A-4389-BBCA-CD58879820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D8B79A9-06EC-4771-8F6B-41D89A04D9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7C3ED7B-E0B8-40CC-BEB6-D9DD5C69C82A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22A93DB-FBB9-443F-8124-2BE82F065C65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Kernel 4 구현 체크리스트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FA4F537-F066-4BB7-A2C4-74C125E1BD35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데이터와 상태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4857595-42D7-4413-8F38-002186CDD3B4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89FEBAA-0123-4759-86D6-761773AB57E2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0F7142B-0C94-439B-A93C-44F1ADDF5A22}"/>
              </a:ext>
            </a:extLst>
          </p:cNvPr>
          <p:cNvSpPr>
            <a:spLocks noGrp="1"/>
          </p:cNvSpPr>
          <p:nvPr/>
        </p:nvSpPr>
        <p:spPr>
          <a:xfrm>
            <a:off x="502920" y="1645920"/>
            <a:ext cx="5120640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Tag 존재/길이/출처를 분리 관리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TVR/TSI 비트는 단계별 누적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첫 번째와 두 번째 AC 상태 분리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AID/거래 유형별 Configuration 적용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619781EC-BDA6-4580-99F9-E4A5F27B10E0}"/>
              </a:ext>
            </a:extLst>
          </p:cNvPr>
          <p:cNvSpPr>
            <a:spLocks noGrp="1"/>
          </p:cNvSpPr>
          <p:nvPr/>
        </p:nvSpPr>
        <p:spPr>
          <a:xfrm>
            <a:off x="365760" y="2011680"/>
            <a:ext cx="512064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명령과 보안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9C7B0B9-8D85-408E-995A-622D92FD7A08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A15929F1-32FC-4CF8-90F8-C23E8B934603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0B923D8-196E-4C97-9E00-39831EF3E36C}"/>
              </a:ext>
            </a:extLst>
          </p:cNvPr>
          <p:cNvSpPr>
            <a:spLocks noGrp="1"/>
          </p:cNvSpPr>
          <p:nvPr/>
        </p:nvSpPr>
        <p:spPr>
          <a:xfrm>
            <a:off x="6172200" y="1645920"/>
            <a:ext cx="5577840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DOL 순서와 길이 정확성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모든 R-APDU 형식과 SW 검사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CA/Issuer/ICC 인증서 검증</a:t>
            </a:r>
          </a:p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• CDA Hash 입력과 AC 일관성 확인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31B1DE5-ACC5-40C3-9638-2CBFD533F114}"/>
              </a:ext>
            </a:extLst>
          </p:cNvPr>
          <p:cNvSpPr>
            <a:spLocks noGrp="1"/>
          </p:cNvSpPr>
          <p:nvPr/>
        </p:nvSpPr>
        <p:spPr>
          <a:xfrm>
            <a:off x="6035040" y="2011680"/>
            <a:ext cx="557784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결과와 인증</a:t>
            </a:r>
          </a:p>
        </p:txBody>
      </p:sp>
    </p:spTree>
    <p:extLst>
      <p:ext uri="{BB962C8B-B14F-4D97-AF65-F5344CB8AC3E}">
        <p14:creationId xmlns:p14="http://schemas.microsoft.com/office/powerpoint/2010/main" val="999679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B5F5A5F-5A4F-46B8-9078-552A380C72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CEC758B-72ED-40BE-BBE3-ED65F64F09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BBFCD1D-9F8A-4095-94AB-E417837F74E7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723F075-0EDA-4893-8831-29135F3BC2BE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Kernel 4 구조 종합 요약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F05F00C-6143-4AEF-832C-B58CFBDABDFC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Book C-4 Kernel 4는 AMEX Contactless 거래의 카드 통신, 위험 판단, 승인 결정을 연결하는 핵심 처리 사양입니다.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3F11208-81B5-4D40-B50D-C28B22EA8E46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BDD1DC0D-1F1E-4EA7-A18C-5A96159BC005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D869F57-5A1D-460A-BE1D-75B42434E984}"/>
              </a:ext>
            </a:extLst>
          </p:cNvPr>
          <p:cNvSpPr>
            <a:spLocks noGrp="1"/>
          </p:cNvSpPr>
          <p:nvPr/>
        </p:nvSpPr>
        <p:spPr>
          <a:xfrm>
            <a:off x="50292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핵심 처리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17BD332-694E-46DF-B1E1-526496E5AFE7}"/>
              </a:ext>
            </a:extLst>
          </p:cNvPr>
          <p:cNvSpPr>
            <a:spLocks noGrp="1"/>
          </p:cNvSpPr>
          <p:nvPr/>
        </p:nvSpPr>
        <p:spPr>
          <a:xfrm>
            <a:off x="365760" y="2011680"/>
            <a:ext cx="5120640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 b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• GPO로 Capability와 AFL 결정</a:t>
            </a:r>
          </a:p>
          <a:p>
            <a:pPr>
              <a:lnSpc>
                <a:spcPct val="15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• Read/ODA/Restrictions로 카드와 거래 검증</a:t>
            </a:r>
          </a:p>
          <a:p>
            <a:pPr>
              <a:lnSpc>
                <a:spcPct val="15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• CVM과 Risk Management로 위험 평가</a:t>
            </a:r>
          </a:p>
          <a:p>
            <a:pPr>
              <a:lnSpc>
                <a:spcPct val="15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• IAC/TAC 기반 AC 요청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71C80F05-EA97-4740-B844-BB1F1ED53386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B3F20C3F-F039-4C4B-8CA8-1B48CBB39F24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8BBBF009-FAFE-49A4-A3E0-1D24EF8B1728}"/>
              </a:ext>
            </a:extLst>
          </p:cNvPr>
          <p:cNvSpPr>
            <a:spLocks noGrp="1"/>
          </p:cNvSpPr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최종 결과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59D4FB54-6060-4B54-865A-32A90847C4FA}"/>
              </a:ext>
            </a:extLst>
          </p:cNvPr>
          <p:cNvSpPr>
            <a:spLocks noGrp="1"/>
          </p:cNvSpPr>
          <p:nvPr/>
        </p:nvSpPr>
        <p:spPr>
          <a:xfrm>
            <a:off x="6034169" y="2011680"/>
            <a:ext cx="557784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 b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• 1st AC에서 TC/ARQC/AAC 처리</a:t>
            </a:r>
          </a:p>
          <a:p>
            <a:pPr>
              <a:lnSpc>
                <a:spcPct val="15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• ARQC는 Online과 2nd AC로 완료</a:t>
            </a:r>
          </a:p>
          <a:p>
            <a:pPr>
              <a:lnSpc>
                <a:spcPct val="15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• Outcome, UI, Data Record를 일관되게 반환</a:t>
            </a:r>
          </a:p>
          <a:p>
            <a:pPr>
              <a:lnSpc>
                <a:spcPct val="150000"/>
              </a:lnSpc>
              <a:buNone/>
            </a:pPr>
            <a:r>
              <a:rPr sz="130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• Dynamic Limits와 Mobile CVM을 정확히 결합</a:t>
            </a:r>
          </a:p>
        </p:txBody>
      </p:sp>
    </p:spTree>
    <p:extLst>
      <p:ext uri="{BB962C8B-B14F-4D97-AF65-F5344CB8AC3E}">
        <p14:creationId xmlns:p14="http://schemas.microsoft.com/office/powerpoint/2010/main" val="4998067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303C9FA-CA90-4870-A721-17160DFC82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63809BC-3E4B-4636-B0F4-0F1F471CDEE5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1695" cy="109728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3950E6A-21C5-412D-99D7-2AC3D1B3E3C2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400" b="1" dirty="0" smtClean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en-US" sz="3400" b="1" dirty="0" smtClean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3400" b="1" dirty="0" smtClean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3400" b="1" dirty="0" smtClean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소스 코드</a:t>
            </a:r>
            <a:endParaRPr sz="34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7634781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DCE6DFB-6AC9-4B58-B6B0-B4A1030432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098B6A2-00E9-4CBC-993C-DE9AD45E26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DBB0305-00D4-457C-8C11-9142C576997B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65FB334-DD46-4768-8296-A0C1545758EF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전체 소프트웨어 구조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6E8BD21-BD0C-4EF7-9973-ADE5A8899919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Host 명령 → Reader Firmware → EMV2 Kernel → PN5180 카드 통신. 경계 함수는 SendRcvICCAPDU()입니다.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E0995FF-3756-438D-8713-397EE46DE7B2}"/>
              </a:ext>
            </a:extLst>
          </p:cNvPr>
          <p:cNvSpPr>
            <a:spLocks noGrp="1"/>
          </p:cNvSpPr>
          <p:nvPr/>
        </p:nvSpPr>
        <p:spPr>
          <a:xfrm>
            <a:off x="365760" y="1737360"/>
            <a:ext cx="5394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0E369F9-D5E2-4356-A378-C054A33387F4}"/>
              </a:ext>
            </a:extLst>
          </p:cNvPr>
          <p:cNvSpPr>
            <a:spLocks noGrp="1"/>
          </p:cNvSpPr>
          <p:nvPr/>
        </p:nvSpPr>
        <p:spPr>
          <a:xfrm>
            <a:off x="365760" y="173736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BD427CC-3F1A-45C5-8AB7-9C9C0CD854E4}"/>
              </a:ext>
            </a:extLst>
          </p:cNvPr>
          <p:cNvSpPr>
            <a:spLocks noGrp="1"/>
          </p:cNvSpPr>
          <p:nvPr/>
        </p:nvSpPr>
        <p:spPr>
          <a:xfrm>
            <a:off x="502920" y="17830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Host Interface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DAC3B0F6-EE58-4D4F-AB66-F049ADED89D4}"/>
              </a:ext>
            </a:extLst>
          </p:cNvPr>
          <p:cNvSpPr>
            <a:spLocks noGrp="1"/>
          </p:cNvSpPr>
          <p:nvPr/>
        </p:nvSpPr>
        <p:spPr>
          <a:xfrm>
            <a:off x="365760" y="2159726"/>
            <a:ext cx="5120640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interface.c:1267-1304</a:t>
            </a:r>
          </a:p>
          <a:p>
            <a:pPr>
              <a:lnSpc>
                <a:spcPct val="20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명령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수신·설정·응답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프레임</a:t>
            </a:r>
            <a:endParaRPr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CC1AFC47-BC15-4006-8C74-E01DE0B0478A}"/>
              </a:ext>
            </a:extLst>
          </p:cNvPr>
          <p:cNvSpPr>
            <a:spLocks noGrp="1"/>
          </p:cNvSpPr>
          <p:nvPr/>
        </p:nvSpPr>
        <p:spPr>
          <a:xfrm>
            <a:off x="6035040" y="1737360"/>
            <a:ext cx="5852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FC02BE5-A7A1-46AA-BD59-96BB7B713089}"/>
              </a:ext>
            </a:extLst>
          </p:cNvPr>
          <p:cNvSpPr>
            <a:spLocks noGrp="1"/>
          </p:cNvSpPr>
          <p:nvPr/>
        </p:nvSpPr>
        <p:spPr>
          <a:xfrm>
            <a:off x="6035040" y="173736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1ED20BD-F069-4785-B91D-C8B9C9D30CE3}"/>
              </a:ext>
            </a:extLst>
          </p:cNvPr>
          <p:cNvSpPr>
            <a:spLocks noGrp="1"/>
          </p:cNvSpPr>
          <p:nvPr/>
        </p:nvSpPr>
        <p:spPr>
          <a:xfrm>
            <a:off x="6172200" y="1783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Kernel API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3D804E9-620B-4350-AE13-1C4DB11D3FC3}"/>
              </a:ext>
            </a:extLst>
          </p:cNvPr>
          <p:cNvSpPr>
            <a:spLocks noGrp="1"/>
          </p:cNvSpPr>
          <p:nvPr/>
        </p:nvSpPr>
        <p:spPr>
          <a:xfrm>
            <a:off x="6035040" y="2159726"/>
            <a:ext cx="557784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EMV_function.h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/ EMV_PROC.C</a:t>
            </a:r>
          </a:p>
          <a:p>
            <a:pPr>
              <a:lnSpc>
                <a:spcPct val="15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선택·거래·승인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판단</a:t>
            </a:r>
            <a:endParaRPr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C38273EC-0C44-4712-86FB-D5DA7DFA2966}"/>
              </a:ext>
            </a:extLst>
          </p:cNvPr>
          <p:cNvSpPr>
            <a:spLocks noGrp="1"/>
          </p:cNvSpPr>
          <p:nvPr/>
        </p:nvSpPr>
        <p:spPr>
          <a:xfrm>
            <a:off x="365760" y="4206240"/>
            <a:ext cx="11521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E77D47F6-9886-4C00-8A2F-B46AD0FDBB94}"/>
              </a:ext>
            </a:extLst>
          </p:cNvPr>
          <p:cNvSpPr>
            <a:spLocks noGrp="1"/>
          </p:cNvSpPr>
          <p:nvPr/>
        </p:nvSpPr>
        <p:spPr>
          <a:xfrm>
            <a:off x="365760" y="4206240"/>
            <a:ext cx="1152144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2C62CEE-69B9-4EBE-850A-95ED7A237FEC}"/>
              </a:ext>
            </a:extLst>
          </p:cNvPr>
          <p:cNvSpPr>
            <a:spLocks noGrp="1"/>
          </p:cNvSpPr>
          <p:nvPr/>
        </p:nvSpPr>
        <p:spPr>
          <a:xfrm>
            <a:off x="502920" y="4251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RF / Card I/O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775E26D8-2B3A-4ED6-BA39-F32CD473B3E8}"/>
              </a:ext>
            </a:extLst>
          </p:cNvPr>
          <p:cNvSpPr>
            <a:spLocks noGrp="1"/>
          </p:cNvSpPr>
          <p:nvPr/>
        </p:nvSpPr>
        <p:spPr>
          <a:xfrm>
            <a:off x="365760" y="4617720"/>
            <a:ext cx="11247120" cy="1354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SendRcvICCAPDU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():10450-10477</a:t>
            </a:r>
          </a:p>
          <a:p>
            <a:pPr>
              <a:lnSpc>
                <a:spcPct val="25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NFC_Control.c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/ PN5180 APDU </a:t>
            </a: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교환</a:t>
            </a:r>
            <a:endParaRPr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620997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CE70C93-5B02-480D-81BD-4FDE134D63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C7F7B11F-35A8-4B05-9443-70E47BEB00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1553FCF-2CDD-477D-9AA5-5326112F0163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A2AF68D-82E8-41C2-A339-2864BB078A7A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Host 명령 진입점 - interface.c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CBE9919-8903-4230-B014-972A4261150A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4A02050-12F1-4B35-8C40-2AE5F3FFC91C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1DAAC81-8899-4448-87FB-2DA82F8C29DD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설정 명령 - interface.c:1267-1275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09BA223-F432-4B0F-8556-ED817FB0D4C4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2120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sz="14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case 0xA7: SET_TERMINAL</a:t>
            </a:r>
          </a:p>
          <a:p>
            <a:pPr>
              <a:lnSpc>
                <a:spcPct val="250000"/>
              </a:lnSpc>
              <a:buNone/>
            </a:pPr>
            <a:r>
              <a:rPr sz="1300"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case 0xA8: SET_TER_AID</a:t>
            </a:r>
          </a:p>
          <a:p>
            <a:pPr>
              <a:lnSpc>
                <a:spcPct val="250000"/>
              </a:lnSpc>
              <a:buNone/>
            </a:pPr>
            <a:r>
              <a:rPr sz="1300"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case 0xA9: SET_TER_REVO</a:t>
            </a:r>
          </a:p>
          <a:p>
            <a:pPr>
              <a:lnSpc>
                <a:spcPct val="250000"/>
              </a:lnSpc>
              <a:buNone/>
            </a:pPr>
            <a:r>
              <a:rPr sz="1300"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SetTerminalConfig</a:t>
            </a:r>
            <a:r>
              <a:rPr sz="1300"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300"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lcommand</a:t>
            </a:r>
            <a:r>
              <a:rPr sz="1300"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, data, </a:t>
            </a:r>
            <a:r>
              <a:rPr sz="1300"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len</a:t>
            </a:r>
            <a:r>
              <a:rPr sz="1300"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614B4D6-C4B6-41DC-9D84-D35485C0278C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80508A32-67D9-43BA-BB34-7B65DD9FB091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F6D5FAD-93D3-465F-8A62-186BC538E045}"/>
              </a:ext>
            </a:extLst>
          </p:cNvPr>
          <p:cNvSpPr>
            <a:spLocks noGrp="1"/>
          </p:cNvSpPr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거래 명령 - interface.c:1282-1304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E1B3434D-E433-4AE1-809C-799B9281E5EB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577840" cy="1214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RF_EMV_PowerOn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();</a:t>
            </a:r>
          </a:p>
          <a:p>
            <a:pPr>
              <a:lnSpc>
                <a:spcPct val="250000"/>
              </a:lnSpc>
              <a:buNone/>
            </a:pP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EmvTranProc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lcommand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, data,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len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rsp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, &amp;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rspLen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);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E5B88B0-AF2B-4644-81EE-DAD65E145A01}"/>
              </a:ext>
            </a:extLst>
          </p:cNvPr>
          <p:cNvSpPr>
            <a:spLocks noGrp="1"/>
          </p:cNvSpPr>
          <p:nvPr/>
        </p:nvSpPr>
        <p:spPr>
          <a:xfrm>
            <a:off x="365760" y="3977639"/>
            <a:ext cx="115214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734776F-DF4A-4712-A7A3-24AB1133B6CA}"/>
              </a:ext>
            </a:extLst>
          </p:cNvPr>
          <p:cNvSpPr>
            <a:spLocks noGrp="1"/>
          </p:cNvSpPr>
          <p:nvPr/>
        </p:nvSpPr>
        <p:spPr>
          <a:xfrm>
            <a:off x="365760" y="3977639"/>
            <a:ext cx="1152144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0B1564F-A994-4D20-9063-0AA09D30AA07}"/>
              </a:ext>
            </a:extLst>
          </p:cNvPr>
          <p:cNvSpPr>
            <a:spLocks noGrp="1"/>
          </p:cNvSpPr>
          <p:nvPr/>
        </p:nvSpPr>
        <p:spPr>
          <a:xfrm>
            <a:off x="502920" y="4023359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종료 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00D30DA-782F-4F46-BECC-2FF554EC35A6}"/>
              </a:ext>
            </a:extLst>
          </p:cNvPr>
          <p:cNvSpPr>
            <a:spLocks noGrp="1"/>
          </p:cNvSpPr>
          <p:nvPr/>
        </p:nvSpPr>
        <p:spPr>
          <a:xfrm>
            <a:off x="365760" y="4389119"/>
            <a:ext cx="1124712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ESC_SendFrame_emv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(...);</a:t>
            </a:r>
          </a:p>
          <a:p>
            <a:pPr>
              <a:lnSpc>
                <a:spcPct val="250000"/>
              </a:lnSpc>
              <a:buNone/>
            </a:pPr>
            <a:r>
              <a:rPr sz="1400"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RF_EMV_PowerOff</a:t>
            </a:r>
            <a:r>
              <a:rPr sz="1400"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5547899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1BAFABA-6C2A-46C0-A5C6-E4C6BA6299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5E6BE71-FE06-482E-AEBC-613B25CCD4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2DB68207-1C43-4B92-B17E-568190D70954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E0B7F51-91C8-4C07-8455-E5310C83E829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Kernel API와 거래 Dispatcher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A51A0D53-D587-48EF-A0D0-9ED71E609E17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C5D0A82-5674-4E06-80AF-9F36AC7D8748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4883F51-DC14-4942-ADC6-DEA9A22D8FE8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공개 API - EMV_function.h:19-26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4C2CAB9-C1F0-44EF-B4FF-717B3BC94009}"/>
              </a:ext>
            </a:extLst>
          </p:cNvPr>
          <p:cNvSpPr>
            <a:spLocks noGrp="1"/>
          </p:cNvSpPr>
          <p:nvPr/>
        </p:nvSpPr>
        <p:spPr>
          <a:xfrm>
            <a:off x="373598" y="1600200"/>
            <a:ext cx="52120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20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Init</a:t>
            </a:r>
            <a:r>
              <a:rPr sz="2000"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20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SetConfig</a:t>
            </a:r>
            <a:r>
              <a:rPr sz="2000"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2000"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EmvTranProc</a:t>
            </a:r>
            <a:endParaRPr sz="2000" b="1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SelectPSE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SelectAID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ProcTran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EndTran</a:t>
            </a:r>
            <a:endParaRPr dirty="0">
              <a:solidFill>
                <a:srgbClr val="55557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0DF9B0B-6FB1-440F-BF3A-A20419E898F0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EDB499C-D68A-4E72-A47A-79952E9DA7A1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610CE681-24C3-4468-A4A4-5EC69179786F}"/>
              </a:ext>
            </a:extLst>
          </p:cNvPr>
          <p:cNvSpPr>
            <a:spLocks noGrp="1"/>
          </p:cNvSpPr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Dispatcher - EMV_PROC.C:834-876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059F47C-7981-404D-AA1B-F2CE014AED3C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577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4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state = </a:t>
            </a:r>
            <a:r>
              <a:rPr sz="24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SelectPSE</a:t>
            </a:r>
            <a:r>
              <a:rPr sz="24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(...);</a:t>
            </a:r>
          </a:p>
          <a:p>
            <a:pPr>
              <a:lnSpc>
                <a:spcPct val="150000"/>
              </a:lnSpc>
              <a:buNone/>
            </a:pPr>
            <a:r>
              <a:rPr sz="2400"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if(state == 0) </a:t>
            </a:r>
            <a:r>
              <a:rPr sz="2400"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SelectAID</a:t>
            </a:r>
            <a:r>
              <a:rPr sz="2400"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(...);</a:t>
            </a:r>
          </a:p>
          <a:p>
            <a:pPr>
              <a:lnSpc>
                <a:spcPct val="150000"/>
              </a:lnSpc>
              <a:buNone/>
            </a:pPr>
            <a:r>
              <a:rPr sz="2400"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if(state == 0) </a:t>
            </a:r>
            <a:r>
              <a:rPr sz="2400"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ProcTran</a:t>
            </a:r>
            <a:r>
              <a:rPr sz="2400"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(...);</a:t>
            </a:r>
          </a:p>
        </p:txBody>
      </p:sp>
    </p:spTree>
    <p:extLst>
      <p:ext uri="{BB962C8B-B14F-4D97-AF65-F5344CB8AC3E}">
        <p14:creationId xmlns:p14="http://schemas.microsoft.com/office/powerpoint/2010/main" val="36795650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CCB9D7D-899E-4556-BC60-1AC9759DB9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97850A1-3F73-49F9-9068-36B0A8FC68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7C656C6-E2D8-406F-BFE0-E09333F87BF3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9831E27-ADDD-4919-B746-FC6E93299183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Terminal과 AMEX 설정 파싱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B4ABBCD-65D4-48BA-BA24-21313E1542E6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함수: SetTerminalConfig() - EMV_PROC.C:440-814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E29BD48-7F5C-4847-A1AE-9B37740D2155}"/>
              </a:ext>
            </a:extLst>
          </p:cNvPr>
          <p:cNvSpPr>
            <a:spLocks noGrp="1"/>
          </p:cNvSpPr>
          <p:nvPr/>
        </p:nvSpPr>
        <p:spPr>
          <a:xfrm>
            <a:off x="365760" y="1627632"/>
            <a:ext cx="53949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EE416CD5-5B30-4C06-B17A-E9853F718782}"/>
              </a:ext>
            </a:extLst>
          </p:cNvPr>
          <p:cNvSpPr>
            <a:spLocks noGrp="1"/>
          </p:cNvSpPr>
          <p:nvPr/>
        </p:nvSpPr>
        <p:spPr>
          <a:xfrm>
            <a:off x="365760" y="1627632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8B2C545-D702-4001-9247-9CAA1F86ACCA}"/>
              </a:ext>
            </a:extLst>
          </p:cNvPr>
          <p:cNvSpPr>
            <a:spLocks noGrp="1"/>
          </p:cNvSpPr>
          <p:nvPr/>
        </p:nvSpPr>
        <p:spPr>
          <a:xfrm>
            <a:off x="502920" y="1673352"/>
            <a:ext cx="5120640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거래 데이터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FAAE2225-064B-4036-9C48-4675D2ADC923}"/>
              </a:ext>
            </a:extLst>
          </p:cNvPr>
          <p:cNvSpPr>
            <a:spLocks noGrp="1"/>
          </p:cNvSpPr>
          <p:nvPr/>
        </p:nvSpPr>
        <p:spPr>
          <a:xfrm>
            <a:off x="365760" y="2039112"/>
            <a:ext cx="5120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9F66 TTQ, 9F02 Amount</a:t>
            </a:r>
          </a:p>
          <a:p>
            <a:pPr>
              <a:lnSpc>
                <a:spcPct val="250000"/>
              </a:lnSpc>
              <a:buNone/>
            </a:pP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5F2A Currency, 9C Type</a:t>
            </a:r>
          </a:p>
          <a:p>
            <a:pPr>
              <a:lnSpc>
                <a:spcPct val="250000"/>
              </a:lnSpc>
              <a:buNone/>
            </a:pP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9A Date, 9F37 Unpredictable Number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0175D52B-E3F0-4674-8581-387780E908A1}"/>
              </a:ext>
            </a:extLst>
          </p:cNvPr>
          <p:cNvSpPr>
            <a:spLocks noGrp="1"/>
          </p:cNvSpPr>
          <p:nvPr/>
        </p:nvSpPr>
        <p:spPr>
          <a:xfrm>
            <a:off x="6035040" y="1627632"/>
            <a:ext cx="58521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A41925DB-9FD9-435F-BC68-509B7B3F6684}"/>
              </a:ext>
            </a:extLst>
          </p:cNvPr>
          <p:cNvSpPr>
            <a:spLocks noGrp="1"/>
          </p:cNvSpPr>
          <p:nvPr/>
        </p:nvSpPr>
        <p:spPr>
          <a:xfrm>
            <a:off x="6035040" y="1627632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3A99C3FB-EC7B-4BB2-81A0-8A6BD1A1E706}"/>
              </a:ext>
            </a:extLst>
          </p:cNvPr>
          <p:cNvSpPr>
            <a:spLocks noGrp="1"/>
          </p:cNvSpPr>
          <p:nvPr/>
        </p:nvSpPr>
        <p:spPr>
          <a:xfrm>
            <a:off x="6172200" y="1673352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Contactless Limits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09FEDB4-B330-40AF-A70E-F8D0DBF807B2}"/>
              </a:ext>
            </a:extLst>
          </p:cNvPr>
          <p:cNvSpPr>
            <a:spLocks noGrp="1"/>
          </p:cNvSpPr>
          <p:nvPr/>
        </p:nvSpPr>
        <p:spPr>
          <a:xfrm>
            <a:off x="6035040" y="2036064"/>
            <a:ext cx="5577840" cy="325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buNone/>
            </a:pP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C009 Transaction Limit</a:t>
            </a:r>
          </a:p>
          <a:p>
            <a:pPr>
              <a:lnSpc>
                <a:spcPct val="300000"/>
              </a:lnSpc>
              <a:buNone/>
            </a:pP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C00C CVM Limit</a:t>
            </a:r>
          </a:p>
          <a:p>
            <a:pPr>
              <a:lnSpc>
                <a:spcPct val="300000"/>
              </a:lnSpc>
              <a:buNone/>
            </a:pP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C007 Floor Limit</a:t>
            </a:r>
          </a:p>
          <a:p>
            <a:pPr>
              <a:lnSpc>
                <a:spcPct val="300000"/>
              </a:lnSpc>
              <a:buNone/>
            </a:pP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C00D CVM Required Limit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E2545440-7995-4F25-B2B4-82A7A3DD9419}"/>
              </a:ext>
            </a:extLst>
          </p:cNvPr>
          <p:cNvSpPr>
            <a:spLocks noGrp="1"/>
          </p:cNvSpPr>
          <p:nvPr/>
        </p:nvSpPr>
        <p:spPr>
          <a:xfrm>
            <a:off x="365760" y="4754880"/>
            <a:ext cx="5394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4586B507-5F1C-4647-B0AF-86FC0C5EDB3D}"/>
              </a:ext>
            </a:extLst>
          </p:cNvPr>
          <p:cNvSpPr>
            <a:spLocks noGrp="1"/>
          </p:cNvSpPr>
          <p:nvPr/>
        </p:nvSpPr>
        <p:spPr>
          <a:xfrm>
            <a:off x="365760" y="475488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50524862-7E1F-45F5-9B0B-D0DF57039397}"/>
              </a:ext>
            </a:extLst>
          </p:cNvPr>
          <p:cNvSpPr>
            <a:spLocks noGrp="1"/>
          </p:cNvSpPr>
          <p:nvPr/>
        </p:nvSpPr>
        <p:spPr>
          <a:xfrm>
            <a:off x="502920" y="4800600"/>
            <a:ext cx="5120640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AMEX 관련 Capability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6023C9F6-6829-445C-B7C9-94C38FBD6BEB}"/>
              </a:ext>
            </a:extLst>
          </p:cNvPr>
          <p:cNvSpPr>
            <a:spLocks noGrp="1"/>
          </p:cNvSpPr>
          <p:nvPr/>
        </p:nvSpPr>
        <p:spPr>
          <a:xfrm>
            <a:off x="365760" y="5180397"/>
            <a:ext cx="5394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9F35 Terminal Type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9F33 Terminal Capability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9F6E Enhanced Reader Capability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9F6D Reader Capability</a:t>
            </a:r>
          </a:p>
        </p:txBody>
      </p:sp>
    </p:spTree>
    <p:extLst>
      <p:ext uri="{BB962C8B-B14F-4D97-AF65-F5344CB8AC3E}">
        <p14:creationId xmlns:p14="http://schemas.microsoft.com/office/powerpoint/2010/main" val="27841172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DCE6DFB-6AC9-4B58-B6B0-B4A1030432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098B6A2-00E9-4CBC-993C-DE9AD45E26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DBB0305-00D4-457C-8C11-9142C576997B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65FB334-DD46-4768-8296-A0C1545758EF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PSE·AID 선택과 GPO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6E8BD21-BD0C-4EF7-9973-ADE5A8899919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선택부터 GPO 응답 파싱까지의 핵심 함수와 AMEX 인증 대응 지점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E0995FF-3756-438D-8713-397EE46DE7B2}"/>
              </a:ext>
            </a:extLst>
          </p:cNvPr>
          <p:cNvSpPr>
            <a:spLocks noGrp="1"/>
          </p:cNvSpPr>
          <p:nvPr/>
        </p:nvSpPr>
        <p:spPr>
          <a:xfrm>
            <a:off x="365760" y="1737360"/>
            <a:ext cx="5394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0E369F9-D5E2-4356-A378-C054A33387F4}"/>
              </a:ext>
            </a:extLst>
          </p:cNvPr>
          <p:cNvSpPr>
            <a:spLocks noGrp="1"/>
          </p:cNvSpPr>
          <p:nvPr/>
        </p:nvSpPr>
        <p:spPr>
          <a:xfrm>
            <a:off x="365760" y="173736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BD427CC-3F1A-45C5-8AB7-9C9C0CD854E4}"/>
              </a:ext>
            </a:extLst>
          </p:cNvPr>
          <p:cNvSpPr>
            <a:spLocks noGrp="1"/>
          </p:cNvSpPr>
          <p:nvPr/>
        </p:nvSpPr>
        <p:spPr>
          <a:xfrm>
            <a:off x="502920" y="17830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함수 위치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DAC3B0F6-EE58-4D4F-AB66-F049ADED89D4}"/>
              </a:ext>
            </a:extLst>
          </p:cNvPr>
          <p:cNvSpPr>
            <a:spLocks noGrp="1"/>
          </p:cNvSpPr>
          <p:nvPr/>
        </p:nvSpPr>
        <p:spPr>
          <a:xfrm>
            <a:off x="365760" y="2159726"/>
            <a:ext cx="51206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EmvFuncSelectPSE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():881-1410</a:t>
            </a:r>
          </a:p>
          <a:p>
            <a:pPr>
              <a:lnSpc>
                <a:spcPct val="250000"/>
              </a:lnSpc>
              <a:buNone/>
            </a:pP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EmvFuncSelectAID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():1412-2420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CC1AFC47-BC15-4006-8C74-E01DE0B0478A}"/>
              </a:ext>
            </a:extLst>
          </p:cNvPr>
          <p:cNvSpPr>
            <a:spLocks noGrp="1"/>
          </p:cNvSpPr>
          <p:nvPr/>
        </p:nvSpPr>
        <p:spPr>
          <a:xfrm>
            <a:off x="6035040" y="1737360"/>
            <a:ext cx="5852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FC02BE5-A7A1-46AA-BD59-96BB7B713089}"/>
              </a:ext>
            </a:extLst>
          </p:cNvPr>
          <p:cNvSpPr>
            <a:spLocks noGrp="1"/>
          </p:cNvSpPr>
          <p:nvPr/>
        </p:nvSpPr>
        <p:spPr>
          <a:xfrm>
            <a:off x="6035040" y="173736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1ED20BD-F069-4785-B91D-C8B9C9D30CE3}"/>
              </a:ext>
            </a:extLst>
          </p:cNvPr>
          <p:cNvSpPr>
            <a:spLocks noGrp="1"/>
          </p:cNvSpPr>
          <p:nvPr/>
        </p:nvSpPr>
        <p:spPr>
          <a:xfrm>
            <a:off x="6172200" y="1783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AID 선택 핵심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3D804E9-620B-4350-AE13-1C4DB11D3FC3}"/>
              </a:ext>
            </a:extLst>
          </p:cNvPr>
          <p:cNvSpPr>
            <a:spLocks noGrp="1"/>
          </p:cNvSpPr>
          <p:nvPr/>
        </p:nvSpPr>
        <p:spPr>
          <a:xfrm>
            <a:off x="6035040" y="2159726"/>
            <a:ext cx="55778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Directory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Entry에서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AID·Priority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수집</a:t>
            </a:r>
            <a:endParaRPr sz="160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Terminal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AID와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비교해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Candidate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구성</a:t>
            </a:r>
            <a:endParaRPr sz="160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비표준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AMEX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AID는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인증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규칙에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따라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오류</a:t>
            </a:r>
            <a:endParaRPr sz="160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C38273EC-0C44-4712-86FB-D5DA7DFA2966}"/>
              </a:ext>
            </a:extLst>
          </p:cNvPr>
          <p:cNvSpPr>
            <a:spLocks noGrp="1"/>
          </p:cNvSpPr>
          <p:nvPr/>
        </p:nvSpPr>
        <p:spPr>
          <a:xfrm>
            <a:off x="365760" y="4206240"/>
            <a:ext cx="11521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E77D47F6-9886-4C00-8A2F-B46AD0FDBB94}"/>
              </a:ext>
            </a:extLst>
          </p:cNvPr>
          <p:cNvSpPr>
            <a:spLocks noGrp="1"/>
          </p:cNvSpPr>
          <p:nvPr/>
        </p:nvSpPr>
        <p:spPr>
          <a:xfrm>
            <a:off x="365760" y="4206240"/>
            <a:ext cx="1152144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2C62CEE-69B9-4EBE-850A-95ED7A237FEC}"/>
              </a:ext>
            </a:extLst>
          </p:cNvPr>
          <p:cNvSpPr>
            <a:spLocks noGrp="1"/>
          </p:cNvSpPr>
          <p:nvPr/>
        </p:nvSpPr>
        <p:spPr>
          <a:xfrm>
            <a:off x="502920" y="4251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GPO / 인증 대응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775E26D8-2B3A-4ED6-BA39-F32CD473B3E8}"/>
              </a:ext>
            </a:extLst>
          </p:cNvPr>
          <p:cNvSpPr>
            <a:spLocks noGrp="1"/>
          </p:cNvSpPr>
          <p:nvPr/>
        </p:nvSpPr>
        <p:spPr>
          <a:xfrm>
            <a:off x="365760" y="4617720"/>
            <a:ext cx="11247120" cy="1829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DoldataSetting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(3, ...) PDOL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생성</a:t>
            </a:r>
            <a:endParaRPr sz="160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SendICCGetPorcOpt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():10545-10587</a:t>
            </a:r>
          </a:p>
          <a:p>
            <a:pPr>
              <a:lnSpc>
                <a:spcPct val="250000"/>
              </a:lnSpc>
              <a:buNone/>
            </a:pP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AIP·AFL·9F6E·9F71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파싱</a:t>
            </a:r>
            <a:endParaRPr sz="160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936489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F4DC1304-32CE-4D48-86A3-D83DC44724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8AE730A1-BEA1-46D1-843C-A15A0A994E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05FC9BE-77DD-4EE8-AA13-62AFAA50E1FE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FF9129-6339-496D-B27D-AA96D4E13F87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거래 처리 - EmvFuncProcTran()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12DB89F-B42C-4E84-9602-A1E9EB0280D1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478B5FC-960D-4176-A6C6-AF1C8B301BC5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36576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25362B5-A9A5-414F-88E3-BE64D3311B3C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1. 카드 데이터 검증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4B872C6-E581-48BE-AF84-1DF31A7B1A30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33832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buNone/>
            </a:pP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EMV_PROC.C:2422-3317</a:t>
            </a:r>
          </a:p>
          <a:p>
            <a:pPr>
              <a:lnSpc>
                <a:spcPct val="300000"/>
              </a:lnSpc>
              <a:buNone/>
            </a:pP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READ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RECORD·필수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Tag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60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300000"/>
              </a:lnSpc>
              <a:buNone/>
            </a:pP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CheckCVMlist</a:t>
            </a:r>
            <a:r>
              <a:rPr sz="1600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()로 CVM </a:t>
            </a:r>
            <a:r>
              <a:rPr sz="1600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평가</a:t>
            </a:r>
            <a:endParaRPr sz="1600"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0E6309F-D6AB-469B-8DA9-CCA499D98E98}"/>
              </a:ext>
            </a:extLst>
          </p:cNvPr>
          <p:cNvSpPr>
            <a:spLocks noGrp="1"/>
          </p:cNvSpPr>
          <p:nvPr/>
        </p:nvSpPr>
        <p:spPr>
          <a:xfrm>
            <a:off x="4160520" y="118872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FB21EB5-F939-480B-A8EC-1E1130E493C0}"/>
              </a:ext>
            </a:extLst>
          </p:cNvPr>
          <p:cNvSpPr>
            <a:spLocks noGrp="1"/>
          </p:cNvSpPr>
          <p:nvPr/>
        </p:nvSpPr>
        <p:spPr>
          <a:xfrm>
            <a:off x="4160520" y="1188720"/>
            <a:ext cx="36576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C1344DD-AF52-49DC-878A-7B5635DCF677}"/>
              </a:ext>
            </a:extLst>
          </p:cNvPr>
          <p:cNvSpPr>
            <a:spLocks noGrp="1"/>
          </p:cNvSpPr>
          <p:nvPr/>
        </p:nvSpPr>
        <p:spPr>
          <a:xfrm>
            <a:off x="429768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2. 제한과 위험 판단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4424C93-F57C-4DCC-99D9-FAE429631F6D}"/>
              </a:ext>
            </a:extLst>
          </p:cNvPr>
          <p:cNvSpPr>
            <a:spLocks noGrp="1"/>
          </p:cNvSpPr>
          <p:nvPr/>
        </p:nvSpPr>
        <p:spPr>
          <a:xfrm>
            <a:off x="4118067" y="1599758"/>
            <a:ext cx="3794760" cy="204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ProcRestriction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():2738</a:t>
            </a:r>
          </a:p>
          <a:p>
            <a:pPr>
              <a:lnSpc>
                <a:spcPct val="250000"/>
              </a:lnSpc>
              <a:buNone/>
            </a:pP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9F71 Mobile CVM:2730-2736</a:t>
            </a:r>
          </a:p>
          <a:p>
            <a:pPr>
              <a:lnSpc>
                <a:spcPct val="25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TerminalActAnalysis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():2914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C7116014-99A0-4BD8-BF75-CEE7CB458F54}"/>
              </a:ext>
            </a:extLst>
          </p:cNvPr>
          <p:cNvSpPr>
            <a:spLocks noGrp="1"/>
          </p:cNvSpPr>
          <p:nvPr/>
        </p:nvSpPr>
        <p:spPr>
          <a:xfrm>
            <a:off x="7979758" y="1188720"/>
            <a:ext cx="3998882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1BE14AAE-5018-4829-BCED-EE8C12A63BCE}"/>
              </a:ext>
            </a:extLst>
          </p:cNvPr>
          <p:cNvSpPr>
            <a:spLocks noGrp="1"/>
          </p:cNvSpPr>
          <p:nvPr/>
        </p:nvSpPr>
        <p:spPr>
          <a:xfrm>
            <a:off x="7979758" y="1188720"/>
            <a:ext cx="3998882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172E1C6-12C8-4CCB-975C-18C714F442EE}"/>
              </a:ext>
            </a:extLst>
          </p:cNvPr>
          <p:cNvSpPr>
            <a:spLocks noGrp="1"/>
          </p:cNvSpPr>
          <p:nvPr/>
        </p:nvSpPr>
        <p:spPr>
          <a:xfrm>
            <a:off x="8142514" y="1234440"/>
            <a:ext cx="36989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3. AC 요청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89087E14-C3CC-4EA1-9E4F-3F590726530C}"/>
              </a:ext>
            </a:extLst>
          </p:cNvPr>
          <p:cNvSpPr>
            <a:spLocks noGrp="1"/>
          </p:cNvSpPr>
          <p:nvPr/>
        </p:nvSpPr>
        <p:spPr>
          <a:xfrm>
            <a:off x="7979758" y="1600200"/>
            <a:ext cx="399888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0x90/80 ARQC, 0x50/40 TC</a:t>
            </a:r>
          </a:p>
          <a:p>
            <a:pPr>
              <a:lnSpc>
                <a:spcPct val="250000"/>
              </a:lnSpc>
              <a:buNone/>
            </a:pP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0x10/00 AAC</a:t>
            </a:r>
          </a:p>
          <a:p>
            <a:pPr>
              <a:lnSpc>
                <a:spcPct val="25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SendGenerateAC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():2920-2948</a:t>
            </a:r>
          </a:p>
        </p:txBody>
      </p:sp>
    </p:spTree>
    <p:extLst>
      <p:ext uri="{BB962C8B-B14F-4D97-AF65-F5344CB8AC3E}">
        <p14:creationId xmlns:p14="http://schemas.microsoft.com/office/powerpoint/2010/main" val="11379554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1BAFABA-6C2A-46C0-A5C6-E4C6BA6299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5E6BE71-FE06-482E-AEBC-613B25CCD4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2DB68207-1C43-4B92-B17E-568190D70954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E0B7F51-91C8-4C07-8455-E5310C83E829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PDOL/CDOL과 APDU 생성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A51A0D53-D587-48EF-A0D0-9ED71E609E17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C5D0A82-5674-4E06-80AF-9F36AC7D8748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4883F51-DC14-4942-ADC6-DEA9A22D8FE8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DOL 조립 - DoldataSetting():6881-8141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4C2CAB9-C1F0-44EF-B4FF-717B3BC94009}"/>
              </a:ext>
            </a:extLst>
          </p:cNvPr>
          <p:cNvSpPr>
            <a:spLocks noGrp="1"/>
          </p:cNvSpPr>
          <p:nvPr/>
        </p:nvSpPr>
        <p:spPr>
          <a:xfrm>
            <a:off x="373598" y="1600200"/>
            <a:ext cx="5212080" cy="325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tp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=1: CDOL1</a:t>
            </a:r>
          </a:p>
          <a:p>
            <a:pPr>
              <a:lnSpc>
                <a:spcPct val="300000"/>
              </a:lnSpc>
              <a:buNone/>
            </a:pP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tp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=2: CDOL2</a:t>
            </a:r>
          </a:p>
          <a:p>
            <a:pPr>
              <a:lnSpc>
                <a:spcPct val="300000"/>
              </a:lnSpc>
              <a:buNone/>
            </a:pP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tp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=3: PDOL</a:t>
            </a:r>
          </a:p>
          <a:p>
            <a:pPr>
              <a:lnSpc>
                <a:spcPct val="300000"/>
              </a:lnSpc>
              <a:buNone/>
            </a:pP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각 Tag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길이에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맞춰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Terminal/Card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데이터를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연결</a:t>
            </a:r>
            <a:endParaRPr dirty="0">
              <a:solidFill>
                <a:srgbClr val="55557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0DF9B0B-6FB1-440F-BF3A-A20419E898F0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EDB499C-D68A-4E72-A47A-79952E9DA7A1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610CE681-24C3-4468-A4A4-5EC69179786F}"/>
              </a:ext>
            </a:extLst>
          </p:cNvPr>
          <p:cNvSpPr>
            <a:spLocks noGrp="1"/>
          </p:cNvSpPr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GENERATE AC - SendGenerateAC():10591-10660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059F47C-7981-404D-AA1B-F2CE014AED3C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577840" cy="2427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DoldataSetting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(type, </a:t>
            </a: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pDoldata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, &amp;</a:t>
            </a: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nDolen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);</a:t>
            </a:r>
          </a:p>
          <a:p>
            <a:pPr>
              <a:lnSpc>
                <a:spcPct val="300000"/>
              </a:lnSpc>
              <a:buNone/>
            </a:pP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data = 80 AE | P1 | 00 |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Lc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| CDOL | 00;</a:t>
            </a:r>
          </a:p>
          <a:p>
            <a:pPr>
              <a:lnSpc>
                <a:spcPct val="300000"/>
              </a:lnSpc>
              <a:buNone/>
            </a:pP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SendRcvICCAPDU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(data,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len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, ...);</a:t>
            </a:r>
          </a:p>
        </p:txBody>
      </p:sp>
    </p:spTree>
    <p:extLst>
      <p:ext uri="{BB962C8B-B14F-4D97-AF65-F5344CB8AC3E}">
        <p14:creationId xmlns:p14="http://schemas.microsoft.com/office/powerpoint/2010/main" val="21739883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CE70C93-5B02-480D-81BD-4FDE134D63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C7F7B11F-35A8-4B05-9443-70E47BEB00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1553FCF-2CDD-477D-9AA5-5326112F0163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A2AF68D-82E8-41C2-A339-2864BB078A7A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CVM과 Mobile CVM 핵심 분기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CBE9919-8903-4230-B014-972A4261150A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4A02050-12F1-4B35-8C40-2AE5F3FFC91C}"/>
              </a:ext>
            </a:extLst>
          </p:cNvPr>
          <p:cNvSpPr>
            <a:spLocks noGrp="1"/>
          </p:cNvSpPr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1DAAC81-8899-4448-87FB-2DA82F8C29DD}"/>
              </a:ext>
            </a:extLst>
          </p:cNvPr>
          <p:cNvSpPr>
            <a:spLocks noGrp="1"/>
          </p:cNvSpPr>
          <p:nvPr/>
        </p:nvSpPr>
        <p:spPr>
          <a:xfrm>
            <a:off x="50292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CVM 입력 - CheckCVMlist():8256-9078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09BA223-F432-4B0F-8556-ED817FB0D4C4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212080" cy="166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Card CVM List</a:t>
            </a:r>
          </a:p>
          <a:p>
            <a:pPr>
              <a:lnSpc>
                <a:spcPct val="200000"/>
              </a:lnSpc>
              <a:buNone/>
            </a:pP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Amount와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CVM Required Limit</a:t>
            </a:r>
          </a:p>
          <a:p>
            <a:pPr>
              <a:lnSpc>
                <a:spcPct val="200000"/>
              </a:lnSpc>
              <a:buNone/>
            </a:pP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Terminal 9F6E Capability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614B4D6-C4B6-41DC-9D84-D35485C0278C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80508A32-67D9-43BA-BB34-7B65DD9FB091}"/>
              </a:ext>
            </a:extLst>
          </p:cNvPr>
          <p:cNvSpPr>
            <a:spLocks noGrp="1"/>
          </p:cNvSpPr>
          <p:nvPr/>
        </p:nvSpPr>
        <p:spPr>
          <a:xfrm>
            <a:off x="6035040" y="118872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F6D5FAD-93D3-465F-8A62-186BC538E045}"/>
              </a:ext>
            </a:extLst>
          </p:cNvPr>
          <p:cNvSpPr>
            <a:spLocks noGrp="1"/>
          </p:cNvSpPr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Mobile 결과 - 9F71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E1B3434D-E433-4AE1-809C-799B9281E5EB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577840" cy="1354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Method / Context / Result</a:t>
            </a:r>
          </a:p>
          <a:p>
            <a:pPr>
              <a:lnSpc>
                <a:spcPct val="25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실패·Passcode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Limit·Signature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분기</a:t>
            </a:r>
            <a:endParaRPr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E5B88B0-AF2B-4644-81EE-DAD65E145A01}"/>
              </a:ext>
            </a:extLst>
          </p:cNvPr>
          <p:cNvSpPr>
            <a:spLocks noGrp="1"/>
          </p:cNvSpPr>
          <p:nvPr/>
        </p:nvSpPr>
        <p:spPr>
          <a:xfrm>
            <a:off x="365760" y="3977639"/>
            <a:ext cx="115214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734776F-DF4A-4712-A7A3-24AB1133B6CA}"/>
              </a:ext>
            </a:extLst>
          </p:cNvPr>
          <p:cNvSpPr>
            <a:spLocks noGrp="1"/>
          </p:cNvSpPr>
          <p:nvPr/>
        </p:nvSpPr>
        <p:spPr>
          <a:xfrm>
            <a:off x="365760" y="3977639"/>
            <a:ext cx="1152144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0B1564F-A994-4D20-9063-0AA09D30AA07}"/>
              </a:ext>
            </a:extLst>
          </p:cNvPr>
          <p:cNvSpPr>
            <a:spLocks noGrp="1"/>
          </p:cNvSpPr>
          <p:nvPr/>
        </p:nvSpPr>
        <p:spPr>
          <a:xfrm>
            <a:off x="502920" y="4023359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00D30DA-782F-4F46-BECC-2FF554EC35A6}"/>
              </a:ext>
            </a:extLst>
          </p:cNvPr>
          <p:cNvSpPr>
            <a:spLocks noGrp="1"/>
          </p:cNvSpPr>
          <p:nvPr/>
        </p:nvSpPr>
        <p:spPr>
          <a:xfrm>
            <a:off x="365760" y="4389119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CVMresult</a:t>
            </a:r>
            <a:r>
              <a:rPr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 9F34와 TVR </a:t>
            </a:r>
            <a:r>
              <a:rPr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갱신</a:t>
            </a:r>
            <a:endParaRPr dirty="0">
              <a:solidFill>
                <a:srgbClr val="444455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00000"/>
              </a:lnSpc>
              <a:buNone/>
            </a:pP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재시도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또는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다음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CVM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선택</a:t>
            </a:r>
            <a:endParaRPr dirty="0">
              <a:solidFill>
                <a:srgbClr val="555577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913708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B5F5A5F-5A4F-46B8-9078-552A380C72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CEC758B-72ED-40BE-BBE3-ED65F64F09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BBFCD1D-9F8A-4095-94AB-E417837F74E7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723F075-0EDA-4893-8831-29135F3BC2BE}"/>
              </a:ext>
            </a:extLst>
          </p:cNvPr>
          <p:cNvSpPr>
            <a:spLocks noGrp="1"/>
          </p:cNvSpPr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Risk·Action Analysis와 AMEX CAPK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F05F00C-6143-4AEF-832C-B58CFBDABDFC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거래 정책과 공개키가 최종 AC 요청과 카드 인증을 결정합니다.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3F11208-81B5-4D40-B50D-C28B22EA8E46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BDD1DC0D-1F1E-4EA7-A18C-5A96159BC005}"/>
              </a:ext>
            </a:extLst>
          </p:cNvPr>
          <p:cNvSpPr>
            <a:spLocks noGrp="1"/>
          </p:cNvSpPr>
          <p:nvPr/>
        </p:nvSpPr>
        <p:spPr>
          <a:xfrm>
            <a:off x="365760" y="1600200"/>
            <a:ext cx="53949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D869F57-5A1D-460A-BE1D-75B42434E984}"/>
              </a:ext>
            </a:extLst>
          </p:cNvPr>
          <p:cNvSpPr>
            <a:spLocks noGrp="1"/>
          </p:cNvSpPr>
          <p:nvPr/>
        </p:nvSpPr>
        <p:spPr>
          <a:xfrm>
            <a:off x="50292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Risk / 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17BD332-694E-46DF-B1E1-526496E5AFE7}"/>
              </a:ext>
            </a:extLst>
          </p:cNvPr>
          <p:cNvSpPr>
            <a:spLocks noGrp="1"/>
          </p:cNvSpPr>
          <p:nvPr/>
        </p:nvSpPr>
        <p:spPr>
          <a:xfrm>
            <a:off x="365760" y="2011680"/>
            <a:ext cx="51206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b="1" dirty="0" err="1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TerminalRiskManage</a:t>
            </a:r>
            <a:r>
              <a:rPr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():9082-9113</a:t>
            </a:r>
          </a:p>
          <a:p>
            <a:pPr>
              <a:lnSpc>
                <a:spcPct val="250000"/>
              </a:lnSpc>
              <a:buNone/>
            </a:pP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Floor Limit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초과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시 TVR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설정</a:t>
            </a:r>
            <a:endParaRPr dirty="0">
              <a:solidFill>
                <a:srgbClr val="555577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250000"/>
              </a:lnSpc>
              <a:buNone/>
            </a:pP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TerminalActAnalysis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():9123-9234</a:t>
            </a:r>
          </a:p>
          <a:p>
            <a:pPr>
              <a:lnSpc>
                <a:spcPct val="250000"/>
              </a:lnSpc>
              <a:buNone/>
            </a:pP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IAC/TAC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Denial·Online·Default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비교</a:t>
            </a:r>
            <a:endParaRPr dirty="0">
              <a:solidFill>
                <a:srgbClr val="55557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71C80F05-EA97-4740-B844-BB1F1ED53386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B3F20C3F-F039-4C4B-8CA8-1B48CBB39F24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852160" cy="411480"/>
          </a:xfrm>
          <a:prstGeom prst="rect">
            <a:avLst/>
          </a:prstGeom>
          <a:solidFill>
            <a:srgbClr val="D0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8BBBF009-FAFE-49A4-A3E0-1D24EF8B1728}"/>
              </a:ext>
            </a:extLst>
          </p:cNvPr>
          <p:cNvSpPr>
            <a:spLocks noGrp="1"/>
          </p:cNvSpPr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D1B3E"/>
                </a:solidFill>
                <a:latin typeface="맑은 고딕"/>
                <a:ea typeface="맑은 고딕"/>
                <a:cs typeface="맑은 고딕"/>
              </a:rPr>
              <a:t>AMEX 공개키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59D4FB54-6060-4B54-865A-32A90847C4FA}"/>
              </a:ext>
            </a:extLst>
          </p:cNvPr>
          <p:cNvSpPr>
            <a:spLocks noGrp="1"/>
          </p:cNvSpPr>
          <p:nvPr/>
        </p:nvSpPr>
        <p:spPr>
          <a:xfrm>
            <a:off x="6034169" y="2011680"/>
            <a:ext cx="5577840" cy="2739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b="1" dirty="0">
                <a:solidFill>
                  <a:srgbClr val="444455"/>
                </a:solidFill>
                <a:latin typeface="맑은 고딕"/>
                <a:ea typeface="맑은 고딕"/>
                <a:cs typeface="맑은 고딕"/>
              </a:rPr>
              <a:t>EMV_CApbkey.c:496-749</a:t>
            </a:r>
          </a:p>
          <a:p>
            <a:pPr>
              <a:lnSpc>
                <a:spcPct val="250000"/>
              </a:lnSpc>
              <a:buNone/>
            </a:pP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RID A000000025</a:t>
            </a:r>
          </a:p>
          <a:p>
            <a:pPr>
              <a:lnSpc>
                <a:spcPct val="250000"/>
              </a:lnSpc>
              <a:buNone/>
            </a:pP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Index 60, 61, 62, 01~07, 09</a:t>
            </a:r>
          </a:p>
          <a:p>
            <a:pPr>
              <a:lnSpc>
                <a:spcPct val="250000"/>
              </a:lnSpc>
              <a:buNone/>
            </a:pP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Exponent 03 </a:t>
            </a:r>
            <a:r>
              <a:rPr dirty="0" err="1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또는</a:t>
            </a:r>
            <a:r>
              <a:rPr dirty="0">
                <a:solidFill>
                  <a:srgbClr val="555577"/>
                </a:solidFill>
                <a:latin typeface="맑은 고딕"/>
                <a:ea typeface="맑은 고딕"/>
                <a:cs typeface="맑은 고딕"/>
              </a:rPr>
              <a:t> 010001</a:t>
            </a:r>
          </a:p>
        </p:txBody>
      </p:sp>
    </p:spTree>
    <p:extLst>
      <p:ext uri="{BB962C8B-B14F-4D97-AF65-F5344CB8AC3E}">
        <p14:creationId xmlns:p14="http://schemas.microsoft.com/office/powerpoint/2010/main" val="19122750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81853F0-13AF-45AB-9F29-FD73289055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60CD6E4-5ED2-49E0-B788-AAE857B58621}"/>
              </a:ext>
            </a:extLst>
          </p:cNvPr>
          <p:cNvSpPr>
            <a:spLocks noGrp="1"/>
          </p:cNvSpPr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B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AF3E2F3-9696-4D6E-9179-D33D5FA68733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E58F33E-0750-47F4-9059-C88CB5A0F524}"/>
              </a:ext>
            </a:extLst>
          </p:cNvPr>
          <p:cNvSpPr>
            <a:spLocks noGrp="1"/>
          </p:cNvSpPr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600" b="0">
                <a:solidFill>
                  <a:srgbClr val="CCDDFF"/>
                </a:solidFill>
                <a:latin typeface="맑은 고딕"/>
                <a:ea typeface="맑은 고딕"/>
                <a:cs typeface="맑은 고딕"/>
              </a:rPr>
              <a:t>EMV Contactless Specifications for Payment Systems</a:t>
            </a:r>
          </a:p>
          <a:p>
            <a:pPr algn="ctr">
              <a:buNone/>
            </a:pPr>
            <a:r>
              <a:rPr sz="1600" b="0">
                <a:solidFill>
                  <a:srgbClr val="CCDDFF"/>
                </a:solidFill>
                <a:latin typeface="맑은 고딕"/>
                <a:ea typeface="맑은 고딕"/>
                <a:cs typeface="맑은 고딕"/>
              </a:rPr>
              <a:t>Book C-4 - Kernel 4 Specification v2.10  |  March 2021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93FFA55-382C-40BD-8F46-D6283B547BDB}"/>
              </a:ext>
            </a:extLst>
          </p:cNvPr>
          <p:cNvSpPr>
            <a:spLocks noGrp="1"/>
          </p:cNvSpPr>
          <p:nvPr/>
        </p:nvSpPr>
        <p:spPr>
          <a:xfrm>
            <a:off x="365760" y="6263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© 2011-2021 EMVCo,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98287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3711</Words>
  <Application>Microsoft Office PowerPoint</Application>
  <DocSecurity>0</DocSecurity>
  <PresentationFormat>사용자 지정</PresentationFormat>
  <Paragraphs>797</Paragraphs>
  <Slides>57</Slides>
  <Notes>57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58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성현진</cp:lastModifiedBy>
  <cp:revision>6</cp:revision>
  <dcterms:created xsi:type="dcterms:W3CDTF">2026-06-23T08:25:07Z</dcterms:created>
  <dcterms:modified xsi:type="dcterms:W3CDTF">2026-06-24T05:57:31Z</dcterms:modified>
</cp:coreProperties>
</file>