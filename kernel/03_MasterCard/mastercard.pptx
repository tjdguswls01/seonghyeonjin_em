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-59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dirty="0" err="1">
                <a:solidFill>
                  <a:srgbClr val="FFFFFF"/>
                </a:solidFill>
                <a:latin typeface="맑은 고딕"/>
              </a:rPr>
              <a:t>Mastercard</a:t>
            </a:r>
            <a:r>
              <a:rPr sz="4400" b="1" dirty="0">
                <a:solidFill>
                  <a:srgbClr val="FFFFFF"/>
                </a:solidFill>
                <a:latin typeface="맑은 고딕"/>
              </a:rPr>
              <a:t> Contactless Kernel </a:t>
            </a:r>
            <a:r>
              <a:rPr sz="4400" b="1" dirty="0" smtClean="0">
                <a:solidFill>
                  <a:srgbClr val="FFFFFF"/>
                </a:solidFill>
                <a:latin typeface="맑은 고딕"/>
              </a:rPr>
              <a:t>2</a:t>
            </a:r>
            <a:endParaRPr sz="4400" b="1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327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dirty="0">
                <a:solidFill>
                  <a:srgbClr val="CCDDFF"/>
                </a:solidFill>
                <a:latin typeface="맑은 고딕"/>
              </a:rPr>
              <a:t>EMV Contactless Book C-2  |  Kernel 2 Specification v2.10  |  March </a:t>
            </a:r>
            <a:r>
              <a:rPr sz="2200" b="0" dirty="0" smtClean="0">
                <a:solidFill>
                  <a:srgbClr val="CCDDFF"/>
                </a:solidFill>
                <a:latin typeface="맑은 고딕"/>
              </a:rPr>
              <a:t>2021</a:t>
            </a:r>
            <a:endParaRPr lang="en-US" sz="2200" b="0" dirty="0" smtClean="0">
              <a:solidFill>
                <a:srgbClr val="CCDDFF"/>
              </a:solidFill>
              <a:latin typeface="맑은 고딕"/>
            </a:endParaRPr>
          </a:p>
          <a:p>
            <a:pPr algn="ctr"/>
            <a:r>
              <a:rPr lang="ko-KR" altLang="en-US" sz="2200" b="0" dirty="0" smtClean="0">
                <a:solidFill>
                  <a:srgbClr val="CCDDFF"/>
                </a:solidFill>
                <a:latin typeface="맑은 고딕"/>
              </a:rPr>
              <a:t>모듈개발</a:t>
            </a:r>
            <a:r>
              <a:rPr lang="en-US" altLang="ko-KR" sz="2200" b="0" dirty="0" smtClean="0">
                <a:solidFill>
                  <a:srgbClr val="CCDDFF"/>
                </a:solidFill>
                <a:latin typeface="맑은 고딕"/>
              </a:rPr>
              <a:t>2</a:t>
            </a:r>
            <a:r>
              <a:rPr lang="ko-KR" altLang="en-US" sz="2200" b="0" dirty="0" smtClean="0">
                <a:solidFill>
                  <a:srgbClr val="CCDDFF"/>
                </a:solidFill>
                <a:latin typeface="맑은 고딕"/>
              </a:rPr>
              <a:t>팀 성현진 </a:t>
            </a:r>
            <a:r>
              <a:rPr lang="en-US" altLang="ko-KR" sz="2200" b="0" dirty="0" smtClean="0">
                <a:solidFill>
                  <a:srgbClr val="CCDDFF"/>
                </a:solidFill>
                <a:latin typeface="맑은 고딕"/>
              </a:rPr>
              <a:t>| tjdguswls01@titeng.co.kr</a:t>
            </a:r>
            <a:endParaRPr sz="2200" b="0" dirty="0">
              <a:solidFill>
                <a:srgbClr val="CCDDFF"/>
              </a:solidFill>
              <a:latin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" y="6263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EMV® Contactless Specifications — Book C-2  |  Kernel 2 Specification v2.10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목차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486400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48640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3E"/>
                </a:solidFill>
                <a:latin typeface="맑은 고딕"/>
              </a:rPr>
              <a:t>전반부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2291" y="1234440"/>
            <a:ext cx="521208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300000"/>
              </a:lnSpc>
            </a:pPr>
            <a:r>
              <a:rPr sz="1600" dirty="0" smtClean="0">
                <a:solidFill>
                  <a:srgbClr val="444455"/>
                </a:solidFill>
                <a:latin typeface="맑은 고딕"/>
              </a:rPr>
              <a:t>1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. EMV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컨택리스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결제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개요</a:t>
            </a:r>
            <a:endParaRPr sz="16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300000"/>
              </a:lnSpc>
            </a:pPr>
            <a:r>
              <a:rPr sz="1600" dirty="0" smtClean="0">
                <a:solidFill>
                  <a:srgbClr val="444455"/>
                </a:solidFill>
                <a:latin typeface="맑은 고딕"/>
              </a:rPr>
              <a:t>2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.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전체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시스템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아키텍처</a:t>
            </a:r>
            <a:endParaRPr sz="16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300000"/>
              </a:lnSpc>
            </a:pPr>
            <a:r>
              <a:rPr sz="1600" dirty="0" smtClean="0">
                <a:solidFill>
                  <a:srgbClr val="444455"/>
                </a:solidFill>
                <a:latin typeface="맑은 고딕"/>
              </a:rPr>
              <a:t>3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. Reader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프로세스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구성</a:t>
            </a:r>
            <a:endParaRPr sz="16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300000"/>
              </a:lnSpc>
            </a:pPr>
            <a:r>
              <a:rPr sz="1600" dirty="0" smtClean="0">
                <a:solidFill>
                  <a:srgbClr val="444455"/>
                </a:solidFill>
                <a:latin typeface="맑은 고딕"/>
              </a:rPr>
              <a:t>4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.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프로세스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간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통신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(Signal)</a:t>
            </a:r>
          </a:p>
          <a:p>
            <a:pPr>
              <a:lnSpc>
                <a:spcPct val="300000"/>
              </a:lnSpc>
            </a:pPr>
            <a:r>
              <a:rPr sz="1600" dirty="0" smtClean="0">
                <a:solidFill>
                  <a:srgbClr val="444455"/>
                </a:solidFill>
                <a:latin typeface="맑은 고딕"/>
              </a:rPr>
              <a:t>5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. Reader Database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구조</a:t>
            </a:r>
            <a:endParaRPr sz="16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300000"/>
              </a:lnSpc>
            </a:pPr>
            <a:r>
              <a:rPr sz="1600" dirty="0" smtClean="0">
                <a:solidFill>
                  <a:srgbClr val="444455"/>
                </a:solidFill>
                <a:latin typeface="맑은 고딕"/>
              </a:rPr>
              <a:t>6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. Kernel 2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기능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및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옵션</a:t>
            </a:r>
            <a:endParaRPr sz="16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300000"/>
              </a:lnSpc>
            </a:pPr>
            <a:r>
              <a:rPr sz="1600" dirty="0" smtClean="0">
                <a:solidFill>
                  <a:srgbClr val="444455"/>
                </a:solidFill>
                <a:latin typeface="맑은 고딕"/>
              </a:rPr>
              <a:t>7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. Kernel Database (TLV)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188720"/>
            <a:ext cx="5486400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548640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23444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3E"/>
                </a:solidFill>
                <a:latin typeface="맑은 고딕"/>
              </a:rPr>
              <a:t>후반부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2843" y="1369234"/>
            <a:ext cx="5212080" cy="5123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300000"/>
              </a:lnSpc>
            </a:pPr>
            <a:r>
              <a:rPr sz="1600" dirty="0" smtClean="0">
                <a:solidFill>
                  <a:srgbClr val="444455"/>
                </a:solidFill>
                <a:latin typeface="맑은 고딕"/>
              </a:rPr>
              <a:t>8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.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트랜잭션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모드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(Mag / EMV)</a:t>
            </a:r>
          </a:p>
          <a:p>
            <a:pPr>
              <a:lnSpc>
                <a:spcPct val="300000"/>
              </a:lnSpc>
            </a:pPr>
            <a:r>
              <a:rPr sz="1600" dirty="0" smtClean="0">
                <a:solidFill>
                  <a:srgbClr val="444455"/>
                </a:solidFill>
                <a:latin typeface="맑은 고딕"/>
              </a:rPr>
              <a:t>9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. Data Exchange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메커니즘</a:t>
            </a:r>
            <a:endParaRPr sz="16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300000"/>
              </a:lnSpc>
            </a:pPr>
            <a:r>
              <a:rPr sz="1600" dirty="0" smtClean="0">
                <a:solidFill>
                  <a:srgbClr val="444455"/>
                </a:solidFill>
                <a:latin typeface="맑은 고딕"/>
              </a:rPr>
              <a:t>10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. Data Storage (SDS / IDS)</a:t>
            </a:r>
          </a:p>
          <a:p>
            <a:pPr>
              <a:lnSpc>
                <a:spcPct val="300000"/>
              </a:lnSpc>
            </a:pPr>
            <a:r>
              <a:rPr sz="1600" dirty="0" smtClean="0">
                <a:solidFill>
                  <a:srgbClr val="444455"/>
                </a:solidFill>
                <a:latin typeface="맑은 고딕"/>
              </a:rPr>
              <a:t>11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. Torn Transaction Recovery</a:t>
            </a:r>
          </a:p>
          <a:p>
            <a:pPr>
              <a:lnSpc>
                <a:spcPct val="300000"/>
              </a:lnSpc>
            </a:pPr>
            <a:r>
              <a:rPr sz="1600" dirty="0" smtClean="0">
                <a:solidFill>
                  <a:srgbClr val="444455"/>
                </a:solidFill>
                <a:latin typeface="맑은 고딕"/>
              </a:rPr>
              <a:t>12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. Mobile · Balance · RRP</a:t>
            </a:r>
          </a:p>
          <a:p>
            <a:pPr>
              <a:lnSpc>
                <a:spcPct val="300000"/>
              </a:lnSpc>
            </a:pPr>
            <a:r>
              <a:rPr sz="1600" dirty="0" smtClean="0">
                <a:solidFill>
                  <a:srgbClr val="444455"/>
                </a:solidFill>
                <a:latin typeface="맑은 고딕"/>
              </a:rPr>
              <a:t>13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. C-APDU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명령어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구조</a:t>
            </a:r>
            <a:endParaRPr sz="16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300000"/>
              </a:lnSpc>
            </a:pPr>
            <a:r>
              <a:rPr sz="1600" dirty="0" smtClean="0">
                <a:solidFill>
                  <a:srgbClr val="444455"/>
                </a:solidFill>
                <a:latin typeface="맑은 고딕"/>
              </a:rPr>
              <a:t>14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.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상태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기계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및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동작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예시</a:t>
            </a:r>
            <a:endParaRPr sz="1600" dirty="0">
              <a:solidFill>
                <a:srgbClr val="444455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086100"/>
            <a:ext cx="12191695" cy="109728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맑은 고딕"/>
              </a:rPr>
              <a:t>1. EMV 컨택리스 결제 개요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EMV 컨택리스 결제란?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55"/>
                </a:solidFill>
                <a:latin typeface="맑은 고딕"/>
              </a:rPr>
              <a:t>EMVCo는 Europay·Mastercard·Visa가 공동으로 설립한 결제 표준 기구로, 스마트카드 및 NFC 결제의 국제 표준을 관리합니다.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37360"/>
            <a:ext cx="53949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737360"/>
            <a:ext cx="53949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3E"/>
                </a:solidFill>
                <a:latin typeface="맑은 고딕"/>
              </a:rPr>
              <a:t>컨택리스 결제 특징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59726"/>
            <a:ext cx="512064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ISO/IEC 14443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기반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근거리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무선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통신</a:t>
            </a:r>
            <a:endParaRPr sz="14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20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태깅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→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인증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→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승인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(0.5초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이내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)</a:t>
            </a:r>
          </a:p>
          <a:p>
            <a:pPr>
              <a:lnSpc>
                <a:spcPct val="20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온라인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/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오프라인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이중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처리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지원</a:t>
            </a:r>
            <a:endParaRPr sz="14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20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카드·휴대폰·웨어러블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디바이스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지원</a:t>
            </a:r>
            <a:endParaRPr sz="1400" dirty="0">
              <a:solidFill>
                <a:srgbClr val="444455"/>
              </a:solidFill>
              <a:latin typeface="맑은 고딕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035040" y="1737360"/>
            <a:ext cx="58521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35040" y="1737360"/>
            <a:ext cx="58521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72200" y="178308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3E"/>
                </a:solidFill>
                <a:latin typeface="맑은 고딕"/>
              </a:rPr>
              <a:t>EMVCo Contactless 표준 체계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159726"/>
            <a:ext cx="5577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Book A :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아키텍처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및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일반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요구사항</a:t>
            </a:r>
            <a:endParaRPr sz="14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1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Book B : Entry Point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사양</a:t>
            </a:r>
            <a:endParaRPr sz="14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1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Book C-2 : Kernel 2 (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Mastercard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)</a:t>
            </a:r>
          </a:p>
          <a:p>
            <a:pPr>
              <a:lnSpc>
                <a:spcPct val="1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Book C-3 : Kernel 3 (Visa)</a:t>
            </a:r>
          </a:p>
          <a:p>
            <a:pPr>
              <a:lnSpc>
                <a:spcPct val="1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Book C-4 : Kernel 4 (Amex)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206240"/>
            <a:ext cx="1152144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206240"/>
            <a:ext cx="1152144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425196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3E"/>
                </a:solidFill>
                <a:latin typeface="맑은 고딕"/>
              </a:rPr>
              <a:t>Kernel 2 위치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617720"/>
            <a:ext cx="11247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MAG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구현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옵션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—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마그네틱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스트라이프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방식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데이터로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처리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(Track 1/2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형식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)</a:t>
            </a:r>
          </a:p>
          <a:p>
            <a:pPr>
              <a:lnSpc>
                <a:spcPct val="2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EMV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구현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옵션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—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칩카드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(IC)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방식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암호학적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인증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포함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(ARQC/TC/AAC)</a:t>
            </a:r>
          </a:p>
          <a:p>
            <a:pPr>
              <a:lnSpc>
                <a:spcPct val="2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두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옵션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모두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동일한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Book C-2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사양을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따르며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, Kernel 2는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Mastercard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전용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커널</a:t>
            </a:r>
            <a:endParaRPr sz="1400" dirty="0">
              <a:solidFill>
                <a:srgbClr val="444455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Book C-2 — Kernel 2 Specification 범위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394960" cy="52120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3949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3E"/>
                </a:solidFill>
                <a:latin typeface="맑은 고딕"/>
              </a:rPr>
              <a:t>주요 챕터 구성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00200"/>
            <a:ext cx="51206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sz="1400" b="1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b="1" dirty="0" err="1">
                <a:solidFill>
                  <a:srgbClr val="444455"/>
                </a:solidFill>
                <a:latin typeface="맑은 고딕"/>
              </a:rPr>
              <a:t>일반</a:t>
            </a:r>
            <a:r>
              <a:rPr sz="1400" b="1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444455"/>
                </a:solidFill>
                <a:latin typeface="맑은 고딕"/>
              </a:rPr>
              <a:t>아키텍처</a:t>
            </a:r>
            <a:r>
              <a:rPr sz="1400" b="1" dirty="0">
                <a:solidFill>
                  <a:srgbClr val="444455"/>
                </a:solidFill>
                <a:latin typeface="맑은 고딕"/>
              </a:rPr>
              <a:t> (Chapter 2)</a:t>
            </a:r>
          </a:p>
          <a:p>
            <a:pPr lvl="1">
              <a:lnSpc>
                <a:spcPct val="20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POS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시스템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구성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20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Reader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프로세스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역할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20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Reader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데이터베이스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>
              <a:lnSpc>
                <a:spcPct val="200000"/>
              </a:lnSpc>
            </a:pPr>
            <a:r>
              <a:rPr sz="1400" b="1" dirty="0">
                <a:solidFill>
                  <a:srgbClr val="444455"/>
                </a:solidFill>
                <a:latin typeface="맑은 고딕"/>
              </a:rPr>
              <a:t>• Kernel </a:t>
            </a:r>
            <a:r>
              <a:rPr sz="1400" b="1" dirty="0" err="1">
                <a:solidFill>
                  <a:srgbClr val="444455"/>
                </a:solidFill>
                <a:latin typeface="맑은 고딕"/>
              </a:rPr>
              <a:t>처리</a:t>
            </a:r>
            <a:r>
              <a:rPr sz="1400" b="1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444455"/>
                </a:solidFill>
                <a:latin typeface="맑은 고딕"/>
              </a:rPr>
              <a:t>기능</a:t>
            </a:r>
            <a:r>
              <a:rPr sz="1400" b="1" dirty="0">
                <a:solidFill>
                  <a:srgbClr val="444455"/>
                </a:solidFill>
                <a:latin typeface="맑은 고딕"/>
              </a:rPr>
              <a:t> (Chapter 3)</a:t>
            </a:r>
          </a:p>
          <a:p>
            <a:pPr lvl="1">
              <a:lnSpc>
                <a:spcPct val="20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Mag-Stripe / EMV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트랜잭션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모드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20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Data Exchange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메커니즘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20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Data Storage (SDS / IDS)</a:t>
            </a:r>
          </a:p>
          <a:p>
            <a:pPr lvl="1">
              <a:lnSpc>
                <a:spcPct val="20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Torn Transaction Recovery</a:t>
            </a:r>
          </a:p>
          <a:p>
            <a:pPr lvl="1">
              <a:lnSpc>
                <a:spcPct val="20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Mobile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트랜잭션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/ Balance Reading</a:t>
            </a:r>
          </a:p>
          <a:p>
            <a:pPr lvl="1">
              <a:lnSpc>
                <a:spcPct val="20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Relay Resistance Protocol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188720"/>
            <a:ext cx="585216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35040" y="1188720"/>
            <a:ext cx="58521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72200" y="123444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3E"/>
                </a:solidFill>
                <a:latin typeface="맑은 고딕"/>
              </a:rPr>
              <a:t>추가 구성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42878" y="1600200"/>
            <a:ext cx="557784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데이터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조직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— TLV Database,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설정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데이터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(Chapter 4)</a:t>
            </a:r>
          </a:p>
          <a:p>
            <a:pPr>
              <a:lnSpc>
                <a:spcPct val="1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C-APDU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명령어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9종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정의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(Chapter 5)</a:t>
            </a:r>
          </a:p>
          <a:p>
            <a:pPr>
              <a:lnSpc>
                <a:spcPct val="1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Kernel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상태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기계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— 16개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상태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(Chapter 6)</a:t>
            </a:r>
          </a:p>
          <a:p>
            <a:pPr>
              <a:lnSpc>
                <a:spcPct val="1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보안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알고리즘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— OWHF2, OWHF2AES (Chapter 8)</a:t>
            </a:r>
          </a:p>
          <a:p>
            <a:pPr>
              <a:lnSpc>
                <a:spcPct val="1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데이터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사전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— 180+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데이터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오브젝트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(Annex 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3840480"/>
            <a:ext cx="585216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35040" y="3840480"/>
            <a:ext cx="58521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72200" y="388620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3E"/>
                </a:solidFill>
                <a:latin typeface="맑은 고딕"/>
              </a:rPr>
              <a:t>설계 원칙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4251960"/>
            <a:ext cx="5577840" cy="1829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sz="1600" dirty="0">
                <a:solidFill>
                  <a:srgbClr val="444455"/>
                </a:solidFill>
                <a:latin typeface="맑은 고딕"/>
              </a:rPr>
              <a:t>• Kernel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요구사항은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구현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방식에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독립적</a:t>
            </a:r>
            <a:endParaRPr sz="16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250000"/>
              </a:lnSpc>
            </a:pPr>
            <a:r>
              <a:rPr sz="1600" dirty="0">
                <a:solidFill>
                  <a:srgbClr val="444455"/>
                </a:solidFill>
                <a:latin typeface="맑은 고딕"/>
              </a:rPr>
              <a:t>• Terminal / Reader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물리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분리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여부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무관</a:t>
            </a:r>
            <a:endParaRPr sz="16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250000"/>
              </a:lnSpc>
            </a:pPr>
            <a:r>
              <a:rPr sz="1600" dirty="0">
                <a:solidFill>
                  <a:srgbClr val="444455"/>
                </a:solidFill>
                <a:latin typeface="맑은 고딕"/>
              </a:rPr>
              <a:t>• Intelligent Reader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모델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기반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설계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(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권장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086100"/>
            <a:ext cx="12191695" cy="109728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맑은 고딕"/>
              </a:rPr>
              <a:t>2. 전체 시스템 아키텍처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POS 시스템 전체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맑은 고딕"/>
              </a:rPr>
              <a:t>POS 시스템은 Terminal과 Reader라는 두 논리 엔티티로 구성되며, 물리적 배치는 세 가지 형태가 가능합니다.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45920"/>
            <a:ext cx="36576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645920"/>
            <a:ext cx="3657600" cy="384048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67335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통합형 (Fully Integrated)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07996"/>
            <a:ext cx="33832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dirty="0" err="1">
                <a:solidFill>
                  <a:srgbClr val="444455"/>
                </a:solidFill>
                <a:latin typeface="맑은 고딕"/>
              </a:rPr>
              <a:t>모든</a:t>
            </a:r>
            <a:r>
              <a:rPr b="0" dirty="0">
                <a:solidFill>
                  <a:srgbClr val="444455"/>
                </a:solidFill>
                <a:latin typeface="맑은 고딕"/>
              </a:rPr>
              <a:t> </a:t>
            </a:r>
            <a:r>
              <a:rPr b="0" dirty="0" err="1">
                <a:solidFill>
                  <a:srgbClr val="444455"/>
                </a:solidFill>
                <a:latin typeface="맑은 고딕"/>
              </a:rPr>
              <a:t>기능이</a:t>
            </a:r>
            <a:r>
              <a:rPr b="0" dirty="0">
                <a:solidFill>
                  <a:srgbClr val="444455"/>
                </a:solidFill>
                <a:latin typeface="맑은 고딕"/>
              </a:rPr>
              <a:t> </a:t>
            </a:r>
            <a:r>
              <a:rPr b="0" dirty="0" err="1">
                <a:solidFill>
                  <a:srgbClr val="444455"/>
                </a:solidFill>
                <a:latin typeface="맑은 고딕"/>
              </a:rPr>
              <a:t>단일</a:t>
            </a:r>
            <a:r>
              <a:rPr b="0" dirty="0">
                <a:solidFill>
                  <a:srgbClr val="444455"/>
                </a:solidFill>
                <a:latin typeface="맑은 고딕"/>
              </a:rPr>
              <a:t> </a:t>
            </a:r>
            <a:r>
              <a:rPr b="0" dirty="0" err="1">
                <a:solidFill>
                  <a:srgbClr val="444455"/>
                </a:solidFill>
                <a:latin typeface="맑은 고딕"/>
              </a:rPr>
              <a:t>장치에</a:t>
            </a:r>
            <a:r>
              <a:rPr b="0" dirty="0">
                <a:solidFill>
                  <a:srgbClr val="444455"/>
                </a:solidFill>
                <a:latin typeface="맑은 고딕"/>
              </a:rPr>
              <a:t>
</a:t>
            </a:r>
            <a:r>
              <a:rPr b="0" dirty="0" err="1">
                <a:solidFill>
                  <a:srgbClr val="444455"/>
                </a:solidFill>
                <a:latin typeface="맑은 고딕"/>
              </a:rPr>
              <a:t>포함된</a:t>
            </a:r>
            <a:r>
              <a:rPr b="0" dirty="0">
                <a:solidFill>
                  <a:srgbClr val="444455"/>
                </a:solidFill>
                <a:latin typeface="맑은 고딕"/>
              </a:rPr>
              <a:t> </a:t>
            </a:r>
            <a:r>
              <a:rPr b="0" dirty="0" err="1">
                <a:solidFill>
                  <a:srgbClr val="444455"/>
                </a:solidFill>
                <a:latin typeface="맑은 고딕"/>
              </a:rPr>
              <a:t>구성</a:t>
            </a:r>
            <a:endParaRPr b="0" dirty="0">
              <a:solidFill>
                <a:srgbClr val="444455"/>
              </a:solidFill>
              <a:latin typeface="맑은 고딕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297680" y="1645920"/>
            <a:ext cx="36576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97680" y="1645920"/>
            <a:ext cx="3657600" cy="384048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67335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지능형 Reader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395958"/>
            <a:ext cx="33832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dirty="0" err="1">
                <a:solidFill>
                  <a:srgbClr val="444455"/>
                </a:solidFill>
                <a:latin typeface="맑은 고딕"/>
              </a:rPr>
              <a:t>Reader가</a:t>
            </a:r>
            <a:r>
              <a:rPr b="0" dirty="0">
                <a:solidFill>
                  <a:srgbClr val="444455"/>
                </a:solidFill>
                <a:latin typeface="맑은 고딕"/>
              </a:rPr>
              <a:t> </a:t>
            </a:r>
            <a:r>
              <a:rPr b="0" dirty="0" err="1">
                <a:solidFill>
                  <a:srgbClr val="444455"/>
                </a:solidFill>
                <a:latin typeface="맑은 고딕"/>
              </a:rPr>
              <a:t>컨택리스</a:t>
            </a:r>
            <a:r>
              <a:rPr b="0" dirty="0">
                <a:solidFill>
                  <a:srgbClr val="444455"/>
                </a:solidFill>
                <a:latin typeface="맑은 고딕"/>
              </a:rPr>
              <a:t> </a:t>
            </a:r>
            <a:r>
              <a:rPr b="0" dirty="0" err="1">
                <a:solidFill>
                  <a:srgbClr val="444455"/>
                </a:solidFill>
                <a:latin typeface="맑은 고딕"/>
              </a:rPr>
              <a:t>트랜잭션</a:t>
            </a:r>
            <a:r>
              <a:rPr b="0" dirty="0">
                <a:solidFill>
                  <a:srgbClr val="444455"/>
                </a:solidFill>
                <a:latin typeface="맑은 고딕"/>
              </a:rPr>
              <a:t>
</a:t>
            </a:r>
            <a:r>
              <a:rPr b="0" dirty="0" err="1">
                <a:solidFill>
                  <a:srgbClr val="444455"/>
                </a:solidFill>
                <a:latin typeface="맑은 고딕"/>
              </a:rPr>
              <a:t>대부분을</a:t>
            </a:r>
            <a:r>
              <a:rPr b="0" dirty="0">
                <a:solidFill>
                  <a:srgbClr val="444455"/>
                </a:solidFill>
                <a:latin typeface="맑은 고딕"/>
              </a:rPr>
              <a:t> </a:t>
            </a:r>
            <a:r>
              <a:rPr b="0" dirty="0" err="1">
                <a:solidFill>
                  <a:srgbClr val="444455"/>
                </a:solidFill>
                <a:latin typeface="맑은 고딕"/>
              </a:rPr>
              <a:t>처리</a:t>
            </a:r>
            <a:endParaRPr b="0" dirty="0">
              <a:solidFill>
                <a:srgbClr val="444455"/>
              </a:solidFill>
              <a:latin typeface="맑은 고딕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229600" y="1645920"/>
            <a:ext cx="36576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0" y="1645920"/>
            <a:ext cx="3657600" cy="384048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167335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Terminal + 투명 Reader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392629"/>
            <a:ext cx="33832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dirty="0" err="1">
                <a:solidFill>
                  <a:srgbClr val="444455"/>
                </a:solidFill>
                <a:latin typeface="맑은 고딕"/>
              </a:rPr>
              <a:t>Reader는</a:t>
            </a:r>
            <a:r>
              <a:rPr b="0" dirty="0">
                <a:solidFill>
                  <a:srgbClr val="444455"/>
                </a:solidFill>
                <a:latin typeface="맑은 고딕"/>
              </a:rPr>
              <a:t> RF </a:t>
            </a:r>
            <a:r>
              <a:rPr b="0" dirty="0" err="1">
                <a:solidFill>
                  <a:srgbClr val="444455"/>
                </a:solidFill>
                <a:latin typeface="맑은 고딕"/>
              </a:rPr>
              <a:t>통신만</a:t>
            </a:r>
            <a:r>
              <a:rPr b="0" dirty="0">
                <a:solidFill>
                  <a:srgbClr val="444455"/>
                </a:solidFill>
                <a:latin typeface="맑은 고딕"/>
              </a:rPr>
              <a:t> </a:t>
            </a:r>
            <a:r>
              <a:rPr b="0" dirty="0" err="1">
                <a:solidFill>
                  <a:srgbClr val="444455"/>
                </a:solidFill>
                <a:latin typeface="맑은 고딕"/>
              </a:rPr>
              <a:t>담당</a:t>
            </a:r>
            <a:r>
              <a:rPr b="0" dirty="0">
                <a:solidFill>
                  <a:srgbClr val="444455"/>
                </a:solidFill>
                <a:latin typeface="맑은 고딕"/>
              </a:rPr>
              <a:t>,
</a:t>
            </a:r>
            <a:r>
              <a:rPr b="0" dirty="0" err="1">
                <a:solidFill>
                  <a:srgbClr val="444455"/>
                </a:solidFill>
                <a:latin typeface="맑은 고딕"/>
              </a:rPr>
              <a:t>Kernel은</a:t>
            </a:r>
            <a:r>
              <a:rPr b="0" dirty="0">
                <a:solidFill>
                  <a:srgbClr val="444455"/>
                </a:solidFill>
                <a:latin typeface="맑은 고딕"/>
              </a:rPr>
              <a:t> </a:t>
            </a:r>
            <a:r>
              <a:rPr b="0" dirty="0" err="1">
                <a:solidFill>
                  <a:srgbClr val="444455"/>
                </a:solidFill>
                <a:latin typeface="맑은 고딕"/>
              </a:rPr>
              <a:t>Terminal에</a:t>
            </a:r>
            <a:r>
              <a:rPr b="0" dirty="0">
                <a:solidFill>
                  <a:srgbClr val="444455"/>
                </a:solidFill>
                <a:latin typeface="맑은 고딕"/>
              </a:rPr>
              <a:t> </a:t>
            </a:r>
            <a:r>
              <a:rPr b="0" dirty="0" err="1">
                <a:solidFill>
                  <a:srgbClr val="444455"/>
                </a:solidFill>
                <a:latin typeface="맑은 고딕"/>
              </a:rPr>
              <a:t>위치</a:t>
            </a:r>
            <a:endParaRPr b="0" dirty="0">
              <a:solidFill>
                <a:srgbClr val="444455"/>
              </a:solidFill>
              <a:latin typeface="맑은 고딕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65760" y="34290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B6B1A"/>
                </a:solidFill>
                <a:latin typeface="맑은 고딕"/>
              </a:rPr>
              <a:t>Book C-2는 지능형 Reader 모델을 기준으로 설계 (구현 방식은 비규범적)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263868"/>
              </p:ext>
            </p:extLst>
          </p:nvPr>
        </p:nvGraphicFramePr>
        <p:xfrm>
          <a:off x="365760" y="3794760"/>
          <a:ext cx="11430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FFFFFF"/>
                          </a:solidFill>
                          <a:latin typeface="맑은 고딕"/>
                        </a:rPr>
                        <a:t>Terminal </a:t>
                      </a:r>
                      <a:r>
                        <a:rPr sz="1300" b="1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역할</a:t>
                      </a:r>
                      <a:endParaRPr sz="1300" b="1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Reader 역할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맑은 고딕"/>
                        </a:rPr>
                        <a:t>거래 금액 등 입력 수신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맑은 고딕"/>
                        </a:rPr>
                        <a:t>NFC RF 인터페이스 관리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맑은 고딕"/>
                        </a:rPr>
                        <a:t>카드소지자 인증(CVM) 처리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맑은 고딕"/>
                        </a:rPr>
                        <a:t>카드 앱 선택 (Process S)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맑은 고딕"/>
                        </a:rPr>
                        <a:t>온라인 권한 부여 요청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맑은 고딕"/>
                        </a:rPr>
                        <a:t>카드와 APDU 통신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맑은 고딕"/>
                        </a:rPr>
                        <a:t>영수증 출력 결정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맑은 고딕"/>
                        </a:rPr>
                        <a:t>EMV/Mag-Stripe 트랜잭션 처리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맑은 고딕"/>
                        </a:rPr>
                        <a:t>최종 승인/거부 결정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dirty="0" err="1">
                          <a:latin typeface="맑은 고딕"/>
                        </a:rPr>
                        <a:t>결과</a:t>
                      </a:r>
                      <a:r>
                        <a:rPr sz="1300" dirty="0">
                          <a:latin typeface="맑은 고딕"/>
                        </a:rPr>
                        <a:t>(OUT Signal) </a:t>
                      </a:r>
                      <a:r>
                        <a:rPr sz="1300" dirty="0" err="1">
                          <a:latin typeface="맑은 고딕"/>
                        </a:rPr>
                        <a:t>반환</a:t>
                      </a:r>
                      <a:endParaRPr sz="1300" dirty="0">
                        <a:latin typeface="맑은 고딕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Reader 프로세스 구성 (5 Processes)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맑은 고딕"/>
              </a:rPr>
              <a:t>Reader는 독립적으로 실행되는 5개의 프로세스로 구성되며, 각 프로세스는 고유한 역할과 신호 인터페이스를 가집니다.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2194560" cy="100584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6459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Process M
(Main)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606040"/>
            <a:ext cx="21945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2774870"/>
            <a:ext cx="21945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 err="1">
                <a:solidFill>
                  <a:srgbClr val="444455"/>
                </a:solidFill>
                <a:latin typeface="맑은 고딕"/>
              </a:rPr>
              <a:t>전체</a:t>
            </a:r>
            <a:r>
              <a:rPr sz="1600" b="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444455"/>
                </a:solidFill>
                <a:latin typeface="맑은 고딕"/>
              </a:rPr>
              <a:t>흐름</a:t>
            </a:r>
            <a:r>
              <a:rPr sz="1600" b="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444455"/>
                </a:solidFill>
                <a:latin typeface="맑은 고딕"/>
              </a:rPr>
              <a:t>조율</a:t>
            </a:r>
            <a:r>
              <a:rPr sz="1600" b="0" dirty="0">
                <a:solidFill>
                  <a:srgbClr val="444455"/>
                </a:solidFill>
                <a:latin typeface="맑은 고딕"/>
              </a:rPr>
              <a:t>
</a:t>
            </a:r>
            <a:r>
              <a:rPr sz="1600" b="0" dirty="0" err="1">
                <a:solidFill>
                  <a:srgbClr val="444455"/>
                </a:solidFill>
                <a:latin typeface="맑은 고딕"/>
              </a:rPr>
              <a:t>트랜잭션</a:t>
            </a:r>
            <a:r>
              <a:rPr sz="1600" b="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444455"/>
                </a:solidFill>
                <a:latin typeface="맑은 고딕"/>
              </a:rPr>
              <a:t>시작</a:t>
            </a:r>
            <a:r>
              <a:rPr sz="1600" b="0" dirty="0">
                <a:solidFill>
                  <a:srgbClr val="444455"/>
                </a:solidFill>
                <a:latin typeface="맑은 고딕"/>
              </a:rPr>
              <a:t>/</a:t>
            </a:r>
            <a:r>
              <a:rPr sz="1600" b="0" dirty="0" err="1">
                <a:solidFill>
                  <a:srgbClr val="444455"/>
                </a:solidFill>
                <a:latin typeface="맑은 고딕"/>
              </a:rPr>
              <a:t>종료</a:t>
            </a:r>
            <a:endParaRPr sz="1600" b="0" dirty="0">
              <a:solidFill>
                <a:srgbClr val="444455"/>
              </a:solidFill>
              <a:latin typeface="맑은 고딕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651760" y="1600200"/>
            <a:ext cx="2194560" cy="100584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0" y="16459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Process S
(Selection)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2606040"/>
            <a:ext cx="21945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51760" y="2774869"/>
            <a:ext cx="21945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 err="1">
                <a:solidFill>
                  <a:srgbClr val="444455"/>
                </a:solidFill>
                <a:latin typeface="맑은 고딕"/>
              </a:rPr>
              <a:t>카드</a:t>
            </a:r>
            <a:r>
              <a:rPr sz="1600" b="0" dirty="0">
                <a:solidFill>
                  <a:srgbClr val="444455"/>
                </a:solidFill>
                <a:latin typeface="맑은 고딕"/>
              </a:rPr>
              <a:t> 앱 및 </a:t>
            </a:r>
            <a:r>
              <a:rPr sz="1600" b="0" dirty="0" err="1">
                <a:solidFill>
                  <a:srgbClr val="444455"/>
                </a:solidFill>
                <a:latin typeface="맑은 고딕"/>
              </a:rPr>
              <a:t>커널</a:t>
            </a:r>
            <a:r>
              <a:rPr sz="1600" b="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444455"/>
                </a:solidFill>
                <a:latin typeface="맑은 고딕"/>
              </a:rPr>
              <a:t>선택</a:t>
            </a:r>
            <a:r>
              <a:rPr sz="1600" b="0" dirty="0">
                <a:solidFill>
                  <a:srgbClr val="444455"/>
                </a:solidFill>
                <a:latin typeface="맑은 고딕"/>
              </a:rPr>
              <a:t>
AID </a:t>
            </a:r>
            <a:r>
              <a:rPr sz="1600" b="0" dirty="0" err="1">
                <a:solidFill>
                  <a:srgbClr val="444455"/>
                </a:solidFill>
                <a:latin typeface="맑은 고딕"/>
              </a:rPr>
              <a:t>매칭</a:t>
            </a:r>
            <a:endParaRPr sz="1600" b="0" dirty="0">
              <a:solidFill>
                <a:srgbClr val="444455"/>
              </a:solidFill>
              <a:latin typeface="맑은 고딕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029200" y="1600200"/>
            <a:ext cx="2194560" cy="100584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20640" y="16459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Process P
(PCD)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2606040"/>
            <a:ext cx="21945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0" y="2774869"/>
            <a:ext cx="21945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>
                <a:solidFill>
                  <a:srgbClr val="444455"/>
                </a:solidFill>
                <a:latin typeface="맑은 고딕"/>
              </a:rPr>
              <a:t>RF </a:t>
            </a:r>
            <a:r>
              <a:rPr sz="1600" b="0" dirty="0" err="1">
                <a:solidFill>
                  <a:srgbClr val="444455"/>
                </a:solidFill>
                <a:latin typeface="맑은 고딕"/>
              </a:rPr>
              <a:t>인터페이스</a:t>
            </a:r>
            <a:r>
              <a:rPr sz="1600" b="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444455"/>
                </a:solidFill>
                <a:latin typeface="맑은 고딕"/>
              </a:rPr>
              <a:t>관리</a:t>
            </a:r>
            <a:r>
              <a:rPr sz="1600" b="0" dirty="0">
                <a:solidFill>
                  <a:srgbClr val="444455"/>
                </a:solidFill>
                <a:latin typeface="맑은 고딕"/>
              </a:rPr>
              <a:t>
C-APDU ↔ R-APDU </a:t>
            </a:r>
            <a:r>
              <a:rPr sz="1600" b="0" dirty="0" err="1">
                <a:solidFill>
                  <a:srgbClr val="444455"/>
                </a:solidFill>
                <a:latin typeface="맑은 고딕"/>
              </a:rPr>
              <a:t>중계</a:t>
            </a:r>
            <a:endParaRPr sz="1600" b="0" dirty="0">
              <a:solidFill>
                <a:srgbClr val="444455"/>
              </a:solidFill>
              <a:latin typeface="맑은 고딕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406640" y="1600200"/>
            <a:ext cx="2194560" cy="100584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98080" y="16459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Process D
(Display)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2606040"/>
            <a:ext cx="21945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06640" y="2774869"/>
            <a:ext cx="2194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dirty="0" err="1">
                <a:solidFill>
                  <a:srgbClr val="444455"/>
                </a:solidFill>
                <a:latin typeface="맑은 고딕"/>
              </a:rPr>
              <a:t>사용자</a:t>
            </a:r>
            <a:r>
              <a:rPr b="0" dirty="0">
                <a:solidFill>
                  <a:srgbClr val="444455"/>
                </a:solidFill>
                <a:latin typeface="맑은 고딕"/>
              </a:rPr>
              <a:t> UI </a:t>
            </a:r>
            <a:r>
              <a:rPr b="0" dirty="0" err="1">
                <a:solidFill>
                  <a:srgbClr val="444455"/>
                </a:solidFill>
                <a:latin typeface="맑은 고딕"/>
              </a:rPr>
              <a:t>관리</a:t>
            </a:r>
            <a:r>
              <a:rPr b="0" dirty="0">
                <a:solidFill>
                  <a:srgbClr val="444455"/>
                </a:solidFill>
                <a:latin typeface="맑은 고딕"/>
              </a:rPr>
              <a:t>
</a:t>
            </a:r>
            <a:r>
              <a:rPr b="0" dirty="0" err="1">
                <a:solidFill>
                  <a:srgbClr val="444455"/>
                </a:solidFill>
                <a:latin typeface="맑은 고딕"/>
              </a:rPr>
              <a:t>다국어</a:t>
            </a:r>
            <a:r>
              <a:rPr b="0" dirty="0">
                <a:solidFill>
                  <a:srgbClr val="444455"/>
                </a:solidFill>
                <a:latin typeface="맑은 고딕"/>
              </a:rPr>
              <a:t> </a:t>
            </a:r>
            <a:r>
              <a:rPr b="0" dirty="0" err="1">
                <a:solidFill>
                  <a:srgbClr val="444455"/>
                </a:solidFill>
                <a:latin typeface="맑은 고딕"/>
              </a:rPr>
              <a:t>메시지</a:t>
            </a:r>
            <a:r>
              <a:rPr b="0" dirty="0">
                <a:solidFill>
                  <a:srgbClr val="444455"/>
                </a:solidFill>
                <a:latin typeface="맑은 고딕"/>
              </a:rPr>
              <a:t> </a:t>
            </a:r>
            <a:r>
              <a:rPr b="0" dirty="0" err="1">
                <a:solidFill>
                  <a:srgbClr val="444455"/>
                </a:solidFill>
                <a:latin typeface="맑은 고딕"/>
              </a:rPr>
              <a:t>표시</a:t>
            </a:r>
            <a:endParaRPr b="0" dirty="0">
              <a:solidFill>
                <a:srgbClr val="444455"/>
              </a:solidFill>
              <a:latin typeface="맑은 고딕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9784080" y="1600200"/>
            <a:ext cx="2194560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75520" y="16459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Process K
(Kernel)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84080" y="2606040"/>
            <a:ext cx="21945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784080" y="2774870"/>
            <a:ext cx="21945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 err="1">
                <a:solidFill>
                  <a:srgbClr val="444455"/>
                </a:solidFill>
                <a:latin typeface="맑은 고딕"/>
              </a:rPr>
              <a:t>카드와</a:t>
            </a:r>
            <a:r>
              <a:rPr sz="1600" b="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444455"/>
                </a:solidFill>
                <a:latin typeface="맑은 고딕"/>
              </a:rPr>
              <a:t>결제</a:t>
            </a:r>
            <a:r>
              <a:rPr sz="1600" b="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444455"/>
                </a:solidFill>
                <a:latin typeface="맑은 고딕"/>
              </a:rPr>
              <a:t>트랜잭션</a:t>
            </a:r>
            <a:r>
              <a:rPr sz="1600" b="0" dirty="0">
                <a:solidFill>
                  <a:srgbClr val="444455"/>
                </a:solidFill>
                <a:latin typeface="맑은 고딕"/>
              </a:rPr>
              <a:t>
</a:t>
            </a:r>
            <a:r>
              <a:rPr sz="1600" b="0" dirty="0" err="1">
                <a:solidFill>
                  <a:srgbClr val="444455"/>
                </a:solidFill>
                <a:latin typeface="맑은 고딕"/>
              </a:rPr>
              <a:t>처리</a:t>
            </a:r>
            <a:r>
              <a:rPr sz="1600" b="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600" b="0" dirty="0" smtClean="0">
                <a:solidFill>
                  <a:srgbClr val="444455"/>
                </a:solidFill>
                <a:latin typeface="맑은 고딕"/>
              </a:rPr>
              <a:t>(</a:t>
            </a:r>
            <a:r>
              <a:rPr sz="1600" b="0" dirty="0" err="1" smtClean="0">
                <a:solidFill>
                  <a:srgbClr val="444455"/>
                </a:solidFill>
                <a:latin typeface="맑은 고딕"/>
              </a:rPr>
              <a:t>핵심</a:t>
            </a:r>
            <a:r>
              <a:rPr sz="1600" b="0" dirty="0">
                <a:solidFill>
                  <a:srgbClr val="444455"/>
                </a:solidFill>
                <a:latin typeface="맑은 고딕"/>
              </a:rPr>
              <a:t>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38862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B6B1A"/>
                </a:solidFill>
                <a:latin typeface="맑은 고딕"/>
              </a:rPr>
              <a:t>신호 흐름: Terminal → ACT → Process M → Process S/K → Process P → Card (CA Signal)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8469113"/>
              </p:ext>
            </p:extLst>
          </p:nvPr>
        </p:nvGraphicFramePr>
        <p:xfrm>
          <a:off x="365760" y="4343400"/>
          <a:ext cx="114300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572000"/>
                <a:gridCol w="4572000"/>
              </a:tblGrid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프로세스</a:t>
                      </a:r>
                      <a:endParaRPr sz="1300" b="1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주요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맑은 고딕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입력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맑은 고딕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신호</a:t>
                      </a:r>
                      <a:endParaRPr sz="1300" b="1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주요 출력 신호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맑은 고딕"/>
                        </a:rPr>
                        <a:t>Process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맑은 고딕"/>
                        </a:rPr>
                        <a:t>ACT, STOP, ABORT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맑은 고딕"/>
                        </a:rPr>
                        <a:t>OUT, STOP_ACK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맑은 고딕"/>
                        </a:rPr>
                        <a:t>Process S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맑은 고딕"/>
                        </a:rPr>
                        <a:t>Terminal AID List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맑은 고딕"/>
                        </a:rPr>
                        <a:t>선택된 AID + Kernel ID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맑은 고딕"/>
                        </a:rPr>
                        <a:t>Process 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맑은 고딕"/>
                        </a:rPr>
                        <a:t>CA Signal (K/S)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맑은 고딕"/>
                        </a:rPr>
                        <a:t>RA Signal, L1RSP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맑은 고딕"/>
                        </a:rPr>
                        <a:t>Process D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맑은 고딕"/>
                        </a:rPr>
                        <a:t>MSG Signal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맑은 고딕"/>
                        </a:rPr>
                        <a:t>디스플레이 출력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맑은 고딕"/>
                        </a:rPr>
                        <a:t>Process 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맑은 고딕"/>
                        </a:rPr>
                        <a:t>ACT, STOP, CLEAN, DET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dirty="0">
                          <a:latin typeface="맑은 고딕"/>
                        </a:rPr>
                        <a:t>OUT, DEK, MSG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086100"/>
            <a:ext cx="12191695" cy="109728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맑은 고딕"/>
              </a:rPr>
              <a:t>3. 프로세스 간 통신 (Signal 체계)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Signal 기반 프로세스 간 통신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맑은 고딕"/>
              </a:rPr>
              <a:t>각 프로세스는 Signal을 통해 통신합니다. Signal은 이름과 선택적 데이터 페이로드로 구성됩니다.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43605"/>
            <a:ext cx="2011680" cy="6400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97945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Terminal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1828800"/>
            <a:ext cx="1899921" cy="64008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71800" y="1964653"/>
            <a:ext cx="18135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맑은 고딕"/>
              </a:rPr>
              <a:t>Process 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99313" y="1828800"/>
            <a:ext cx="1872342" cy="6400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45033" y="1964653"/>
            <a:ext cx="17872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맑은 고딕"/>
              </a:rPr>
              <a:t>Process 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83087" y="1828800"/>
            <a:ext cx="1881051" cy="64008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28807" y="1964653"/>
            <a:ext cx="179554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Process 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24160" y="1826624"/>
            <a:ext cx="1371600" cy="6400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469880" y="1962477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Card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52037" y="1843605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EB6B1A"/>
                </a:solidFill>
                <a:latin typeface="맑은 고딕"/>
              </a:rPr>
              <a:t>  ACT 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871" y="2191077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EB6B1A"/>
                </a:solidFill>
                <a:latin typeface="맑은 고딕"/>
              </a:rPr>
              <a:t>◀ OUT 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98274" y="182880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EB6B1A"/>
                </a:solidFill>
                <a:latin typeface="맑은 고딕"/>
              </a:rPr>
              <a:t>  ACT 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61407" y="217627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EB6B1A"/>
                </a:solidFill>
                <a:latin typeface="맑은 고딕"/>
              </a:rPr>
              <a:t>◀ OUT 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95109" y="1833154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EB6B1A"/>
                </a:solidFill>
                <a:latin typeface="맑은 고딕"/>
              </a:rPr>
              <a:t>  CA  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88727" y="2173659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EB6B1A"/>
                </a:solidFill>
                <a:latin typeface="맑은 고딕"/>
              </a:rPr>
              <a:t>◀ RA  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64138" y="1826153"/>
            <a:ext cx="914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 smtClean="0">
                <a:solidFill>
                  <a:srgbClr val="EB6B1A"/>
                </a:solidFill>
                <a:latin typeface="맑은 고딕"/>
              </a:rPr>
              <a:t>APDU</a:t>
            </a:r>
            <a:r>
              <a:rPr lang="ko-KR" altLang="en-US" sz="1200" b="1" dirty="0">
                <a:solidFill>
                  <a:srgbClr val="EB6B1A"/>
                </a:solidFill>
                <a:latin typeface="맑은 고딕"/>
              </a:rPr>
              <a:t> ▶</a:t>
            </a:r>
            <a:endParaRPr sz="1200" b="1" dirty="0">
              <a:solidFill>
                <a:srgbClr val="EB6B1A"/>
              </a:solidFill>
              <a:latin typeface="맑은 고딕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601200" y="217627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EB6B1A"/>
                </a:solidFill>
                <a:latin typeface="맑은 고딕"/>
              </a:rPr>
              <a:t>◀ APDU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2656114"/>
            <a:ext cx="1899921" cy="635726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971800" y="2788920"/>
            <a:ext cx="181356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Process 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59" y="2775857"/>
            <a:ext cx="92310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EB6B1A"/>
                </a:solidFill>
                <a:latin typeface="맑은 고딕"/>
              </a:rPr>
              <a:t>◀ DEK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3017520"/>
            <a:ext cx="10624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EB6B1A"/>
                </a:solidFill>
                <a:latin typeface="맑은 고딕"/>
              </a:rPr>
              <a:t> DET▶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34747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44455"/>
                </a:solidFill>
                <a:latin typeface="맑은 고딕"/>
              </a:rPr>
              <a:t>DEK: Kernel → Terminal (데이터 요청/전송)   |   DET: Terminal → Kernel (데이터 제공/제어)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299620"/>
              </p:ext>
            </p:extLst>
          </p:nvPr>
        </p:nvGraphicFramePr>
        <p:xfrm>
          <a:off x="365760" y="3931920"/>
          <a:ext cx="11430000" cy="27995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  <a:gridCol w="6400800"/>
              </a:tblGrid>
              <a:tr h="27889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신호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방향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맑은 고딕"/>
                        </a:rPr>
                        <a:t>ACT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맑은 고딕"/>
                        </a:rPr>
                        <a:t>Terminal → Reader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맑은 고딕"/>
                        </a:rPr>
                        <a:t>트랜잭션 시작 요청 (금액, 통화, 트랜잭션 유형 포함)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맑은 고딕"/>
                        </a:rPr>
                        <a:t>OUT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맑은 고딕"/>
                        </a:rPr>
                        <a:t>Reader → Terminal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맑은 고딕"/>
                        </a:rPr>
                        <a:t>트랜잭션 결과 반환 (Outcome, Data Record, Disc. Data)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맑은 고딕"/>
                        </a:rPr>
                        <a:t>STOP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맑은 고딕"/>
                        </a:rPr>
                        <a:t>Terminal → Reader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맑은 고딕"/>
                        </a:rPr>
                        <a:t>현재 트랜잭션 즉시 종료 요청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맑은 고딕"/>
                        </a:rPr>
                        <a:t>ABORT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맑은 고딕"/>
                        </a:rPr>
                        <a:t>Terminal → Reader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맑은 고딕"/>
                        </a:rPr>
                        <a:t>중단 (OUT Signal 트리거 가능)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맑은 고딕"/>
                        </a:rPr>
                        <a:t>DEK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맑은 고딕"/>
                        </a:rPr>
                        <a:t>Kernel → Terminal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맑은 고딕"/>
                        </a:rPr>
                        <a:t>데이터 요청 및 카드/Kernel 데이터 전송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맑은 고딕"/>
                        </a:rPr>
                        <a:t>DET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맑은 고딕"/>
                        </a:rPr>
                        <a:t>Terminal → Kernel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맑은 고딕"/>
                        </a:rPr>
                        <a:t>데이터 제공 및 트랜잭션 흐름 제어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맑은 고딕"/>
                        </a:rPr>
                        <a:t>MSG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맑은 고딕"/>
                        </a:rPr>
                        <a:t>Kernel → Process 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맑은 고딕"/>
                        </a:rPr>
                        <a:t>사용자 화면 표시 요청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맑은 고딕"/>
                        </a:rPr>
                        <a:t>CA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맑은 고딕"/>
                        </a:rPr>
                        <a:t>K/S → Process P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맑은 고딕"/>
                        </a:rPr>
                        <a:t>카드로 C-APDU 전송 요청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맑은 고딕"/>
                        </a:rPr>
                        <a:t>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맑은 고딕"/>
                        </a:rPr>
                        <a:t>Process P → K/S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 err="1">
                          <a:latin typeface="맑은 고딕"/>
                        </a:rPr>
                        <a:t>카드로부터</a:t>
                      </a:r>
                      <a:r>
                        <a:rPr sz="1200" dirty="0">
                          <a:latin typeface="맑은 고딕"/>
                        </a:rPr>
                        <a:t> R-APDU </a:t>
                      </a:r>
                      <a:r>
                        <a:rPr sz="1200" dirty="0" err="1">
                          <a:latin typeface="맑은 고딕"/>
                        </a:rPr>
                        <a:t>수신</a:t>
                      </a:r>
                      <a:r>
                        <a:rPr sz="1200" dirty="0">
                          <a:latin typeface="맑은 고딕"/>
                        </a:rPr>
                        <a:t> </a:t>
                      </a:r>
                      <a:r>
                        <a:rPr sz="1200" dirty="0" err="1">
                          <a:latin typeface="맑은 고딕"/>
                        </a:rPr>
                        <a:t>결과</a:t>
                      </a:r>
                      <a:endParaRPr sz="1200" dirty="0">
                        <a:latin typeface="맑은 고딕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ACT / OUT Signal 상세 구조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486400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48640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3E"/>
                </a:solidFill>
                <a:latin typeface="맑은 고딕"/>
              </a:rPr>
              <a:t>ACT Signal 주요 포함 데이터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00200"/>
            <a:ext cx="521208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sz="16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600" b="1" dirty="0">
                <a:solidFill>
                  <a:srgbClr val="444455"/>
                </a:solidFill>
                <a:latin typeface="맑은 고딕"/>
              </a:rPr>
              <a:t>Amount Authorized (Numeric) 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—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승인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금액</a:t>
            </a:r>
            <a:endParaRPr sz="16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200000"/>
              </a:lnSpc>
            </a:pPr>
            <a:r>
              <a:rPr sz="16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600" b="1" dirty="0">
                <a:solidFill>
                  <a:srgbClr val="444455"/>
                </a:solidFill>
                <a:latin typeface="맑은 고딕"/>
              </a:rPr>
              <a:t>Amount Other (Numeric) 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—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캐시백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금액</a:t>
            </a:r>
            <a:endParaRPr sz="16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200000"/>
              </a:lnSpc>
            </a:pPr>
            <a:r>
              <a:rPr sz="16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600" b="1" dirty="0">
                <a:solidFill>
                  <a:srgbClr val="444455"/>
                </a:solidFill>
                <a:latin typeface="맑은 고딕"/>
              </a:rPr>
              <a:t>Merchant Category Code 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—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가맹점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코드</a:t>
            </a:r>
            <a:endParaRPr sz="16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200000"/>
              </a:lnSpc>
            </a:pPr>
            <a:r>
              <a:rPr sz="16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600" b="1" dirty="0">
                <a:solidFill>
                  <a:srgbClr val="444455"/>
                </a:solidFill>
                <a:latin typeface="맑은 고딕"/>
              </a:rPr>
              <a:t>Merchant Identifier 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—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가맹점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ID</a:t>
            </a:r>
          </a:p>
          <a:p>
            <a:pPr>
              <a:lnSpc>
                <a:spcPct val="200000"/>
              </a:lnSpc>
            </a:pPr>
            <a:r>
              <a:rPr sz="16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600" b="1" dirty="0">
                <a:solidFill>
                  <a:srgbClr val="444455"/>
                </a:solidFill>
                <a:latin typeface="맑은 고딕"/>
              </a:rPr>
              <a:t>Terminal Country Code 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—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국가코드</a:t>
            </a:r>
            <a:endParaRPr sz="16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200000"/>
              </a:lnSpc>
            </a:pPr>
            <a:r>
              <a:rPr sz="16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600" b="1" dirty="0">
                <a:solidFill>
                  <a:srgbClr val="444455"/>
                </a:solidFill>
                <a:latin typeface="맑은 고딕"/>
              </a:rPr>
              <a:t>Transaction Currency Code 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—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통화코드</a:t>
            </a:r>
            <a:endParaRPr sz="16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200000"/>
              </a:lnSpc>
            </a:pPr>
            <a:r>
              <a:rPr sz="16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600" b="1" dirty="0">
                <a:solidFill>
                  <a:srgbClr val="444455"/>
                </a:solidFill>
                <a:latin typeface="맑은 고딕"/>
              </a:rPr>
              <a:t>Transaction Date / Time 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—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거래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일시</a:t>
            </a:r>
            <a:endParaRPr sz="16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200000"/>
              </a:lnSpc>
            </a:pPr>
            <a:r>
              <a:rPr sz="16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600" b="1" dirty="0">
                <a:solidFill>
                  <a:srgbClr val="444455"/>
                </a:solidFill>
                <a:latin typeface="맑은 고딕"/>
              </a:rPr>
              <a:t>Transaction Type 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—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구매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/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환불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/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캐시백</a:t>
            </a:r>
            <a:endParaRPr sz="16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200000"/>
              </a:lnSpc>
            </a:pPr>
            <a:r>
              <a:rPr sz="16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600" b="1" dirty="0">
                <a:solidFill>
                  <a:srgbClr val="444455"/>
                </a:solidFill>
                <a:latin typeface="맑은 고딕"/>
              </a:rPr>
              <a:t>Unpredictable Number 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—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랜덤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4바이트</a:t>
            </a:r>
          </a:p>
          <a:p>
            <a:pPr>
              <a:lnSpc>
                <a:spcPct val="200000"/>
              </a:lnSpc>
            </a:pPr>
            <a:r>
              <a:rPr sz="16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600" b="1" dirty="0">
                <a:solidFill>
                  <a:srgbClr val="444455"/>
                </a:solidFill>
                <a:latin typeface="맑은 고딕"/>
              </a:rPr>
              <a:t>Tags To Read / Tags To Write 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—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선택적</a:t>
            </a:r>
            <a:endParaRPr sz="1600" dirty="0">
              <a:solidFill>
                <a:srgbClr val="444455"/>
              </a:solidFill>
              <a:latin typeface="맑은 고딕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035040" y="1188720"/>
            <a:ext cx="585216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35040" y="1188720"/>
            <a:ext cx="58521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72200" y="123444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3E"/>
                </a:solidFill>
                <a:latin typeface="맑은 고딕"/>
              </a:rPr>
              <a:t>OUT Signal — Outcome Parameter 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600200"/>
            <a:ext cx="5852160" cy="1915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b="1" dirty="0">
                <a:solidFill>
                  <a:srgbClr val="444455"/>
                </a:solidFill>
                <a:latin typeface="맑은 고딕"/>
              </a:rPr>
              <a:t>Outcome Parameter Set 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—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트랜잭션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결과</a:t>
            </a:r>
            <a:endParaRPr sz="1400" dirty="0">
              <a:solidFill>
                <a:srgbClr val="444455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r>
              <a:rPr sz="1300" dirty="0" smtClean="0">
                <a:solidFill>
                  <a:srgbClr val="555577"/>
                </a:solidFill>
                <a:latin typeface="맑은 고딕"/>
              </a:rPr>
              <a:t>– 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Status: Approved / Online Request / Declined / End Application</a:t>
            </a:r>
          </a:p>
          <a:p>
            <a:pPr lvl="1">
              <a:lnSpc>
                <a:spcPct val="150000"/>
              </a:lnSpc>
            </a:pPr>
            <a:r>
              <a:rPr sz="1300" dirty="0" smtClean="0">
                <a:solidFill>
                  <a:srgbClr val="555577"/>
                </a:solidFill>
                <a:latin typeface="맑은 고딕"/>
              </a:rPr>
              <a:t>– 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Start: No / B / C / NA</a:t>
            </a:r>
          </a:p>
          <a:p>
            <a:pPr lvl="1">
              <a:lnSpc>
                <a:spcPct val="150000"/>
              </a:lnSpc>
            </a:pPr>
            <a:r>
              <a:rPr sz="1300" dirty="0" smtClean="0">
                <a:solidFill>
                  <a:srgbClr val="555577"/>
                </a:solidFill>
                <a:latin typeface="맑은 고딕"/>
              </a:rPr>
              <a:t>– 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CVM Performed: Online </a:t>
            </a:r>
            <a:r>
              <a:rPr sz="1300" dirty="0" smtClean="0">
                <a:solidFill>
                  <a:srgbClr val="555577"/>
                </a:solidFill>
                <a:latin typeface="맑은 고딕"/>
              </a:rPr>
              <a:t>PIN/ 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Conf. </a:t>
            </a:r>
            <a:r>
              <a:rPr sz="1300" dirty="0" smtClean="0">
                <a:solidFill>
                  <a:srgbClr val="555577"/>
                </a:solidFill>
                <a:latin typeface="맑은 고딕"/>
              </a:rPr>
              <a:t>Code/ Signature/ 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No </a:t>
            </a:r>
            <a:r>
              <a:rPr sz="1300" dirty="0" smtClean="0">
                <a:solidFill>
                  <a:srgbClr val="555577"/>
                </a:solidFill>
                <a:latin typeface="맑은 고딕"/>
              </a:rPr>
              <a:t>CVM/ 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NA</a:t>
            </a:r>
          </a:p>
          <a:p>
            <a:pPr lvl="1">
              <a:lnSpc>
                <a:spcPct val="150000"/>
              </a:lnSpc>
            </a:pPr>
            <a:r>
              <a:rPr sz="1300" dirty="0" smtClean="0">
                <a:solidFill>
                  <a:srgbClr val="555577"/>
                </a:solidFill>
                <a:latin typeface="맑은 고딕"/>
              </a:rPr>
              <a:t>– 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Receipt Required: Yes / NA</a:t>
            </a:r>
          </a:p>
          <a:p>
            <a:pPr lvl="1">
              <a:lnSpc>
                <a:spcPct val="150000"/>
              </a:lnSpc>
            </a:pPr>
            <a:r>
              <a:rPr sz="1300" dirty="0" smtClean="0">
                <a:solidFill>
                  <a:srgbClr val="555577"/>
                </a:solidFill>
                <a:latin typeface="맑은 고딕"/>
              </a:rPr>
              <a:t>– 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UI Request Data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포함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여부</a:t>
            </a:r>
            <a:endParaRPr sz="1300" dirty="0">
              <a:solidFill>
                <a:srgbClr val="555577"/>
              </a:solidFill>
              <a:latin typeface="맑은 고딕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035040" y="3886200"/>
            <a:ext cx="585216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35040" y="3886200"/>
            <a:ext cx="58521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72200" y="393192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3E"/>
                </a:solidFill>
                <a:latin typeface="맑은 고딕"/>
              </a:rPr>
              <a:t>OUT Signal — Data Record &amp; Discretionary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4230082"/>
            <a:ext cx="5577840" cy="2262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b="1" dirty="0">
                <a:solidFill>
                  <a:srgbClr val="444455"/>
                </a:solidFill>
                <a:latin typeface="맑은 고딕"/>
              </a:rPr>
              <a:t>Data Record 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—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권한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부여·정산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데이터</a:t>
            </a:r>
            <a:endParaRPr sz="1400" dirty="0">
              <a:solidFill>
                <a:srgbClr val="444455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온라인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승인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시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Issuer에게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전달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오프라인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승인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시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정산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데이터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>
              <a:lnSpc>
                <a:spcPct val="1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b="1" dirty="0">
                <a:solidFill>
                  <a:srgbClr val="444455"/>
                </a:solidFill>
                <a:latin typeface="맑은 고딕"/>
              </a:rPr>
              <a:t>Discretionary Data 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—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추가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Kernel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정보</a:t>
            </a:r>
            <a:endParaRPr sz="1400" dirty="0">
              <a:solidFill>
                <a:srgbClr val="444455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Mag-Stripe: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비트맵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형식의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Track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위치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데이터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EMV: Error Indication, TVR 등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진단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정보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>
              <a:lnSpc>
                <a:spcPct val="1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b="1" dirty="0">
                <a:solidFill>
                  <a:srgbClr val="444455"/>
                </a:solidFill>
                <a:latin typeface="맑은 고딕"/>
              </a:rPr>
              <a:t>User Interface Request Data 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— UI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메시지</a:t>
            </a:r>
            <a:endParaRPr sz="1400" dirty="0">
              <a:solidFill>
                <a:srgbClr val="444455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086100"/>
            <a:ext cx="12191695" cy="109728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맑은 고딕"/>
              </a:rPr>
              <a:t>4. Reader Database 구조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Reader Database — 영구·임시 데이터셋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맑은 고딕"/>
              </a:rPr>
              <a:t>Reader는 영구(Persistent) 및 임시(Transient) 데이터셋으로 구성된 데이터베이스를 유지합니다.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45920"/>
            <a:ext cx="3749039" cy="45720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맑은 고딕"/>
              </a:rPr>
              <a:t>Process M
(</a:t>
            </a:r>
            <a:r>
              <a:rPr sz="1300" b="1" dirty="0" err="1">
                <a:solidFill>
                  <a:srgbClr val="FFFFFF"/>
                </a:solidFill>
                <a:latin typeface="맑은 고딕"/>
              </a:rPr>
              <a:t>영구</a:t>
            </a:r>
            <a:r>
              <a:rPr sz="1300" b="1" dirty="0">
                <a:solidFill>
                  <a:srgbClr val="FFFFFF"/>
                </a:solidFill>
                <a:latin typeface="맑은 고딕"/>
              </a:rPr>
              <a:t>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03120"/>
            <a:ext cx="3749039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58" y="2417355"/>
            <a:ext cx="374903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dirty="0" err="1">
                <a:solidFill>
                  <a:srgbClr val="444455"/>
                </a:solidFill>
                <a:latin typeface="맑은 고딕"/>
              </a:rPr>
              <a:t>AID별</a:t>
            </a:r>
            <a:r>
              <a:rPr b="0" dirty="0">
                <a:solidFill>
                  <a:srgbClr val="444455"/>
                </a:solidFill>
                <a:latin typeface="맑은 고딕"/>
              </a:rPr>
              <a:t> </a:t>
            </a:r>
            <a:r>
              <a:rPr b="0" dirty="0" err="1">
                <a:solidFill>
                  <a:srgbClr val="444455"/>
                </a:solidFill>
                <a:latin typeface="맑은 고딕"/>
              </a:rPr>
              <a:t>지원</a:t>
            </a:r>
            <a:r>
              <a:rPr b="0" dirty="0">
                <a:solidFill>
                  <a:srgbClr val="444455"/>
                </a:solidFill>
                <a:latin typeface="맑은 고딕"/>
              </a:rPr>
              <a:t> </a:t>
            </a:r>
            <a:r>
              <a:rPr b="0" dirty="0" err="1">
                <a:solidFill>
                  <a:srgbClr val="444455"/>
                </a:solidFill>
                <a:latin typeface="맑은 고딕"/>
              </a:rPr>
              <a:t>트랜잭션</a:t>
            </a:r>
            <a:r>
              <a:rPr b="0" dirty="0">
                <a:solidFill>
                  <a:srgbClr val="444455"/>
                </a:solidFill>
                <a:latin typeface="맑은 고딕"/>
              </a:rPr>
              <a:t> </a:t>
            </a:r>
            <a:r>
              <a:rPr b="0" dirty="0" err="1">
                <a:solidFill>
                  <a:srgbClr val="444455"/>
                </a:solidFill>
                <a:latin typeface="맑은 고딕"/>
              </a:rPr>
              <a:t>유형</a:t>
            </a:r>
            <a:r>
              <a:rPr b="0" dirty="0">
                <a:solidFill>
                  <a:srgbClr val="444455"/>
                </a:solidFill>
                <a:latin typeface="맑은 고딕"/>
              </a:rPr>
              <a:t>
(Purchase, </a:t>
            </a:r>
            <a:r>
              <a:rPr b="0" dirty="0" err="1">
                <a:solidFill>
                  <a:srgbClr val="444455"/>
                </a:solidFill>
                <a:latin typeface="맑은 고딕"/>
              </a:rPr>
              <a:t>Cashback</a:t>
            </a:r>
            <a:r>
              <a:rPr b="0" dirty="0">
                <a:solidFill>
                  <a:srgbClr val="444455"/>
                </a:solidFill>
                <a:latin typeface="맑은 고딕"/>
              </a:rPr>
              <a:t>, Refund)
</a:t>
            </a:r>
            <a:r>
              <a:rPr b="0" dirty="0" err="1">
                <a:solidFill>
                  <a:srgbClr val="444455"/>
                </a:solidFill>
                <a:latin typeface="맑은 고딕"/>
              </a:rPr>
              <a:t>터미널</a:t>
            </a:r>
            <a:r>
              <a:rPr b="0" dirty="0">
                <a:solidFill>
                  <a:srgbClr val="444455"/>
                </a:solidFill>
                <a:latin typeface="맑은 고딕"/>
              </a:rPr>
              <a:t> </a:t>
            </a:r>
            <a:r>
              <a:rPr b="0" dirty="0" err="1">
                <a:solidFill>
                  <a:srgbClr val="444455"/>
                </a:solidFill>
                <a:latin typeface="맑은 고딕"/>
              </a:rPr>
              <a:t>일반</a:t>
            </a:r>
            <a:r>
              <a:rPr b="0" dirty="0">
                <a:solidFill>
                  <a:srgbClr val="444455"/>
                </a:solidFill>
                <a:latin typeface="맑은 고딕"/>
              </a:rPr>
              <a:t> </a:t>
            </a:r>
            <a:r>
              <a:rPr b="0" dirty="0" err="1">
                <a:solidFill>
                  <a:srgbClr val="444455"/>
                </a:solidFill>
                <a:latin typeface="맑은 고딕"/>
              </a:rPr>
              <a:t>데이터</a:t>
            </a:r>
            <a:r>
              <a:rPr b="0" dirty="0">
                <a:solidFill>
                  <a:srgbClr val="444455"/>
                </a:solidFill>
                <a:latin typeface="맑은 고딕"/>
              </a:rPr>
              <a:t>
(</a:t>
            </a:r>
            <a:r>
              <a:rPr b="0" dirty="0" err="1">
                <a:solidFill>
                  <a:srgbClr val="444455"/>
                </a:solidFill>
                <a:latin typeface="맑은 고딕"/>
              </a:rPr>
              <a:t>국가코드</a:t>
            </a:r>
            <a:r>
              <a:rPr b="0" dirty="0">
                <a:solidFill>
                  <a:srgbClr val="444455"/>
                </a:solidFill>
                <a:latin typeface="맑은 고딕"/>
              </a:rPr>
              <a:t>, </a:t>
            </a:r>
            <a:r>
              <a:rPr b="0" dirty="0" err="1">
                <a:solidFill>
                  <a:srgbClr val="444455"/>
                </a:solidFill>
                <a:latin typeface="맑은 고딕"/>
              </a:rPr>
              <a:t>통화코드</a:t>
            </a:r>
            <a:r>
              <a:rPr b="0" dirty="0">
                <a:solidFill>
                  <a:srgbClr val="444455"/>
                </a:solidFill>
                <a:latin typeface="맑은 고딕"/>
              </a:rPr>
              <a:t>, </a:t>
            </a:r>
            <a:r>
              <a:rPr b="0" dirty="0" err="1">
                <a:solidFill>
                  <a:srgbClr val="444455"/>
                </a:solidFill>
                <a:latin typeface="맑은 고딕"/>
              </a:rPr>
              <a:t>단말</a:t>
            </a:r>
            <a:r>
              <a:rPr b="0" dirty="0">
                <a:solidFill>
                  <a:srgbClr val="444455"/>
                </a:solidFill>
                <a:latin typeface="맑은 고딕"/>
              </a:rPr>
              <a:t> S/N)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399" y="1645920"/>
            <a:ext cx="3749039" cy="54864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34839" y="164592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Process P
(영구)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399" y="2103120"/>
            <a:ext cx="3749039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43399" y="2694353"/>
            <a:ext cx="37490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dirty="0" err="1">
                <a:solidFill>
                  <a:srgbClr val="444455"/>
                </a:solidFill>
                <a:latin typeface="맑은 고딕"/>
              </a:rPr>
              <a:t>프로토콜</a:t>
            </a:r>
            <a:r>
              <a:rPr b="0" dirty="0">
                <a:solidFill>
                  <a:srgbClr val="444455"/>
                </a:solidFill>
                <a:latin typeface="맑은 고딕"/>
              </a:rPr>
              <a:t> </a:t>
            </a:r>
            <a:r>
              <a:rPr b="0" dirty="0" err="1">
                <a:solidFill>
                  <a:srgbClr val="444455"/>
                </a:solidFill>
                <a:latin typeface="맑은 고딕"/>
              </a:rPr>
              <a:t>설정</a:t>
            </a:r>
            <a:r>
              <a:rPr b="0" dirty="0">
                <a:solidFill>
                  <a:srgbClr val="444455"/>
                </a:solidFill>
                <a:latin typeface="맑은 고딕"/>
              </a:rPr>
              <a:t> </a:t>
            </a:r>
            <a:r>
              <a:rPr b="0" dirty="0" err="1">
                <a:solidFill>
                  <a:srgbClr val="444455"/>
                </a:solidFill>
                <a:latin typeface="맑은 고딕"/>
              </a:rPr>
              <a:t>데이터셋</a:t>
            </a:r>
            <a:r>
              <a:rPr b="0" dirty="0">
                <a:solidFill>
                  <a:srgbClr val="444455"/>
                </a:solidFill>
                <a:latin typeface="맑은 고딕"/>
              </a:rPr>
              <a:t>
(RF </a:t>
            </a:r>
            <a:r>
              <a:rPr b="0" dirty="0" err="1">
                <a:solidFill>
                  <a:srgbClr val="444455"/>
                </a:solidFill>
                <a:latin typeface="맑은 고딕"/>
              </a:rPr>
              <a:t>폴링</a:t>
            </a:r>
            <a:r>
              <a:rPr b="0" dirty="0">
                <a:solidFill>
                  <a:srgbClr val="444455"/>
                </a:solidFill>
                <a:latin typeface="맑은 고딕"/>
              </a:rPr>
              <a:t> </a:t>
            </a:r>
            <a:r>
              <a:rPr b="0" dirty="0" err="1">
                <a:solidFill>
                  <a:srgbClr val="444455"/>
                </a:solidFill>
                <a:latin typeface="맑은 고딕"/>
              </a:rPr>
              <a:t>설정</a:t>
            </a:r>
            <a:r>
              <a:rPr b="0" dirty="0">
                <a:solidFill>
                  <a:srgbClr val="444455"/>
                </a:solidFill>
                <a:latin typeface="맑은 고딕"/>
              </a:rPr>
              <a:t>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38" y="1645920"/>
            <a:ext cx="3749039" cy="45720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78" y="164592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Process D
(영구)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38" y="2103120"/>
            <a:ext cx="3749039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36" y="2694352"/>
            <a:ext cx="37490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dirty="0" err="1">
                <a:solidFill>
                  <a:srgbClr val="444455"/>
                </a:solidFill>
                <a:latin typeface="맑은 고딕"/>
              </a:rPr>
              <a:t>언어별</a:t>
            </a:r>
            <a:r>
              <a:rPr b="0" dirty="0">
                <a:solidFill>
                  <a:srgbClr val="444455"/>
                </a:solidFill>
                <a:latin typeface="맑은 고딕"/>
              </a:rPr>
              <a:t> </a:t>
            </a:r>
            <a:r>
              <a:rPr b="0" dirty="0" err="1">
                <a:solidFill>
                  <a:srgbClr val="444455"/>
                </a:solidFill>
                <a:latin typeface="맑은 고딕"/>
              </a:rPr>
              <a:t>메시지</a:t>
            </a:r>
            <a:r>
              <a:rPr b="0" dirty="0">
                <a:solidFill>
                  <a:srgbClr val="444455"/>
                </a:solidFill>
                <a:latin typeface="맑은 고딕"/>
              </a:rPr>
              <a:t> </a:t>
            </a:r>
            <a:r>
              <a:rPr b="0" dirty="0" err="1">
                <a:solidFill>
                  <a:srgbClr val="444455"/>
                </a:solidFill>
                <a:latin typeface="맑은 고딕"/>
              </a:rPr>
              <a:t>문자열</a:t>
            </a:r>
            <a:r>
              <a:rPr b="0" dirty="0">
                <a:solidFill>
                  <a:srgbClr val="444455"/>
                </a:solidFill>
                <a:latin typeface="맑은 고딕"/>
              </a:rPr>
              <a:t>
</a:t>
            </a:r>
            <a:r>
              <a:rPr b="0" dirty="0" err="1">
                <a:solidFill>
                  <a:srgbClr val="444455"/>
                </a:solidFill>
                <a:latin typeface="맑은 고딕"/>
              </a:rPr>
              <a:t>다국어</a:t>
            </a:r>
            <a:r>
              <a:rPr b="0" dirty="0">
                <a:solidFill>
                  <a:srgbClr val="444455"/>
                </a:solidFill>
                <a:latin typeface="맑은 고딕"/>
              </a:rPr>
              <a:t> </a:t>
            </a:r>
            <a:r>
              <a:rPr b="0" dirty="0" err="1">
                <a:solidFill>
                  <a:srgbClr val="444455"/>
                </a:solidFill>
                <a:latin typeface="맑은 고딕"/>
              </a:rPr>
              <a:t>지원</a:t>
            </a:r>
            <a:r>
              <a:rPr b="0" dirty="0">
                <a:solidFill>
                  <a:srgbClr val="444455"/>
                </a:solidFill>
                <a:latin typeface="맑은 고딕"/>
              </a:rPr>
              <a:t> </a:t>
            </a:r>
            <a:r>
              <a:rPr b="0" dirty="0" err="1">
                <a:solidFill>
                  <a:srgbClr val="444455"/>
                </a:solidFill>
                <a:latin typeface="맑은 고딕"/>
              </a:rPr>
              <a:t>데이터셋</a:t>
            </a:r>
            <a:endParaRPr b="0" dirty="0">
              <a:solidFill>
                <a:srgbClr val="444455"/>
              </a:solidFill>
              <a:latin typeface="맑은 고딕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65760" y="4023360"/>
            <a:ext cx="3749039" cy="45720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402336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Process S
(영구)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480560"/>
            <a:ext cx="3749039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58" y="4848998"/>
            <a:ext cx="37490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dirty="0" err="1">
                <a:solidFill>
                  <a:srgbClr val="444455"/>
                </a:solidFill>
                <a:latin typeface="맑은 고딕"/>
              </a:rPr>
              <a:t>지원</a:t>
            </a:r>
            <a:r>
              <a:rPr b="0" dirty="0">
                <a:solidFill>
                  <a:srgbClr val="444455"/>
                </a:solidFill>
                <a:latin typeface="맑은 고딕"/>
              </a:rPr>
              <a:t> AID 및 Kernel </a:t>
            </a:r>
            <a:r>
              <a:rPr b="0" dirty="0" err="1">
                <a:solidFill>
                  <a:srgbClr val="444455"/>
                </a:solidFill>
                <a:latin typeface="맑은 고딕"/>
              </a:rPr>
              <a:t>매핑</a:t>
            </a:r>
            <a:r>
              <a:rPr b="0" dirty="0">
                <a:solidFill>
                  <a:srgbClr val="444455"/>
                </a:solidFill>
                <a:latin typeface="맑은 고딕"/>
              </a:rPr>
              <a:t>
</a:t>
            </a:r>
            <a:r>
              <a:rPr b="0" dirty="0" err="1">
                <a:solidFill>
                  <a:srgbClr val="444455"/>
                </a:solidFill>
                <a:latin typeface="맑은 고딕"/>
              </a:rPr>
              <a:t>트랜잭션</a:t>
            </a:r>
            <a:r>
              <a:rPr b="0" dirty="0">
                <a:solidFill>
                  <a:srgbClr val="444455"/>
                </a:solidFill>
                <a:latin typeface="맑은 고딕"/>
              </a:rPr>
              <a:t> </a:t>
            </a:r>
            <a:r>
              <a:rPr b="0" dirty="0" err="1">
                <a:solidFill>
                  <a:srgbClr val="444455"/>
                </a:solidFill>
                <a:latin typeface="맑은 고딕"/>
              </a:rPr>
              <a:t>유형별</a:t>
            </a:r>
            <a:r>
              <a:rPr b="0" dirty="0">
                <a:solidFill>
                  <a:srgbClr val="444455"/>
                </a:solidFill>
                <a:latin typeface="맑은 고딕"/>
              </a:rPr>
              <a:t> </a:t>
            </a:r>
            <a:r>
              <a:rPr b="0" dirty="0" err="1">
                <a:solidFill>
                  <a:srgbClr val="444455"/>
                </a:solidFill>
                <a:latin typeface="맑은 고딕"/>
              </a:rPr>
              <a:t>설정</a:t>
            </a:r>
            <a:endParaRPr b="0" dirty="0">
              <a:solidFill>
                <a:srgbClr val="444455"/>
              </a:solidFill>
              <a:latin typeface="맑은 고딕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343399" y="4023360"/>
            <a:ext cx="3749039" cy="45720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34839" y="402336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Process K
(영구 + 임시)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399" y="4480560"/>
            <a:ext cx="3749039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43399" y="4572000"/>
            <a:ext cx="374903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dirty="0">
                <a:solidFill>
                  <a:srgbClr val="444455"/>
                </a:solidFill>
                <a:latin typeface="맑은 고딕"/>
              </a:rPr>
              <a:t>Kernel 2 TLV Database
CA </a:t>
            </a:r>
            <a:r>
              <a:rPr b="0" dirty="0" err="1">
                <a:solidFill>
                  <a:srgbClr val="444455"/>
                </a:solidFill>
                <a:latin typeface="맑은 고딕"/>
              </a:rPr>
              <a:t>공개키</a:t>
            </a:r>
            <a:r>
              <a:rPr b="0" dirty="0">
                <a:solidFill>
                  <a:srgbClr val="444455"/>
                </a:solidFill>
                <a:latin typeface="맑은 고딕"/>
              </a:rPr>
              <a:t> </a:t>
            </a:r>
            <a:r>
              <a:rPr b="0" dirty="0" err="1">
                <a:solidFill>
                  <a:srgbClr val="444455"/>
                </a:solidFill>
                <a:latin typeface="맑은 고딕"/>
              </a:rPr>
              <a:t>목록</a:t>
            </a:r>
            <a:r>
              <a:rPr b="0" dirty="0">
                <a:solidFill>
                  <a:srgbClr val="444455"/>
                </a:solidFill>
                <a:latin typeface="맑은 고딕"/>
              </a:rPr>
              <a:t>
</a:t>
            </a:r>
            <a:r>
              <a:rPr b="0" dirty="0" err="1">
                <a:solidFill>
                  <a:srgbClr val="444455"/>
                </a:solidFill>
                <a:latin typeface="맑은 고딕"/>
              </a:rPr>
              <a:t>인증서</a:t>
            </a:r>
            <a:r>
              <a:rPr b="0" dirty="0">
                <a:solidFill>
                  <a:srgbClr val="444455"/>
                </a:solidFill>
                <a:latin typeface="맑은 고딕"/>
              </a:rPr>
              <a:t> </a:t>
            </a:r>
            <a:r>
              <a:rPr b="0" dirty="0" err="1">
                <a:solidFill>
                  <a:srgbClr val="444455"/>
                </a:solidFill>
                <a:latin typeface="맑은 고딕"/>
              </a:rPr>
              <a:t>폐기</a:t>
            </a:r>
            <a:r>
              <a:rPr b="0" dirty="0">
                <a:solidFill>
                  <a:srgbClr val="444455"/>
                </a:solidFill>
                <a:latin typeface="맑은 고딕"/>
              </a:rPr>
              <a:t> </a:t>
            </a:r>
            <a:r>
              <a:rPr b="0" dirty="0" err="1">
                <a:solidFill>
                  <a:srgbClr val="444455"/>
                </a:solidFill>
                <a:latin typeface="맑은 고딕"/>
              </a:rPr>
              <a:t>목록</a:t>
            </a:r>
            <a:r>
              <a:rPr b="0" dirty="0">
                <a:solidFill>
                  <a:srgbClr val="444455"/>
                </a:solidFill>
                <a:latin typeface="맑은 고딕"/>
              </a:rPr>
              <a:t>(CRL)
Scratch Pad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Kernel 2 영구(Persistent) 데이터셋 구성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486400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48640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3E"/>
                </a:solidFill>
                <a:latin typeface="맑은 고딕"/>
              </a:rPr>
              <a:t>TLV DB &amp; CA 공개키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81912"/>
            <a:ext cx="5212080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sz="1600" b="1" dirty="0">
                <a:solidFill>
                  <a:srgbClr val="444455"/>
                </a:solidFill>
                <a:latin typeface="맑은 고딕"/>
              </a:rPr>
              <a:t>• TLV Database — </a:t>
            </a:r>
            <a:r>
              <a:rPr sz="1600" b="1" dirty="0" err="1">
                <a:solidFill>
                  <a:srgbClr val="444455"/>
                </a:solidFill>
                <a:latin typeface="맑은 고딕"/>
              </a:rPr>
              <a:t>AID별·트랜잭션유형별</a:t>
            </a:r>
            <a:endParaRPr sz="1600" b="1" dirty="0">
              <a:solidFill>
                <a:srgbClr val="444455"/>
              </a:solidFill>
              <a:latin typeface="맑은 고딕"/>
            </a:endParaRPr>
          </a:p>
          <a:p>
            <a:pPr lvl="1">
              <a:lnSpc>
                <a:spcPct val="250000"/>
              </a:lnSpc>
            </a:pPr>
            <a:r>
              <a:rPr sz="1400" dirty="0">
                <a:solidFill>
                  <a:srgbClr val="555577"/>
                </a:solidFill>
                <a:latin typeface="맑은 고딕"/>
              </a:rPr>
              <a:t>  – </a:t>
            </a:r>
            <a:r>
              <a:rPr sz="1400" dirty="0" err="1">
                <a:solidFill>
                  <a:srgbClr val="555577"/>
                </a:solidFill>
                <a:latin typeface="맑은 고딕"/>
              </a:rPr>
              <a:t>설정</a:t>
            </a:r>
            <a:r>
              <a:rPr sz="14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77"/>
                </a:solidFill>
                <a:latin typeface="맑은 고딕"/>
              </a:rPr>
              <a:t>데이터</a:t>
            </a:r>
            <a:r>
              <a:rPr sz="1400" dirty="0">
                <a:solidFill>
                  <a:srgbClr val="555577"/>
                </a:solidFill>
                <a:latin typeface="맑은 고딕"/>
              </a:rPr>
              <a:t> (</a:t>
            </a:r>
            <a:r>
              <a:rPr sz="1400" dirty="0" err="1">
                <a:solidFill>
                  <a:srgbClr val="555577"/>
                </a:solidFill>
                <a:latin typeface="맑은 고딕"/>
              </a:rPr>
              <a:t>단말</a:t>
            </a:r>
            <a:r>
              <a:rPr sz="14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77"/>
                </a:solidFill>
                <a:latin typeface="맑은 고딕"/>
              </a:rPr>
              <a:t>한도</a:t>
            </a:r>
            <a:r>
              <a:rPr sz="1400" dirty="0">
                <a:solidFill>
                  <a:srgbClr val="555577"/>
                </a:solidFill>
                <a:latin typeface="맑은 고딕"/>
              </a:rPr>
              <a:t>, </a:t>
            </a:r>
            <a:r>
              <a:rPr sz="1400" dirty="0" err="1">
                <a:solidFill>
                  <a:srgbClr val="555577"/>
                </a:solidFill>
                <a:latin typeface="맑은 고딕"/>
              </a:rPr>
              <a:t>타임아웃</a:t>
            </a:r>
            <a:r>
              <a:rPr sz="1400" dirty="0">
                <a:solidFill>
                  <a:srgbClr val="555577"/>
                </a:solidFill>
                <a:latin typeface="맑은 고딕"/>
              </a:rPr>
              <a:t> 등)</a:t>
            </a:r>
          </a:p>
          <a:p>
            <a:pPr lvl="1">
              <a:lnSpc>
                <a:spcPct val="250000"/>
              </a:lnSpc>
            </a:pPr>
            <a:r>
              <a:rPr sz="1400" dirty="0">
                <a:solidFill>
                  <a:srgbClr val="555577"/>
                </a:solidFill>
                <a:latin typeface="맑은 고딕"/>
              </a:rPr>
              <a:t>  – </a:t>
            </a:r>
            <a:r>
              <a:rPr sz="1400" dirty="0" err="1">
                <a:solidFill>
                  <a:srgbClr val="555577"/>
                </a:solidFill>
                <a:latin typeface="맑은 고딕"/>
              </a:rPr>
              <a:t>트랜잭션</a:t>
            </a:r>
            <a:r>
              <a:rPr sz="14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77"/>
                </a:solidFill>
                <a:latin typeface="맑은 고딕"/>
              </a:rPr>
              <a:t>시작</a:t>
            </a:r>
            <a:r>
              <a:rPr sz="1400" dirty="0">
                <a:solidFill>
                  <a:srgbClr val="555577"/>
                </a:solidFill>
                <a:latin typeface="맑은 고딕"/>
              </a:rPr>
              <a:t> 시 </a:t>
            </a:r>
            <a:r>
              <a:rPr sz="1400" dirty="0" err="1">
                <a:solidFill>
                  <a:srgbClr val="555577"/>
                </a:solidFill>
                <a:latin typeface="맑은 고딕"/>
              </a:rPr>
              <a:t>임시</a:t>
            </a:r>
            <a:r>
              <a:rPr sz="14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77"/>
                </a:solidFill>
                <a:latin typeface="맑은 고딕"/>
              </a:rPr>
              <a:t>복사본</a:t>
            </a:r>
            <a:r>
              <a:rPr sz="14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77"/>
                </a:solidFill>
                <a:latin typeface="맑은 고딕"/>
              </a:rPr>
              <a:t>생성</a:t>
            </a:r>
            <a:endParaRPr sz="14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250000"/>
              </a:lnSpc>
            </a:pPr>
            <a:r>
              <a:rPr sz="1400" dirty="0">
                <a:solidFill>
                  <a:srgbClr val="555577"/>
                </a:solidFill>
                <a:latin typeface="맑은 고딕"/>
              </a:rPr>
              <a:t>  – 약 180개 </a:t>
            </a:r>
            <a:r>
              <a:rPr sz="1400" dirty="0" err="1">
                <a:solidFill>
                  <a:srgbClr val="555577"/>
                </a:solidFill>
                <a:latin typeface="맑은 고딕"/>
              </a:rPr>
              <a:t>데이터</a:t>
            </a:r>
            <a:r>
              <a:rPr sz="14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77"/>
                </a:solidFill>
                <a:latin typeface="맑은 고딕"/>
              </a:rPr>
              <a:t>오브젝트</a:t>
            </a:r>
            <a:r>
              <a:rPr sz="14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400" dirty="0" err="1" smtClean="0">
                <a:solidFill>
                  <a:srgbClr val="555577"/>
                </a:solidFill>
                <a:latin typeface="맑은 고딕"/>
              </a:rPr>
              <a:t>포함</a:t>
            </a:r>
            <a:endParaRPr sz="1400" dirty="0">
              <a:solidFill>
                <a:srgbClr val="555577"/>
              </a:solidFill>
              <a:latin typeface="맑은 고딕"/>
            </a:endParaRPr>
          </a:p>
          <a:p>
            <a:pPr>
              <a:lnSpc>
                <a:spcPct val="250000"/>
              </a:lnSpc>
            </a:pPr>
            <a:r>
              <a:rPr sz="1600" b="1" dirty="0">
                <a:solidFill>
                  <a:srgbClr val="444455"/>
                </a:solidFill>
                <a:latin typeface="맑은 고딕"/>
              </a:rPr>
              <a:t>• CA Public Keys</a:t>
            </a:r>
          </a:p>
          <a:p>
            <a:pPr lvl="1">
              <a:lnSpc>
                <a:spcPct val="250000"/>
              </a:lnSpc>
            </a:pPr>
            <a:r>
              <a:rPr sz="1400" dirty="0">
                <a:solidFill>
                  <a:srgbClr val="555577"/>
                </a:solidFill>
                <a:latin typeface="맑은 고딕"/>
              </a:rPr>
              <a:t>  – </a:t>
            </a:r>
            <a:r>
              <a:rPr sz="1400" dirty="0" err="1">
                <a:solidFill>
                  <a:srgbClr val="555577"/>
                </a:solidFill>
                <a:latin typeface="맑은 고딕"/>
              </a:rPr>
              <a:t>RID별</a:t>
            </a:r>
            <a:r>
              <a:rPr sz="14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77"/>
                </a:solidFill>
                <a:latin typeface="맑은 고딕"/>
              </a:rPr>
              <a:t>최소</a:t>
            </a:r>
            <a:r>
              <a:rPr sz="1400" dirty="0">
                <a:solidFill>
                  <a:srgbClr val="555577"/>
                </a:solidFill>
                <a:latin typeface="맑은 고딕"/>
              </a:rPr>
              <a:t> 6개 키 </a:t>
            </a:r>
            <a:r>
              <a:rPr sz="1400" dirty="0" err="1">
                <a:solidFill>
                  <a:srgbClr val="555577"/>
                </a:solidFill>
                <a:latin typeface="맑은 고딕"/>
              </a:rPr>
              <a:t>저장</a:t>
            </a:r>
            <a:r>
              <a:rPr sz="14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77"/>
                </a:solidFill>
                <a:latin typeface="맑은 고딕"/>
              </a:rPr>
              <a:t>가능</a:t>
            </a:r>
            <a:endParaRPr sz="14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250000"/>
              </a:lnSpc>
            </a:pPr>
            <a:r>
              <a:rPr sz="1400" dirty="0">
                <a:solidFill>
                  <a:srgbClr val="555577"/>
                </a:solidFill>
                <a:latin typeface="맑은 고딕"/>
              </a:rPr>
              <a:t>  – Index, </a:t>
            </a:r>
            <a:r>
              <a:rPr sz="1400" dirty="0" err="1">
                <a:solidFill>
                  <a:srgbClr val="555577"/>
                </a:solidFill>
                <a:latin typeface="맑은 고딕"/>
              </a:rPr>
              <a:t>모듈러스</a:t>
            </a:r>
            <a:r>
              <a:rPr sz="1400" dirty="0">
                <a:solidFill>
                  <a:srgbClr val="555577"/>
                </a:solidFill>
                <a:latin typeface="맑은 고딕"/>
              </a:rPr>
              <a:t>, </a:t>
            </a:r>
            <a:r>
              <a:rPr sz="1400" dirty="0" err="1">
                <a:solidFill>
                  <a:srgbClr val="555577"/>
                </a:solidFill>
                <a:latin typeface="맑은 고딕"/>
              </a:rPr>
              <a:t>지수</a:t>
            </a:r>
            <a:r>
              <a:rPr sz="14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77"/>
                </a:solidFill>
                <a:latin typeface="맑은 고딕"/>
              </a:rPr>
              <a:t>포함</a:t>
            </a:r>
            <a:endParaRPr sz="14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250000"/>
              </a:lnSpc>
            </a:pPr>
            <a:r>
              <a:rPr sz="1400" dirty="0">
                <a:solidFill>
                  <a:srgbClr val="555577"/>
                </a:solidFill>
                <a:latin typeface="맑은 고딕"/>
              </a:rPr>
              <a:t>  – AID 간 RID </a:t>
            </a:r>
            <a:r>
              <a:rPr sz="1400" dirty="0" err="1">
                <a:solidFill>
                  <a:srgbClr val="555577"/>
                </a:solidFill>
                <a:latin typeface="맑은 고딕"/>
              </a:rPr>
              <a:t>공유</a:t>
            </a:r>
            <a:r>
              <a:rPr sz="14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77"/>
                </a:solidFill>
                <a:latin typeface="맑은 고딕"/>
              </a:rPr>
              <a:t>가능</a:t>
            </a:r>
            <a:endParaRPr sz="1400" dirty="0">
              <a:solidFill>
                <a:srgbClr val="555577"/>
              </a:solidFill>
              <a:latin typeface="맑은 고딕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035040" y="1188720"/>
            <a:ext cx="585216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35040" y="1188720"/>
            <a:ext cx="58521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72200" y="123444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3E"/>
                </a:solidFill>
                <a:latin typeface="맑은 고딕"/>
              </a:rPr>
              <a:t>CRL &amp; Scratch Pad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42878" y="1600200"/>
            <a:ext cx="5577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 b="1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b="1" dirty="0" err="1">
                <a:solidFill>
                  <a:srgbClr val="444455"/>
                </a:solidFill>
                <a:latin typeface="맑은 고딕"/>
              </a:rPr>
              <a:t>인증서</a:t>
            </a:r>
            <a:r>
              <a:rPr sz="1400" b="1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444455"/>
                </a:solidFill>
                <a:latin typeface="맑은 고딕"/>
              </a:rPr>
              <a:t>폐기</a:t>
            </a:r>
            <a:r>
              <a:rPr sz="1400" b="1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444455"/>
                </a:solidFill>
                <a:latin typeface="맑은 고딕"/>
              </a:rPr>
              <a:t>목록</a:t>
            </a:r>
            <a:r>
              <a:rPr sz="1400" b="1" dirty="0">
                <a:solidFill>
                  <a:srgbClr val="444455"/>
                </a:solidFill>
                <a:latin typeface="맑은 고딕"/>
              </a:rPr>
              <a:t> (CRL)</a:t>
            </a: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CAPublicKey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Index + Serial No.</a:t>
            </a: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폐기된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발급사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인증서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확인에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사용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>
              <a:lnSpc>
                <a:spcPct val="150000"/>
              </a:lnSpc>
            </a:pPr>
            <a:r>
              <a:rPr sz="1400" b="1" dirty="0">
                <a:solidFill>
                  <a:srgbClr val="444455"/>
                </a:solidFill>
                <a:latin typeface="맑은 고딕"/>
              </a:rPr>
              <a:t>• Scratch Pad</a:t>
            </a: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Kernel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내부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임시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연산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공간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트랜잭션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간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초기화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필요</a:t>
            </a:r>
            <a:endParaRPr sz="1300" dirty="0">
              <a:solidFill>
                <a:srgbClr val="555577"/>
              </a:solidFill>
              <a:latin typeface="맑은 고딕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035040" y="3794760"/>
            <a:ext cx="585216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35040" y="3794760"/>
            <a:ext cx="58521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72200" y="384048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3E"/>
                </a:solidFill>
                <a:latin typeface="맑은 고딕"/>
              </a:rPr>
              <a:t>Torn Log &amp; 데이터 권한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42878" y="4206240"/>
            <a:ext cx="557784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 b="1" dirty="0">
                <a:solidFill>
                  <a:srgbClr val="444455"/>
                </a:solidFill>
                <a:latin typeface="맑은 고딕"/>
              </a:rPr>
              <a:t>• Torn Transaction Log</a:t>
            </a:r>
          </a:p>
          <a:p>
            <a:pPr lvl="1">
              <a:lnSpc>
                <a:spcPct val="150000"/>
              </a:lnSpc>
            </a:pPr>
            <a:r>
              <a:rPr sz="1200" dirty="0">
                <a:solidFill>
                  <a:srgbClr val="555577"/>
                </a:solidFill>
                <a:latin typeface="맑은 고딕"/>
              </a:rPr>
              <a:t>  – </a:t>
            </a:r>
            <a:r>
              <a:rPr sz="1200" dirty="0" err="1">
                <a:solidFill>
                  <a:srgbClr val="555577"/>
                </a:solidFill>
                <a:latin typeface="맑은 고딕"/>
              </a:rPr>
              <a:t>중단된</a:t>
            </a:r>
            <a:r>
              <a:rPr sz="12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555577"/>
                </a:solidFill>
                <a:latin typeface="맑은 고딕"/>
              </a:rPr>
              <a:t>트랜잭션</a:t>
            </a:r>
            <a:r>
              <a:rPr sz="12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555577"/>
                </a:solidFill>
                <a:latin typeface="맑은 고딕"/>
              </a:rPr>
              <a:t>복구용</a:t>
            </a:r>
            <a:r>
              <a:rPr sz="12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555577"/>
                </a:solidFill>
                <a:latin typeface="맑은 고딕"/>
              </a:rPr>
              <a:t>로그</a:t>
            </a:r>
            <a:endParaRPr sz="12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r>
              <a:rPr sz="1200" dirty="0">
                <a:solidFill>
                  <a:srgbClr val="555577"/>
                </a:solidFill>
                <a:latin typeface="맑은 고딕"/>
              </a:rPr>
              <a:t>  – </a:t>
            </a:r>
            <a:r>
              <a:rPr sz="1200" dirty="0" err="1">
                <a:solidFill>
                  <a:srgbClr val="555577"/>
                </a:solidFill>
                <a:latin typeface="맑은 고딕"/>
              </a:rPr>
              <a:t>최대</a:t>
            </a:r>
            <a:r>
              <a:rPr sz="12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555577"/>
                </a:solidFill>
                <a:latin typeface="맑은 고딕"/>
              </a:rPr>
              <a:t>N개</a:t>
            </a:r>
            <a:r>
              <a:rPr sz="12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555577"/>
                </a:solidFill>
                <a:latin typeface="맑은 고딕"/>
              </a:rPr>
              <a:t>항목</a:t>
            </a:r>
            <a:r>
              <a:rPr sz="1200" dirty="0">
                <a:solidFill>
                  <a:srgbClr val="555577"/>
                </a:solidFill>
                <a:latin typeface="맑은 고딕"/>
              </a:rPr>
              <a:t> (</a:t>
            </a:r>
            <a:r>
              <a:rPr sz="1200" dirty="0" err="1">
                <a:solidFill>
                  <a:srgbClr val="555577"/>
                </a:solidFill>
                <a:latin typeface="맑은 고딕"/>
              </a:rPr>
              <a:t>구현</a:t>
            </a:r>
            <a:r>
              <a:rPr sz="12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555577"/>
                </a:solidFill>
                <a:latin typeface="맑은 고딕"/>
              </a:rPr>
              <a:t>정의</a:t>
            </a:r>
            <a:r>
              <a:rPr sz="1200" dirty="0">
                <a:solidFill>
                  <a:srgbClr val="555577"/>
                </a:solidFill>
                <a:latin typeface="맑은 고딕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sz="1200" dirty="0">
                <a:solidFill>
                  <a:srgbClr val="555577"/>
                </a:solidFill>
                <a:latin typeface="맑은 고딕"/>
              </a:rPr>
              <a:t>  – </a:t>
            </a:r>
            <a:r>
              <a:rPr sz="1200" dirty="0" err="1">
                <a:solidFill>
                  <a:srgbClr val="555577"/>
                </a:solidFill>
                <a:latin typeface="맑은 고딕"/>
              </a:rPr>
              <a:t>카드</a:t>
            </a:r>
            <a:r>
              <a:rPr sz="12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555577"/>
                </a:solidFill>
                <a:latin typeface="맑은 고딕"/>
              </a:rPr>
              <a:t>재접촉</a:t>
            </a:r>
            <a:r>
              <a:rPr sz="1200" dirty="0">
                <a:solidFill>
                  <a:srgbClr val="555577"/>
                </a:solidFill>
                <a:latin typeface="맑은 고딕"/>
              </a:rPr>
              <a:t> 시 RECOVER AC </a:t>
            </a:r>
            <a:r>
              <a:rPr sz="1200" dirty="0" err="1">
                <a:solidFill>
                  <a:srgbClr val="555577"/>
                </a:solidFill>
                <a:latin typeface="맑은 고딕"/>
              </a:rPr>
              <a:t>사용</a:t>
            </a:r>
            <a:endParaRPr sz="1200" dirty="0">
              <a:solidFill>
                <a:srgbClr val="555577"/>
              </a:solidFill>
              <a:latin typeface="맑은 고딕"/>
            </a:endParaRPr>
          </a:p>
          <a:p>
            <a:pPr>
              <a:lnSpc>
                <a:spcPct val="1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b="1" dirty="0" err="1">
                <a:solidFill>
                  <a:srgbClr val="444455"/>
                </a:solidFill>
                <a:latin typeface="맑은 고딕"/>
              </a:rPr>
              <a:t>데이터</a:t>
            </a:r>
            <a:r>
              <a:rPr sz="1400" b="1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444455"/>
                </a:solidFill>
                <a:latin typeface="맑은 고딕"/>
              </a:rPr>
              <a:t>카테고리별</a:t>
            </a:r>
            <a:r>
              <a:rPr sz="1400" b="1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444455"/>
                </a:solidFill>
                <a:latin typeface="맑은 고딕"/>
              </a:rPr>
              <a:t>쓰기</a:t>
            </a:r>
            <a:r>
              <a:rPr sz="1400" b="1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444455"/>
                </a:solidFill>
                <a:latin typeface="맑은 고딕"/>
              </a:rPr>
              <a:t>권한</a:t>
            </a:r>
            <a:endParaRPr sz="1400" b="1" dirty="0">
              <a:solidFill>
                <a:srgbClr val="444455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r>
              <a:rPr sz="1200" dirty="0">
                <a:solidFill>
                  <a:srgbClr val="555577"/>
                </a:solidFill>
                <a:latin typeface="맑은 고딕"/>
              </a:rPr>
              <a:t>  – Kernel </a:t>
            </a:r>
            <a:r>
              <a:rPr sz="1200" dirty="0" err="1">
                <a:solidFill>
                  <a:srgbClr val="555577"/>
                </a:solidFill>
                <a:latin typeface="맑은 고딕"/>
              </a:rPr>
              <a:t>전용</a:t>
            </a:r>
            <a:r>
              <a:rPr sz="1200" dirty="0">
                <a:solidFill>
                  <a:srgbClr val="555577"/>
                </a:solidFill>
                <a:latin typeface="맑은 고딕"/>
              </a:rPr>
              <a:t> / </a:t>
            </a:r>
            <a:r>
              <a:rPr sz="1200" dirty="0" err="1">
                <a:solidFill>
                  <a:srgbClr val="555577"/>
                </a:solidFill>
                <a:latin typeface="맑은 고딕"/>
              </a:rPr>
              <a:t>카드</a:t>
            </a:r>
            <a:r>
              <a:rPr sz="12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555577"/>
                </a:solidFill>
                <a:latin typeface="맑은 고딕"/>
              </a:rPr>
              <a:t>전용</a:t>
            </a:r>
            <a:endParaRPr sz="12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r>
              <a:rPr sz="1200" dirty="0">
                <a:solidFill>
                  <a:srgbClr val="555577"/>
                </a:solidFill>
                <a:latin typeface="맑은 고딕"/>
              </a:rPr>
              <a:t>  – Terminal </a:t>
            </a:r>
            <a:r>
              <a:rPr sz="1200" dirty="0" err="1">
                <a:solidFill>
                  <a:srgbClr val="555577"/>
                </a:solidFill>
                <a:latin typeface="맑은 고딕"/>
              </a:rPr>
              <a:t>전용</a:t>
            </a:r>
            <a:r>
              <a:rPr sz="1200" dirty="0">
                <a:solidFill>
                  <a:srgbClr val="555577"/>
                </a:solidFill>
                <a:latin typeface="맑은 고딕"/>
              </a:rPr>
              <a:t> / Kernel + Terminal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086100"/>
            <a:ext cx="12191695" cy="109728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맑은 고딕"/>
              </a:rPr>
              <a:t>5. Kernel 2 기능 및 구현·설정 옵션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Kernel 2 주요 기능 요약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3152865"/>
              </p:ext>
            </p:extLst>
          </p:nvPr>
        </p:nvGraphicFramePr>
        <p:xfrm>
          <a:off x="365760" y="1188720"/>
          <a:ext cx="1143000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7589520"/>
                <a:gridCol w="1097280"/>
              </a:tblGrid>
              <a:tr h="544068"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기능</a:t>
                      </a:r>
                      <a:endParaRPr sz="1300" b="1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섹션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</a:tr>
              <a:tr h="544068">
                <a:tc>
                  <a:txBody>
                    <a:bodyPr/>
                    <a:lstStyle/>
                    <a:p>
                      <a:pPr algn="ctr"/>
                      <a:r>
                        <a:rPr sz="1300" dirty="0" err="1">
                          <a:latin typeface="맑은 고딕"/>
                        </a:rPr>
                        <a:t>트랜잭션</a:t>
                      </a:r>
                      <a:r>
                        <a:rPr sz="1300" dirty="0">
                          <a:latin typeface="맑은 고딕"/>
                        </a:rPr>
                        <a:t> </a:t>
                      </a:r>
                      <a:r>
                        <a:rPr sz="1300" dirty="0" err="1">
                          <a:latin typeface="맑은 고딕"/>
                        </a:rPr>
                        <a:t>모드</a:t>
                      </a:r>
                      <a:endParaRPr sz="1300" dirty="0">
                        <a:latin typeface="맑은 고딕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latin typeface="맑은 고딕"/>
                        </a:rPr>
                        <a:t>Mag-Stripe 모드 / EMV 모드 지원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맑은 고딕"/>
                        </a:rPr>
                        <a:t>3.5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4068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맑은 고딕"/>
                        </a:rPr>
                        <a:t>CVM (카드소지자 인증)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latin typeface="맑은 고딕"/>
                        </a:rPr>
                        <a:t>Online PIN, No CVM, Mobile CVM 등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맑은 고딕"/>
                        </a:rPr>
                        <a:t>3.5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544068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맑은 고딕"/>
                        </a:rPr>
                        <a:t>Data Exchange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latin typeface="맑은 고딕"/>
                        </a:rPr>
                        <a:t>DEK/DET Signal로 Terminal ↔ Kernel 데이터 교환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맑은 고딕"/>
                        </a:rPr>
                        <a:t>3.6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4068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맑은 고딕"/>
                        </a:rPr>
                        <a:t>Data Storage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latin typeface="맑은 고딕"/>
                        </a:rPr>
                        <a:t>카드에 데이터 읽기/쓰기 (SDS / IDS)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맑은 고딕"/>
                        </a:rPr>
                        <a:t>3.7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544068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맑은 고딕"/>
                        </a:rPr>
                        <a:t>Torn Transaction Recovery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latin typeface="맑은 고딕"/>
                        </a:rPr>
                        <a:t>카드 이탈 후 재접촉 시 트랜잭션 복구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맑은 고딕"/>
                        </a:rPr>
                        <a:t>3.8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4068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맑은 고딕"/>
                        </a:rPr>
                        <a:t>Mobile 트랜잭션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latin typeface="맑은 고딕"/>
                        </a:rPr>
                        <a:t>휴대폰 기기의 CVM 처리 지원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맑은 고딕"/>
                        </a:rPr>
                        <a:t>3.9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544068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맑은 고딕"/>
                        </a:rPr>
                        <a:t>Balance Reading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latin typeface="맑은 고딕"/>
                        </a:rPr>
                        <a:t>카드 오프라인 잔액 조회 및 표시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맑은 고딕"/>
                        </a:rPr>
                        <a:t>3.10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4068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맑은 고딕"/>
                        </a:rPr>
                        <a:t>Relay Resistance Protocol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latin typeface="맑은 고딕"/>
                        </a:rPr>
                        <a:t>릴레이 공격 방어 (타이밍 측정 기반)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맑은 고딕"/>
                        </a:rPr>
                        <a:t>3.11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544068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맑은 고딕"/>
                        </a:rPr>
                        <a:t>Non-CDA 최적화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latin typeface="맑은 고딕"/>
                        </a:rPr>
                        <a:t>CDA 불필요 시 레코드 읽기 최소화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dirty="0">
                          <a:latin typeface="맑은 고딕"/>
                        </a:rPr>
                        <a:t>3.12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구현 옵션 &amp; 설정 옵션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48640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48640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3E"/>
                </a:solidFill>
                <a:latin typeface="맑은 고딕"/>
              </a:rPr>
              <a:t>구현 옵션 (Implementation Options)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00200"/>
            <a:ext cx="521208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b="1" dirty="0">
                <a:solidFill>
                  <a:srgbClr val="444455"/>
                </a:solidFill>
                <a:latin typeface="맑은 고딕"/>
              </a:rPr>
              <a:t>MAG </a:t>
            </a:r>
            <a:r>
              <a:rPr sz="1400" b="1" dirty="0" err="1">
                <a:solidFill>
                  <a:srgbClr val="444455"/>
                </a:solidFill>
                <a:latin typeface="맑은 고딕"/>
              </a:rPr>
              <a:t>구현</a:t>
            </a:r>
            <a:r>
              <a:rPr sz="1400" b="1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444455"/>
                </a:solidFill>
                <a:latin typeface="맑은 고딕"/>
              </a:rPr>
              <a:t>옵션</a:t>
            </a:r>
            <a:endParaRPr sz="1400" b="1" dirty="0">
              <a:solidFill>
                <a:srgbClr val="444455"/>
              </a:solidFill>
              <a:latin typeface="맑은 고딕"/>
            </a:endParaRPr>
          </a:p>
          <a:p>
            <a:pPr lvl="1"/>
            <a:r>
              <a:rPr sz="1300" dirty="0">
                <a:solidFill>
                  <a:srgbClr val="555577"/>
                </a:solidFill>
                <a:latin typeface="맑은 고딕"/>
              </a:rPr>
              <a:t>  – Track 1 / Track 2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형식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데이터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생성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 lvl="1"/>
            <a:r>
              <a:rPr sz="1300" dirty="0">
                <a:solidFill>
                  <a:srgbClr val="555577"/>
                </a:solidFill>
                <a:latin typeface="맑은 고딕"/>
              </a:rPr>
              <a:t>  –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마그네틱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스트라이프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방식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승인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흐름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 lvl="1"/>
            <a:r>
              <a:rPr sz="1300" dirty="0">
                <a:solidFill>
                  <a:srgbClr val="555577"/>
                </a:solidFill>
                <a:latin typeface="맑은 고딕"/>
              </a:rPr>
              <a:t>  –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비교적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단순한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처리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 smtClean="0">
                <a:solidFill>
                  <a:srgbClr val="555577"/>
                </a:solidFill>
                <a:latin typeface="맑은 고딕"/>
              </a:rPr>
              <a:t>구조</a:t>
            </a:r>
            <a:endParaRPr lang="en-US" sz="1300" dirty="0" smtClean="0">
              <a:solidFill>
                <a:srgbClr val="555577"/>
              </a:solidFill>
              <a:latin typeface="맑은 고딕"/>
            </a:endParaRPr>
          </a:p>
          <a:p>
            <a:pPr lvl="1"/>
            <a:endParaRPr lang="en-US" sz="1300" dirty="0">
              <a:solidFill>
                <a:srgbClr val="555577"/>
              </a:solidFill>
              <a:latin typeface="맑은 고딕"/>
            </a:endParaRPr>
          </a:p>
          <a:p>
            <a:pPr lvl="1"/>
            <a:endParaRPr sz="1300" dirty="0">
              <a:solidFill>
                <a:srgbClr val="555577"/>
              </a:solidFill>
              <a:latin typeface="맑은 고딕"/>
            </a:endParaRPr>
          </a:p>
          <a:p>
            <a:r>
              <a:rPr sz="1400" b="1" dirty="0">
                <a:solidFill>
                  <a:srgbClr val="444455"/>
                </a:solidFill>
                <a:latin typeface="맑은 고딕"/>
              </a:rPr>
              <a:t>• EMV </a:t>
            </a:r>
            <a:r>
              <a:rPr sz="1400" b="1" dirty="0" err="1">
                <a:solidFill>
                  <a:srgbClr val="444455"/>
                </a:solidFill>
                <a:latin typeface="맑은 고딕"/>
              </a:rPr>
              <a:t>구현</a:t>
            </a:r>
            <a:r>
              <a:rPr sz="1400" b="1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444455"/>
                </a:solidFill>
                <a:latin typeface="맑은 고딕"/>
              </a:rPr>
              <a:t>옵션</a:t>
            </a:r>
            <a:endParaRPr sz="1400" b="1" dirty="0">
              <a:solidFill>
                <a:srgbClr val="444455"/>
              </a:solidFill>
              <a:latin typeface="맑은 고딕"/>
            </a:endParaRPr>
          </a:p>
          <a:p>
            <a:pPr lvl="1"/>
            <a:r>
              <a:rPr sz="1300" dirty="0">
                <a:solidFill>
                  <a:srgbClr val="555577"/>
                </a:solidFill>
                <a:latin typeface="맑은 고딕"/>
              </a:rPr>
              <a:t>  –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오프라인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데이터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인증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(SDA/DDA/CDA)</a:t>
            </a:r>
          </a:p>
          <a:p>
            <a:pPr lvl="1"/>
            <a:r>
              <a:rPr sz="1300" dirty="0">
                <a:solidFill>
                  <a:srgbClr val="555577"/>
                </a:solidFill>
                <a:latin typeface="맑은 고딕"/>
              </a:rPr>
              <a:t>  – ARQC/TC/AAC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암호학적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인증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 lvl="1"/>
            <a:r>
              <a:rPr sz="1300" dirty="0">
                <a:solidFill>
                  <a:srgbClr val="555577"/>
                </a:solidFill>
                <a:latin typeface="맑은 고딕"/>
              </a:rPr>
              <a:t>  – Data Storage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기능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포함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(IDS/SDS)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188720"/>
            <a:ext cx="585216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35040" y="1188720"/>
            <a:ext cx="58521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72200" y="123444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3E"/>
                </a:solidFill>
                <a:latin typeface="맑은 고딕"/>
              </a:rPr>
              <a:t>설정 옵션 (Configuration Options)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600200"/>
            <a:ext cx="557784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200" dirty="0">
                <a:solidFill>
                  <a:srgbClr val="444455"/>
                </a:solidFill>
                <a:latin typeface="맑은 고딕"/>
              </a:rPr>
              <a:t>• Kernel </a:t>
            </a:r>
            <a:r>
              <a:rPr sz="1200" dirty="0" smtClean="0">
                <a:solidFill>
                  <a:srgbClr val="444455"/>
                </a:solidFill>
                <a:latin typeface="맑은 고딕"/>
              </a:rPr>
              <a:t>Configuration</a:t>
            </a:r>
            <a:r>
              <a:rPr lang="en-US" sz="1200" dirty="0" smtClean="0">
                <a:solidFill>
                  <a:srgbClr val="444455"/>
                </a:solidFill>
                <a:latin typeface="맑은 고딕"/>
              </a:rPr>
              <a:t> </a:t>
            </a:r>
            <a:r>
              <a:rPr lang="en-US" altLang="ko-KR" sz="1200" dirty="0" smtClean="0">
                <a:solidFill>
                  <a:srgbClr val="444455"/>
                </a:solidFill>
                <a:latin typeface="맑은 고딕"/>
              </a:rPr>
              <a:t>—</a:t>
            </a:r>
            <a:r>
              <a:rPr sz="1200" dirty="0" smtClean="0">
                <a:solidFill>
                  <a:srgbClr val="444455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444455"/>
                </a:solidFill>
                <a:latin typeface="맑은 고딕"/>
              </a:rPr>
              <a:t>비트</a:t>
            </a:r>
            <a:r>
              <a:rPr sz="12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444455"/>
                </a:solidFill>
                <a:latin typeface="맑은 고딕"/>
              </a:rPr>
              <a:t>플래그로</a:t>
            </a:r>
            <a:r>
              <a:rPr sz="12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444455"/>
                </a:solidFill>
                <a:latin typeface="맑은 고딕"/>
              </a:rPr>
              <a:t>활성화</a:t>
            </a:r>
            <a:endParaRPr sz="12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150000"/>
              </a:lnSpc>
            </a:pPr>
            <a:r>
              <a:rPr sz="1200" dirty="0">
                <a:solidFill>
                  <a:srgbClr val="444455"/>
                </a:solidFill>
                <a:latin typeface="맑은 고딕"/>
              </a:rPr>
              <a:t>• CDA </a:t>
            </a:r>
            <a:r>
              <a:rPr sz="1200" dirty="0" err="1">
                <a:solidFill>
                  <a:srgbClr val="444455"/>
                </a:solidFill>
                <a:latin typeface="맑은 고딕"/>
              </a:rPr>
              <a:t>지원</a:t>
            </a:r>
            <a:r>
              <a:rPr sz="1200" dirty="0">
                <a:solidFill>
                  <a:srgbClr val="444455"/>
                </a:solidFill>
                <a:latin typeface="맑은 고딕"/>
              </a:rPr>
              <a:t> — CDA </a:t>
            </a:r>
            <a:r>
              <a:rPr sz="1200" dirty="0" err="1">
                <a:solidFill>
                  <a:srgbClr val="444455"/>
                </a:solidFill>
                <a:latin typeface="맑은 고딕"/>
              </a:rPr>
              <a:t>수행</a:t>
            </a:r>
            <a:r>
              <a:rPr sz="12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444455"/>
                </a:solidFill>
                <a:latin typeface="맑은 고딕"/>
              </a:rPr>
              <a:t>여부</a:t>
            </a:r>
            <a:r>
              <a:rPr sz="1200" dirty="0">
                <a:solidFill>
                  <a:srgbClr val="444455"/>
                </a:solidFill>
                <a:latin typeface="맑은 고딕"/>
              </a:rPr>
              <a:t> (</a:t>
            </a:r>
            <a:r>
              <a:rPr sz="1200" dirty="0" err="1">
                <a:solidFill>
                  <a:srgbClr val="444455"/>
                </a:solidFill>
                <a:latin typeface="맑은 고딕"/>
              </a:rPr>
              <a:t>EMV만</a:t>
            </a:r>
            <a:r>
              <a:rPr sz="1200" dirty="0">
                <a:solidFill>
                  <a:srgbClr val="444455"/>
                </a:solidFill>
                <a:latin typeface="맑은 고딕"/>
              </a:rPr>
              <a:t>)</a:t>
            </a:r>
          </a:p>
          <a:p>
            <a:pPr>
              <a:lnSpc>
                <a:spcPct val="150000"/>
              </a:lnSpc>
            </a:pPr>
            <a:r>
              <a:rPr sz="1200" dirty="0">
                <a:solidFill>
                  <a:srgbClr val="444455"/>
                </a:solidFill>
                <a:latin typeface="맑은 고딕"/>
              </a:rPr>
              <a:t>• Mag-Stripe — Mag-Stripe Mode </a:t>
            </a:r>
            <a:r>
              <a:rPr sz="1200" dirty="0" err="1">
                <a:solidFill>
                  <a:srgbClr val="444455"/>
                </a:solidFill>
                <a:latin typeface="맑은 고딕"/>
              </a:rPr>
              <a:t>활성화</a:t>
            </a:r>
            <a:r>
              <a:rPr sz="12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444455"/>
                </a:solidFill>
                <a:latin typeface="맑은 고딕"/>
              </a:rPr>
              <a:t>여부</a:t>
            </a:r>
            <a:endParaRPr sz="12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150000"/>
              </a:lnSpc>
            </a:pPr>
            <a:r>
              <a:rPr sz="1200" dirty="0">
                <a:solidFill>
                  <a:srgbClr val="444455"/>
                </a:solidFill>
                <a:latin typeface="맑은 고딕"/>
              </a:rPr>
              <a:t>• SDS </a:t>
            </a:r>
            <a:r>
              <a:rPr sz="1200" dirty="0" err="1">
                <a:solidFill>
                  <a:srgbClr val="444455"/>
                </a:solidFill>
                <a:latin typeface="맑은 고딕"/>
              </a:rPr>
              <a:t>지원</a:t>
            </a:r>
            <a:r>
              <a:rPr sz="1200" dirty="0">
                <a:solidFill>
                  <a:srgbClr val="444455"/>
                </a:solidFill>
                <a:latin typeface="맑은 고딕"/>
              </a:rPr>
              <a:t> — Standalone Data Storage</a:t>
            </a:r>
          </a:p>
          <a:p>
            <a:pPr>
              <a:lnSpc>
                <a:spcPct val="150000"/>
              </a:lnSpc>
            </a:pPr>
            <a:r>
              <a:rPr sz="1200" dirty="0">
                <a:solidFill>
                  <a:srgbClr val="444455"/>
                </a:solidFill>
                <a:latin typeface="맑은 고딕"/>
              </a:rPr>
              <a:t>• IDS </a:t>
            </a:r>
            <a:r>
              <a:rPr sz="1200" dirty="0" err="1">
                <a:solidFill>
                  <a:srgbClr val="444455"/>
                </a:solidFill>
                <a:latin typeface="맑은 고딕"/>
              </a:rPr>
              <a:t>지원</a:t>
            </a:r>
            <a:r>
              <a:rPr sz="1200" dirty="0">
                <a:solidFill>
                  <a:srgbClr val="444455"/>
                </a:solidFill>
                <a:latin typeface="맑은 고딕"/>
              </a:rPr>
              <a:t> — Integrated Data Storage</a:t>
            </a:r>
          </a:p>
          <a:p>
            <a:pPr>
              <a:lnSpc>
                <a:spcPct val="150000"/>
              </a:lnSpc>
            </a:pPr>
            <a:r>
              <a:rPr sz="1200" dirty="0">
                <a:solidFill>
                  <a:srgbClr val="444455"/>
                </a:solidFill>
                <a:latin typeface="맑은 고딕"/>
              </a:rPr>
              <a:t>• Balance Reading — </a:t>
            </a:r>
            <a:r>
              <a:rPr sz="1200" dirty="0" err="1">
                <a:solidFill>
                  <a:srgbClr val="444455"/>
                </a:solidFill>
                <a:latin typeface="맑은 고딕"/>
              </a:rPr>
              <a:t>잔액</a:t>
            </a:r>
            <a:r>
              <a:rPr sz="12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444455"/>
                </a:solidFill>
                <a:latin typeface="맑은 고딕"/>
              </a:rPr>
              <a:t>조회</a:t>
            </a:r>
            <a:r>
              <a:rPr sz="12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444455"/>
                </a:solidFill>
                <a:latin typeface="맑은 고딕"/>
              </a:rPr>
              <a:t>활성화</a:t>
            </a:r>
            <a:endParaRPr sz="12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150000"/>
              </a:lnSpc>
            </a:pPr>
            <a:r>
              <a:rPr sz="1200" dirty="0">
                <a:solidFill>
                  <a:srgbClr val="444455"/>
                </a:solidFill>
                <a:latin typeface="맑은 고딕"/>
              </a:rPr>
              <a:t>• Relay Resistance — RRP </a:t>
            </a:r>
            <a:r>
              <a:rPr sz="1200" dirty="0" err="1">
                <a:solidFill>
                  <a:srgbClr val="444455"/>
                </a:solidFill>
                <a:latin typeface="맑은 고딕"/>
              </a:rPr>
              <a:t>지원</a:t>
            </a:r>
            <a:r>
              <a:rPr sz="12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444455"/>
                </a:solidFill>
                <a:latin typeface="맑은 고딕"/>
              </a:rPr>
              <a:t>여부</a:t>
            </a:r>
            <a:endParaRPr sz="12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150000"/>
              </a:lnSpc>
            </a:pPr>
            <a:r>
              <a:rPr sz="1200" dirty="0">
                <a:solidFill>
                  <a:srgbClr val="444455"/>
                </a:solidFill>
                <a:latin typeface="맑은 고딕"/>
              </a:rPr>
              <a:t>• Hybrid — </a:t>
            </a:r>
            <a:r>
              <a:rPr sz="1200" dirty="0" err="1">
                <a:solidFill>
                  <a:srgbClr val="444455"/>
                </a:solidFill>
                <a:latin typeface="맑은 고딕"/>
              </a:rPr>
              <a:t>하이브리드</a:t>
            </a:r>
            <a:r>
              <a:rPr sz="12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444455"/>
                </a:solidFill>
                <a:latin typeface="맑은 고딕"/>
              </a:rPr>
              <a:t>단말</a:t>
            </a:r>
            <a:r>
              <a:rPr sz="12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444455"/>
                </a:solidFill>
                <a:latin typeface="맑은 고딕"/>
              </a:rPr>
              <a:t>여부</a:t>
            </a:r>
            <a:endParaRPr sz="1200" dirty="0">
              <a:solidFill>
                <a:srgbClr val="444455"/>
              </a:solidFill>
              <a:latin typeface="맑은 고딕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65760" y="3977639"/>
            <a:ext cx="1152144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3977639"/>
            <a:ext cx="1152144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4023359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3E"/>
                </a:solidFill>
                <a:latin typeface="맑은 고딕"/>
              </a:rPr>
              <a:t>옵션 적용 규칙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389119"/>
            <a:ext cx="11247120" cy="1962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각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설정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옵션은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활성화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조건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(Activation Condition)이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존재</a:t>
            </a:r>
            <a:endParaRPr sz="1400" dirty="0">
              <a:solidFill>
                <a:srgbClr val="444455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예: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CDA는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Kernel Configuration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비트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활성화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+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카드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AIP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비트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둘 다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필요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>
              <a:lnSpc>
                <a:spcPct val="1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모든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설정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옵션이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모든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구현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옵션에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적용되지는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않음</a:t>
            </a:r>
            <a:endParaRPr sz="1400" dirty="0">
              <a:solidFill>
                <a:srgbClr val="444455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MAG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옵션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: SDS/IDS/CDA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해당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없음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EMV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옵션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: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모든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설정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옵션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적용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가능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>
              <a:lnSpc>
                <a:spcPct val="1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설정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데이터는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AID별·트랜잭션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유형별로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독립적으로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관리</a:t>
            </a:r>
            <a:endParaRPr sz="1400" dirty="0">
              <a:solidFill>
                <a:srgbClr val="444455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086100"/>
            <a:ext cx="12191695" cy="109728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맑은 고딕"/>
              </a:rPr>
              <a:t>6. Kernel Database (TLV 구조)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TLV Database 원칙 및 서비스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맑은 고딕"/>
              </a:rPr>
              <a:t>Kernel은 모든 데이터를 TLV (Tag-Length-Value) 형식으로 인코딩된 데이터베이스에서 관리합니다.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27632"/>
            <a:ext cx="539496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627632"/>
            <a:ext cx="53949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67335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3E"/>
                </a:solidFill>
                <a:latin typeface="맑은 고딕"/>
              </a:rPr>
              <a:t>TLV Database 특성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039112"/>
            <a:ext cx="512064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Kernel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인스턴스화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시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영구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데이터셋에서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복사</a:t>
            </a:r>
            <a:endParaRPr sz="14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20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트랜잭션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중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카드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/Terminal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데이터로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업데이트</a:t>
            </a:r>
            <a:endParaRPr sz="14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20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각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AID·트랜잭션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유형별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독립된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인스턴스</a:t>
            </a:r>
            <a:endParaRPr sz="14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20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데이터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오브젝트는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Tag(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태그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)로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식별</a:t>
            </a:r>
            <a:endParaRPr sz="14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20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길이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0인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항목도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'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존재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(present)'로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취급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가능</a:t>
            </a:r>
            <a:endParaRPr sz="14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20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알 수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없는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독점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태그도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저장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가능</a:t>
            </a:r>
            <a:endParaRPr sz="1400" dirty="0">
              <a:solidFill>
                <a:srgbClr val="444455"/>
              </a:solidFill>
              <a:latin typeface="맑은 고딕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035040" y="1627632"/>
            <a:ext cx="585216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35040" y="1627632"/>
            <a:ext cx="58521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72200" y="167335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3E"/>
                </a:solidFill>
                <a:latin typeface="맑은 고딕"/>
              </a:rPr>
              <a:t>TLV Database 서비스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036064"/>
            <a:ext cx="5577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IsKnown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(T) —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태그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T가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데이터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사전에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정의되어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있는지</a:t>
            </a:r>
            <a:endParaRPr sz="14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2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IsPresent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(T) —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태그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T의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데이터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오브젝트가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DB에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존재하는지</a:t>
            </a:r>
            <a:endParaRPr sz="14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2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IsNotPresent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(T) —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DB에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없는지</a:t>
            </a:r>
            <a:endParaRPr sz="14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2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IsEmpty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(T) —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길이가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0인지</a:t>
            </a:r>
          </a:p>
          <a:p>
            <a:pPr>
              <a:lnSpc>
                <a:spcPct val="2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IsNotEmpty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(T) —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길이가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0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이상인지</a:t>
            </a:r>
            <a:endParaRPr sz="14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2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GetValue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(T) —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태그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T의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값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반환</a:t>
            </a:r>
            <a:endParaRPr sz="14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2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GetTLV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(T) — TLV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인코딩된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데이터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오브젝트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반환</a:t>
            </a:r>
            <a:endParaRPr sz="14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2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Store(T, V) — 값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저장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(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덮어쓰기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754880"/>
            <a:ext cx="53949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754880"/>
            <a:ext cx="53949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48006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3E"/>
                </a:solidFill>
                <a:latin typeface="맑은 고딕"/>
              </a:rPr>
              <a:t>DOL (Data Object List) 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180397"/>
            <a:ext cx="539496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b="1" dirty="0">
                <a:solidFill>
                  <a:srgbClr val="444455"/>
                </a:solidFill>
                <a:latin typeface="맑은 고딕"/>
              </a:rPr>
              <a:t>DOL 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(Data Object List) </a:t>
            </a:r>
            <a:r>
              <a:rPr lang="en-US" sz="1400" dirty="0">
                <a:solidFill>
                  <a:srgbClr val="444455"/>
                </a:solidFill>
                <a:latin typeface="맑은 고딕"/>
              </a:rPr>
              <a:t>:</a:t>
            </a:r>
            <a:r>
              <a:rPr sz="1400" dirty="0" smtClean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태그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목록으로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연결된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데이터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생성</a:t>
            </a:r>
            <a:endParaRPr sz="14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1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b="1" dirty="0" smtClean="0">
                <a:solidFill>
                  <a:srgbClr val="444455"/>
                </a:solidFill>
                <a:latin typeface="맑은 고딕"/>
              </a:rPr>
              <a:t>PDOL</a:t>
            </a:r>
            <a:r>
              <a:rPr lang="en-US" sz="1400" b="1" dirty="0" smtClean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smtClean="0">
                <a:solidFill>
                  <a:srgbClr val="444455"/>
                </a:solidFill>
                <a:latin typeface="맑은 고딕"/>
              </a:rPr>
              <a:t>: 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GENERATE AC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명령의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PDOL Related Data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생성</a:t>
            </a:r>
            <a:endParaRPr sz="14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1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b="1" dirty="0" smtClean="0">
                <a:solidFill>
                  <a:srgbClr val="444455"/>
                </a:solidFill>
                <a:latin typeface="맑은 고딕"/>
              </a:rPr>
              <a:t>CDOL1/CDOL2</a:t>
            </a:r>
            <a:r>
              <a:rPr lang="en-US" sz="1400" dirty="0" smtClean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smtClean="0">
                <a:solidFill>
                  <a:srgbClr val="444455"/>
                </a:solidFill>
                <a:latin typeface="맑은 고딕"/>
              </a:rPr>
              <a:t>: 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GENERATE AC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명령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데이터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필드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구성</a:t>
            </a:r>
            <a:endParaRPr sz="14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1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b="1" dirty="0" smtClean="0">
                <a:solidFill>
                  <a:srgbClr val="444455"/>
                </a:solidFill>
                <a:latin typeface="맑은 고딕"/>
              </a:rPr>
              <a:t>DRDOL</a:t>
            </a:r>
            <a:r>
              <a:rPr lang="en-US" sz="1400" dirty="0" smtClean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smtClean="0">
                <a:solidFill>
                  <a:srgbClr val="444455"/>
                </a:solidFill>
                <a:latin typeface="맑은 고딕"/>
              </a:rPr>
              <a:t>: 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RECOVER AC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명령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데이터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구성</a:t>
            </a:r>
            <a:endParaRPr sz="1400" dirty="0">
              <a:solidFill>
                <a:srgbClr val="444455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Working Variables &amp; Configuration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4864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48640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3E"/>
                </a:solidFill>
                <a:latin typeface="맑은 고딕"/>
              </a:rPr>
              <a:t>Working Variables 유형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00200"/>
            <a:ext cx="521208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로컬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변수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(Local)</a:t>
            </a:r>
          </a:p>
          <a:p>
            <a:pPr lvl="1"/>
            <a:r>
              <a:rPr sz="1400" dirty="0">
                <a:solidFill>
                  <a:srgbClr val="555577"/>
                </a:solidFill>
                <a:latin typeface="맑은 고딕"/>
              </a:rPr>
              <a:t>  – </a:t>
            </a:r>
            <a:r>
              <a:rPr sz="1400" dirty="0" err="1">
                <a:solidFill>
                  <a:srgbClr val="555577"/>
                </a:solidFill>
                <a:latin typeface="맑은 고딕"/>
              </a:rPr>
              <a:t>상태</a:t>
            </a:r>
            <a:r>
              <a:rPr sz="14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77"/>
                </a:solidFill>
                <a:latin typeface="맑은 고딕"/>
              </a:rPr>
              <a:t>전이</a:t>
            </a:r>
            <a:r>
              <a:rPr sz="14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77"/>
                </a:solidFill>
                <a:latin typeface="맑은 고딕"/>
              </a:rPr>
              <a:t>처리</a:t>
            </a:r>
            <a:r>
              <a:rPr sz="14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77"/>
                </a:solidFill>
                <a:latin typeface="맑은 고딕"/>
              </a:rPr>
              <a:t>내에서만</a:t>
            </a:r>
            <a:r>
              <a:rPr sz="14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77"/>
                </a:solidFill>
                <a:latin typeface="맑은 고딕"/>
              </a:rPr>
              <a:t>유효</a:t>
            </a:r>
            <a:endParaRPr sz="1400" dirty="0">
              <a:solidFill>
                <a:srgbClr val="555577"/>
              </a:solidFill>
              <a:latin typeface="맑은 고딕"/>
            </a:endParaRPr>
          </a:p>
          <a:p>
            <a:pPr lvl="1"/>
            <a:r>
              <a:rPr sz="1400" dirty="0">
                <a:solidFill>
                  <a:srgbClr val="555577"/>
                </a:solidFill>
                <a:latin typeface="맑은 고딕"/>
              </a:rPr>
              <a:t>  – </a:t>
            </a:r>
            <a:r>
              <a:rPr sz="1400" dirty="0" err="1">
                <a:solidFill>
                  <a:srgbClr val="555577"/>
                </a:solidFill>
                <a:latin typeface="맑은 고딕"/>
              </a:rPr>
              <a:t>데이터</a:t>
            </a:r>
            <a:r>
              <a:rPr sz="14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77"/>
                </a:solidFill>
                <a:latin typeface="맑은 고딕"/>
              </a:rPr>
              <a:t>사전에</a:t>
            </a:r>
            <a:r>
              <a:rPr sz="14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77"/>
                </a:solidFill>
                <a:latin typeface="맑은 고딕"/>
              </a:rPr>
              <a:t>태그</a:t>
            </a:r>
            <a:r>
              <a:rPr sz="14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77"/>
                </a:solidFill>
                <a:latin typeface="맑은 고딕"/>
              </a:rPr>
              <a:t>없음</a:t>
            </a:r>
            <a:endParaRPr sz="1400" dirty="0">
              <a:solidFill>
                <a:srgbClr val="555577"/>
              </a:solidFill>
              <a:latin typeface="맑은 고딕"/>
            </a:endParaRPr>
          </a:p>
          <a:p>
            <a:pPr lvl="1"/>
            <a:r>
              <a:rPr sz="1400" dirty="0">
                <a:solidFill>
                  <a:srgbClr val="555577"/>
                </a:solidFill>
                <a:latin typeface="맑은 고딕"/>
              </a:rPr>
              <a:t>  – 예: Missing PDOL Data Flag, Sync </a:t>
            </a:r>
            <a:r>
              <a:rPr sz="1400" dirty="0" smtClean="0">
                <a:solidFill>
                  <a:srgbClr val="555577"/>
                </a:solidFill>
                <a:latin typeface="맑은 고딕"/>
              </a:rPr>
              <a:t>Data</a:t>
            </a:r>
            <a:endParaRPr lang="en-US" sz="1400" dirty="0" smtClean="0">
              <a:solidFill>
                <a:srgbClr val="555577"/>
              </a:solidFill>
              <a:latin typeface="맑은 고딕"/>
            </a:endParaRPr>
          </a:p>
          <a:p>
            <a:pPr lvl="1"/>
            <a:endParaRPr sz="1400" dirty="0">
              <a:solidFill>
                <a:srgbClr val="555577"/>
              </a:solidFill>
              <a:latin typeface="맑은 고딕"/>
            </a:endParaRPr>
          </a:p>
          <a:p>
            <a:r>
              <a:rPr sz="16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글로벌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변수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(Global)</a:t>
            </a:r>
          </a:p>
          <a:p>
            <a:pPr lvl="1"/>
            <a:r>
              <a:rPr sz="1400" dirty="0">
                <a:solidFill>
                  <a:srgbClr val="555577"/>
                </a:solidFill>
                <a:latin typeface="맑은 고딕"/>
              </a:rPr>
              <a:t>  – Kernel </a:t>
            </a:r>
            <a:r>
              <a:rPr sz="1400" dirty="0" err="1">
                <a:solidFill>
                  <a:srgbClr val="555577"/>
                </a:solidFill>
                <a:latin typeface="맑은 고딕"/>
              </a:rPr>
              <a:t>프로세스</a:t>
            </a:r>
            <a:r>
              <a:rPr sz="14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77"/>
                </a:solidFill>
                <a:latin typeface="맑은 고딕"/>
              </a:rPr>
              <a:t>수명과</a:t>
            </a:r>
            <a:r>
              <a:rPr sz="14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77"/>
                </a:solidFill>
                <a:latin typeface="맑은 고딕"/>
              </a:rPr>
              <a:t>동일</a:t>
            </a:r>
            <a:endParaRPr sz="1400" dirty="0">
              <a:solidFill>
                <a:srgbClr val="555577"/>
              </a:solidFill>
              <a:latin typeface="맑은 고딕"/>
            </a:endParaRPr>
          </a:p>
          <a:p>
            <a:pPr lvl="1"/>
            <a:r>
              <a:rPr sz="1400" dirty="0">
                <a:solidFill>
                  <a:srgbClr val="555577"/>
                </a:solidFill>
                <a:latin typeface="맑은 고딕"/>
              </a:rPr>
              <a:t>  – </a:t>
            </a:r>
            <a:r>
              <a:rPr sz="1400" dirty="0" err="1">
                <a:solidFill>
                  <a:srgbClr val="555577"/>
                </a:solidFill>
                <a:latin typeface="맑은 고딕"/>
              </a:rPr>
              <a:t>내부</a:t>
            </a:r>
            <a:r>
              <a:rPr sz="14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77"/>
                </a:solidFill>
                <a:latin typeface="맑은 고딕"/>
              </a:rPr>
              <a:t>처리에서만</a:t>
            </a:r>
            <a:r>
              <a:rPr sz="14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77"/>
                </a:solidFill>
                <a:latin typeface="맑은 고딕"/>
              </a:rPr>
              <a:t>읽기</a:t>
            </a:r>
            <a:r>
              <a:rPr sz="1400" dirty="0">
                <a:solidFill>
                  <a:srgbClr val="555577"/>
                </a:solidFill>
                <a:latin typeface="맑은 고딕"/>
              </a:rPr>
              <a:t>/</a:t>
            </a:r>
            <a:r>
              <a:rPr sz="1400" dirty="0" err="1">
                <a:solidFill>
                  <a:srgbClr val="555577"/>
                </a:solidFill>
                <a:latin typeface="맑은 고딕"/>
              </a:rPr>
              <a:t>쓰기</a:t>
            </a:r>
            <a:endParaRPr sz="1400" dirty="0">
              <a:solidFill>
                <a:srgbClr val="555577"/>
              </a:solidFill>
              <a:latin typeface="맑은 고딕"/>
            </a:endParaRPr>
          </a:p>
          <a:p>
            <a:pPr lvl="1"/>
            <a:r>
              <a:rPr sz="1400" dirty="0">
                <a:solidFill>
                  <a:srgbClr val="555577"/>
                </a:solidFill>
                <a:latin typeface="맑은 고딕"/>
              </a:rPr>
              <a:t>  – 예: Active AFL, AC Type, DS AC Type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188720"/>
            <a:ext cx="58521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35040" y="1188720"/>
            <a:ext cx="58521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72200" y="123444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3E"/>
                </a:solidFill>
                <a:latin typeface="맑은 고딕"/>
              </a:rPr>
              <a:t>Torn Transaction 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600200"/>
            <a:ext cx="5577840" cy="198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dirty="0">
                <a:solidFill>
                  <a:srgbClr val="444455"/>
                </a:solidFill>
                <a:latin typeface="맑은 고딕"/>
              </a:rPr>
              <a:t>• Torn Transaction Log — </a:t>
            </a:r>
            <a:r>
              <a:rPr dirty="0" err="1">
                <a:solidFill>
                  <a:srgbClr val="444455"/>
                </a:solidFill>
                <a:latin typeface="맑은 고딕"/>
              </a:rPr>
              <a:t>중단</a:t>
            </a:r>
            <a:r>
              <a:rPr dirty="0">
                <a:solidFill>
                  <a:srgbClr val="444455"/>
                </a:solidFill>
                <a:latin typeface="맑은 고딕"/>
              </a:rPr>
              <a:t> </a:t>
            </a:r>
            <a:r>
              <a:rPr dirty="0" err="1">
                <a:solidFill>
                  <a:srgbClr val="444455"/>
                </a:solidFill>
                <a:latin typeface="맑은 고딕"/>
              </a:rPr>
              <a:t>트랜잭션</a:t>
            </a:r>
            <a:r>
              <a:rPr dirty="0">
                <a:solidFill>
                  <a:srgbClr val="444455"/>
                </a:solidFill>
                <a:latin typeface="맑은 고딕"/>
              </a:rPr>
              <a:t> </a:t>
            </a:r>
            <a:r>
              <a:rPr dirty="0" err="1">
                <a:solidFill>
                  <a:srgbClr val="444455"/>
                </a:solidFill>
                <a:latin typeface="맑은 고딕"/>
              </a:rPr>
              <a:t>추적</a:t>
            </a:r>
            <a:endParaRPr dirty="0">
              <a:solidFill>
                <a:srgbClr val="444455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r>
              <a:rPr sz="1600" dirty="0">
                <a:solidFill>
                  <a:srgbClr val="555577"/>
                </a:solidFill>
                <a:latin typeface="맑은 고딕"/>
              </a:rPr>
              <a:t>  – </a:t>
            </a:r>
            <a:r>
              <a:rPr sz="1600" dirty="0" err="1">
                <a:solidFill>
                  <a:srgbClr val="555577"/>
                </a:solidFill>
                <a:latin typeface="맑은 고딕"/>
              </a:rPr>
              <a:t>항목</a:t>
            </a:r>
            <a:r>
              <a:rPr sz="1600" dirty="0">
                <a:solidFill>
                  <a:srgbClr val="555577"/>
                </a:solidFill>
                <a:latin typeface="맑은 고딕"/>
              </a:rPr>
              <a:t>: AID + </a:t>
            </a:r>
            <a:r>
              <a:rPr sz="1600" dirty="0" err="1">
                <a:solidFill>
                  <a:srgbClr val="555577"/>
                </a:solidFill>
                <a:latin typeface="맑은 고딕"/>
              </a:rPr>
              <a:t>필수</a:t>
            </a:r>
            <a:r>
              <a:rPr sz="16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555577"/>
                </a:solidFill>
                <a:latin typeface="맑은 고딕"/>
              </a:rPr>
              <a:t>데이터</a:t>
            </a:r>
            <a:r>
              <a:rPr sz="16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555577"/>
                </a:solidFill>
                <a:latin typeface="맑은 고딕"/>
              </a:rPr>
              <a:t>오브젝트</a:t>
            </a:r>
            <a:endParaRPr sz="16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r>
              <a:rPr sz="1600" dirty="0">
                <a:solidFill>
                  <a:srgbClr val="555577"/>
                </a:solidFill>
                <a:latin typeface="맑은 고딕"/>
              </a:rPr>
              <a:t>  – </a:t>
            </a:r>
            <a:r>
              <a:rPr sz="1600" dirty="0" err="1">
                <a:solidFill>
                  <a:srgbClr val="555577"/>
                </a:solidFill>
                <a:latin typeface="맑은 고딕"/>
              </a:rPr>
              <a:t>동일</a:t>
            </a:r>
            <a:r>
              <a:rPr sz="16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555577"/>
                </a:solidFill>
                <a:latin typeface="맑은 고딕"/>
              </a:rPr>
              <a:t>카드</a:t>
            </a:r>
            <a:r>
              <a:rPr sz="1600" dirty="0">
                <a:solidFill>
                  <a:srgbClr val="555577"/>
                </a:solidFill>
                <a:latin typeface="맑은 고딕"/>
              </a:rPr>
              <a:t>(UDOL) </a:t>
            </a:r>
            <a:r>
              <a:rPr sz="1600" dirty="0" err="1">
                <a:solidFill>
                  <a:srgbClr val="555577"/>
                </a:solidFill>
                <a:latin typeface="맑은 고딕"/>
              </a:rPr>
              <a:t>매칭으로</a:t>
            </a:r>
            <a:r>
              <a:rPr sz="16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555577"/>
                </a:solidFill>
                <a:latin typeface="맑은 고딕"/>
              </a:rPr>
              <a:t>복구</a:t>
            </a:r>
            <a:r>
              <a:rPr sz="16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555577"/>
                </a:solidFill>
                <a:latin typeface="맑은 고딕"/>
              </a:rPr>
              <a:t>여부</a:t>
            </a:r>
            <a:r>
              <a:rPr sz="16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555577"/>
                </a:solidFill>
                <a:latin typeface="맑은 고딕"/>
              </a:rPr>
              <a:t>판단</a:t>
            </a:r>
            <a:endParaRPr sz="16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r>
              <a:rPr sz="1600" dirty="0">
                <a:solidFill>
                  <a:srgbClr val="555577"/>
                </a:solidFill>
                <a:latin typeface="맑은 고딕"/>
              </a:rPr>
              <a:t>  – </a:t>
            </a:r>
            <a:r>
              <a:rPr sz="1600" dirty="0" err="1">
                <a:solidFill>
                  <a:srgbClr val="555577"/>
                </a:solidFill>
                <a:latin typeface="맑은 고딕"/>
              </a:rPr>
              <a:t>로그</a:t>
            </a:r>
            <a:r>
              <a:rPr sz="16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555577"/>
                </a:solidFill>
                <a:latin typeface="맑은 고딕"/>
              </a:rPr>
              <a:t>슬롯</a:t>
            </a:r>
            <a:r>
              <a:rPr sz="16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555577"/>
                </a:solidFill>
                <a:latin typeface="맑은 고딕"/>
              </a:rPr>
              <a:t>초과</a:t>
            </a:r>
            <a:r>
              <a:rPr sz="1600" dirty="0">
                <a:solidFill>
                  <a:srgbClr val="555577"/>
                </a:solidFill>
                <a:latin typeface="맑은 고딕"/>
              </a:rPr>
              <a:t> 시 </a:t>
            </a:r>
            <a:r>
              <a:rPr sz="1600" dirty="0" err="1">
                <a:solidFill>
                  <a:srgbClr val="555577"/>
                </a:solidFill>
                <a:latin typeface="맑은 고딕"/>
              </a:rPr>
              <a:t>가장</a:t>
            </a:r>
            <a:r>
              <a:rPr sz="16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555577"/>
                </a:solidFill>
                <a:latin typeface="맑은 고딕"/>
              </a:rPr>
              <a:t>오래된</a:t>
            </a:r>
            <a:r>
              <a:rPr sz="16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555577"/>
                </a:solidFill>
                <a:latin typeface="맑은 고딕"/>
              </a:rPr>
              <a:t>항목</a:t>
            </a:r>
            <a:r>
              <a:rPr sz="16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555577"/>
                </a:solidFill>
                <a:latin typeface="맑은 고딕"/>
              </a:rPr>
              <a:t>삭제</a:t>
            </a:r>
            <a:endParaRPr sz="16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r>
              <a:rPr sz="1600" dirty="0">
                <a:solidFill>
                  <a:srgbClr val="555577"/>
                </a:solidFill>
                <a:latin typeface="맑은 고딕"/>
              </a:rPr>
              <a:t>  – CLEAN </a:t>
            </a:r>
            <a:r>
              <a:rPr sz="1600" dirty="0" err="1">
                <a:solidFill>
                  <a:srgbClr val="555577"/>
                </a:solidFill>
                <a:latin typeface="맑은 고딕"/>
              </a:rPr>
              <a:t>Signal로</a:t>
            </a:r>
            <a:r>
              <a:rPr sz="16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555577"/>
                </a:solidFill>
                <a:latin typeface="맑은 고딕"/>
              </a:rPr>
              <a:t>만료</a:t>
            </a:r>
            <a:r>
              <a:rPr sz="16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555577"/>
                </a:solidFill>
                <a:latin typeface="맑은 고딕"/>
              </a:rPr>
              <a:t>항목</a:t>
            </a:r>
            <a:r>
              <a:rPr sz="16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555577"/>
                </a:solidFill>
                <a:latin typeface="맑은 고딕"/>
              </a:rPr>
              <a:t>정리</a:t>
            </a:r>
            <a:endParaRPr sz="1600" dirty="0">
              <a:solidFill>
                <a:srgbClr val="555577"/>
              </a:solidFill>
              <a:latin typeface="맑은 고딕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65760" y="4069080"/>
            <a:ext cx="1152144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4069080"/>
            <a:ext cx="1152144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411480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3E"/>
                </a:solidFill>
                <a:latin typeface="맑은 고딕"/>
              </a:rPr>
              <a:t>Configuration Data (필수 항목)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489269"/>
            <a:ext cx="11247120" cy="2239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b="1" dirty="0">
                <a:solidFill>
                  <a:srgbClr val="444455"/>
                </a:solidFill>
                <a:latin typeface="맑은 고딕"/>
              </a:rPr>
              <a:t>Kernel </a:t>
            </a:r>
            <a:r>
              <a:rPr sz="1400" b="1" dirty="0" err="1">
                <a:solidFill>
                  <a:srgbClr val="444455"/>
                </a:solidFill>
                <a:latin typeface="맑은 고딕"/>
              </a:rPr>
              <a:t>인스턴스화</a:t>
            </a:r>
            <a:r>
              <a:rPr sz="1400" b="1" dirty="0">
                <a:solidFill>
                  <a:srgbClr val="444455"/>
                </a:solidFill>
                <a:latin typeface="맑은 고딕"/>
              </a:rPr>
              <a:t> 시 </a:t>
            </a:r>
            <a:r>
              <a:rPr sz="1400" b="1" dirty="0" err="1">
                <a:solidFill>
                  <a:srgbClr val="444455"/>
                </a:solidFill>
                <a:latin typeface="맑은 고딕"/>
              </a:rPr>
              <a:t>초기화되어야</a:t>
            </a:r>
            <a:r>
              <a:rPr sz="1400" b="1" dirty="0">
                <a:solidFill>
                  <a:srgbClr val="444455"/>
                </a:solidFill>
                <a:latin typeface="맑은 고딕"/>
              </a:rPr>
              <a:t> 할 </a:t>
            </a:r>
            <a:r>
              <a:rPr sz="1400" b="1" dirty="0" err="1">
                <a:solidFill>
                  <a:srgbClr val="444455"/>
                </a:solidFill>
                <a:latin typeface="맑은 고딕"/>
              </a:rPr>
              <a:t>설정</a:t>
            </a:r>
            <a:r>
              <a:rPr sz="1400" b="1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444455"/>
                </a:solidFill>
                <a:latin typeface="맑은 고딕"/>
              </a:rPr>
              <a:t>데이터</a:t>
            </a:r>
            <a:r>
              <a:rPr sz="1400" b="1" dirty="0">
                <a:solidFill>
                  <a:srgbClr val="444455"/>
                </a:solidFill>
                <a:latin typeface="맑은 고딕"/>
              </a:rPr>
              <a:t> (</a:t>
            </a:r>
            <a:r>
              <a:rPr sz="1400" b="1" dirty="0" err="1">
                <a:solidFill>
                  <a:srgbClr val="444455"/>
                </a:solidFill>
                <a:latin typeface="맑은 고딕"/>
              </a:rPr>
              <a:t>필수</a:t>
            </a:r>
            <a:r>
              <a:rPr sz="1400" b="1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444455"/>
                </a:solidFill>
                <a:latin typeface="맑은 고딕"/>
              </a:rPr>
              <a:t>존재</a:t>
            </a:r>
            <a:r>
              <a:rPr sz="1400" b="1" dirty="0">
                <a:solidFill>
                  <a:srgbClr val="444455"/>
                </a:solidFill>
                <a:latin typeface="맑은 고딕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Reader CVM Required Limit — CVM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적용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금액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한도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Reader Contactless Transaction Limit —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컨택리스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허용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최대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금액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Reader Contactless Floor Limit —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오프라인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승인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한도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Kernel Configuration —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기능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활성화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비트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플래그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(8비트)</a:t>
            </a: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Timeout Value —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카드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응답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대기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최대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시간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>
              <a:lnSpc>
                <a:spcPct val="1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Default Value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없으면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Kernel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동작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불가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—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반드시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설정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필요</a:t>
            </a:r>
            <a:endParaRPr sz="1400" dirty="0">
              <a:solidFill>
                <a:srgbClr val="444455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086100"/>
            <a:ext cx="12191695" cy="109728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맑은 고딕"/>
              </a:rPr>
              <a:t>7. 트랜잭션 모드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Mag-Stripe 모드 vs EMV 모드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맑은 고딕"/>
              </a:rPr>
              <a:t>카드의 Application Interchange Profile (AIP)에 따라 Mag-Stripe 모드 또는 EMV 모드로 분기됩니다.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5394960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600200"/>
            <a:ext cx="53949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6459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3E"/>
                </a:solidFill>
                <a:latin typeface="맑은 고딕"/>
              </a:rPr>
              <a:t>Mag-Stripe 모드 흐름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4889" y="2011680"/>
            <a:ext cx="5120640" cy="4445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sz="1600" dirty="0">
                <a:solidFill>
                  <a:srgbClr val="444455"/>
                </a:solidFill>
                <a:latin typeface="맑은 고딕"/>
              </a:rPr>
              <a:t>• GET PROCESSING OPTIONS →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카드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AIP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확인</a:t>
            </a:r>
            <a:endParaRPr sz="16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200000"/>
              </a:lnSpc>
            </a:pPr>
            <a:r>
              <a:rPr sz="16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AIP에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Mag-Stripe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비트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설정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시 → Mag-Stripe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모드</a:t>
            </a:r>
            <a:endParaRPr sz="16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200000"/>
              </a:lnSpc>
            </a:pPr>
            <a:r>
              <a:rPr sz="1600" dirty="0">
                <a:solidFill>
                  <a:srgbClr val="444455"/>
                </a:solidFill>
                <a:latin typeface="맑은 고딕"/>
              </a:rPr>
              <a:t>• READ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RECORD로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Track 1/2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데이터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수집</a:t>
            </a:r>
            <a:endParaRPr sz="16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200000"/>
              </a:lnSpc>
            </a:pPr>
            <a:r>
              <a:rPr sz="1600" dirty="0">
                <a:solidFill>
                  <a:srgbClr val="444455"/>
                </a:solidFill>
                <a:latin typeface="맑은 고딕"/>
              </a:rPr>
              <a:t>• Unpredictable Number (Numeric)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생성</a:t>
            </a:r>
            <a:endParaRPr sz="16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200000"/>
              </a:lnSpc>
            </a:pPr>
            <a:r>
              <a:rPr sz="16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카드에서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암호문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(ARQC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형식의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CVC3)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수신</a:t>
            </a:r>
            <a:endParaRPr sz="16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200000"/>
              </a:lnSpc>
            </a:pPr>
            <a:r>
              <a:rPr sz="1600" dirty="0">
                <a:solidFill>
                  <a:srgbClr val="444455"/>
                </a:solidFill>
                <a:latin typeface="맑은 고딕"/>
              </a:rPr>
              <a:t>• Track 2에 CVC3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삽입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후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온라인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전송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요청</a:t>
            </a:r>
            <a:endParaRPr sz="16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200000"/>
              </a:lnSpc>
            </a:pPr>
            <a:r>
              <a:rPr sz="16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카드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제거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알림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후 OUT Signal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반환</a:t>
            </a:r>
            <a:endParaRPr sz="16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200000"/>
              </a:lnSpc>
            </a:pPr>
            <a:r>
              <a:rPr sz="16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항상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Online Authorization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요청</a:t>
            </a:r>
            <a:endParaRPr sz="16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200000"/>
              </a:lnSpc>
            </a:pPr>
            <a:r>
              <a:rPr sz="16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오프라인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승인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불가</a:t>
            </a:r>
            <a:endParaRPr sz="1600" dirty="0">
              <a:solidFill>
                <a:srgbClr val="444455"/>
              </a:solidFill>
              <a:latin typeface="맑은 고딕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035040" y="1600200"/>
            <a:ext cx="5852160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35040" y="1600200"/>
            <a:ext cx="58521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72200" y="164592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3E"/>
                </a:solidFill>
                <a:latin typeface="맑은 고딕"/>
              </a:rPr>
              <a:t>EMV 모드 흐름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011680"/>
            <a:ext cx="557784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GET PROCESSING OPTIONS → AIP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확인</a:t>
            </a:r>
            <a:endParaRPr sz="14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1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오프라인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데이터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인증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(ODA)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방식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결정</a:t>
            </a:r>
            <a:endParaRPr sz="1400" dirty="0">
              <a:solidFill>
                <a:srgbClr val="444455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SDA: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정적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인증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서명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검증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DDA: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동적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인증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(ICC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서명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CDA: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결합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동적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인증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(GENERATE AC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통합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)</a:t>
            </a:r>
          </a:p>
          <a:p>
            <a:pPr>
              <a:lnSpc>
                <a:spcPct val="1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READ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RECORD로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카드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레코드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읽기</a:t>
            </a:r>
            <a:endParaRPr sz="14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1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Terminal Risk Management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수행</a:t>
            </a:r>
            <a:endParaRPr sz="14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1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Terminal Action Analysis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수행</a:t>
            </a:r>
            <a:endParaRPr sz="14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1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GENERATE AC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명령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전송</a:t>
            </a:r>
            <a:endParaRPr sz="1400" dirty="0">
              <a:solidFill>
                <a:srgbClr val="444455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ARQC: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온라인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전송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요청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TC: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오프라인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승인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AAC: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거부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>
              <a:lnSpc>
                <a:spcPct val="1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CDA인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경우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서명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검증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후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결과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반환</a:t>
            </a:r>
            <a:endParaRPr sz="1400" dirty="0">
              <a:solidFill>
                <a:srgbClr val="444455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EMV 모드 — 오프라인 데이터 인증 (ODA)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맑은 고딕"/>
              </a:rPr>
              <a:t>EMV 모드는 공개키 기반 암호화로 카드의 진위를 오프라인에서 검증합니다.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0134492"/>
              </p:ext>
            </p:extLst>
          </p:nvPr>
        </p:nvGraphicFramePr>
        <p:xfrm>
          <a:off x="365760" y="1600200"/>
          <a:ext cx="11521441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4194"/>
                <a:gridCol w="2464526"/>
                <a:gridCol w="4641669"/>
                <a:gridCol w="1881052"/>
              </a:tblGrid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맑은 고딕"/>
                        </a:rPr>
                        <a:t>ODA 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방식</a:t>
                      </a:r>
                      <a:endParaRPr sz="1200" b="1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인증 방향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특징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보안 수준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latin typeface="맑은 고딕"/>
                        </a:rPr>
                        <a:t>SDA</a:t>
                      </a:r>
                    </a:p>
                    <a:p>
                      <a:pPr algn="ctr"/>
                      <a:r>
                        <a:rPr sz="1200" dirty="0"/>
                        <a:t>(Static Data </a:t>
                      </a:r>
                      <a:r>
                        <a:rPr sz="1200" dirty="0" err="1"/>
                        <a:t>Auth</a:t>
                      </a:r>
                      <a:r>
                        <a:rPr sz="1200" dirty="0"/>
                        <a:t>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맑은 고딕"/>
                        </a:rPr>
                        <a:t>CA → Issuer → Card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 err="1">
                          <a:latin typeface="맑은 고딕"/>
                        </a:rPr>
                        <a:t>정적</a:t>
                      </a:r>
                      <a:r>
                        <a:rPr sz="1200" dirty="0">
                          <a:latin typeface="맑은 고딕"/>
                        </a:rPr>
                        <a:t> </a:t>
                      </a:r>
                      <a:r>
                        <a:rPr sz="1200" dirty="0" err="1">
                          <a:latin typeface="맑은 고딕"/>
                        </a:rPr>
                        <a:t>서명</a:t>
                      </a:r>
                      <a:r>
                        <a:rPr sz="1200" dirty="0">
                          <a:latin typeface="맑은 고딕"/>
                        </a:rPr>
                        <a:t> </a:t>
                      </a:r>
                      <a:r>
                        <a:rPr sz="1200" dirty="0" err="1">
                          <a:latin typeface="맑은 고딕"/>
                        </a:rPr>
                        <a:t>검증</a:t>
                      </a:r>
                      <a:endParaRPr sz="1200" dirty="0">
                        <a:latin typeface="맑은 고딕"/>
                      </a:endParaRPr>
                    </a:p>
                    <a:p>
                      <a:pPr algn="ctr"/>
                      <a:r>
                        <a:rPr sz="1400" dirty="0"/>
                        <a:t>SDAD </a:t>
                      </a:r>
                      <a:r>
                        <a:rPr sz="1400" dirty="0" err="1"/>
                        <a:t>포함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레코드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서명</a:t>
                      </a:r>
                      <a:endParaRPr sz="1400"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맑은 고딕"/>
                        </a:rPr>
                        <a:t>낮음 (복제 취약)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latin typeface="맑은 고딕"/>
                        </a:rPr>
                        <a:t>DDA</a:t>
                      </a:r>
                    </a:p>
                    <a:p>
                      <a:pPr algn="ctr"/>
                      <a:r>
                        <a:rPr sz="1200" dirty="0"/>
                        <a:t>(Dynamic Data </a:t>
                      </a:r>
                      <a:r>
                        <a:rPr sz="1200" dirty="0" err="1"/>
                        <a:t>Auth</a:t>
                      </a:r>
                      <a:r>
                        <a:rPr sz="1200" dirty="0"/>
                        <a:t>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맑은 고딕"/>
                        </a:rPr>
                        <a:t>CA → Issuer → ICC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 err="1">
                          <a:latin typeface="맑은 고딕"/>
                        </a:rPr>
                        <a:t>동적</a:t>
                      </a:r>
                      <a:r>
                        <a:rPr sz="1200" dirty="0">
                          <a:latin typeface="맑은 고딕"/>
                        </a:rPr>
                        <a:t> </a:t>
                      </a:r>
                      <a:r>
                        <a:rPr sz="1200" dirty="0" err="1">
                          <a:latin typeface="맑은 고딕"/>
                        </a:rPr>
                        <a:t>서명</a:t>
                      </a:r>
                      <a:r>
                        <a:rPr sz="1200" dirty="0">
                          <a:latin typeface="맑은 고딕"/>
                        </a:rPr>
                        <a:t> </a:t>
                      </a:r>
                      <a:r>
                        <a:rPr sz="1200" dirty="0" err="1">
                          <a:latin typeface="맑은 고딕"/>
                        </a:rPr>
                        <a:t>생성</a:t>
                      </a:r>
                      <a:endParaRPr sz="1200" dirty="0">
                        <a:latin typeface="맑은 고딕"/>
                      </a:endParaRPr>
                    </a:p>
                    <a:p>
                      <a:pPr algn="ctr"/>
                      <a:r>
                        <a:rPr sz="1400" dirty="0"/>
                        <a:t>Intern. Authenticate </a:t>
                      </a:r>
                      <a:r>
                        <a:rPr sz="1400" dirty="0" err="1"/>
                        <a:t>명령</a:t>
                      </a:r>
                      <a:endParaRPr sz="1400" dirty="0"/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맑은 고딕"/>
                        </a:rPr>
                        <a:t>중간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latin typeface="맑은 고딕"/>
                        </a:rPr>
                        <a:t>CDA</a:t>
                      </a:r>
                    </a:p>
                    <a:p>
                      <a:pPr algn="ctr"/>
                      <a:r>
                        <a:rPr sz="1200" dirty="0"/>
                        <a:t>(Combined DDA/AC)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맑은 고딕"/>
                        </a:rPr>
                        <a:t>CA → Issuer → ICC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latin typeface="맑은 고딕"/>
                        </a:rPr>
                        <a:t>GENERATE </a:t>
                      </a:r>
                      <a:r>
                        <a:rPr sz="1200" dirty="0" err="1">
                          <a:latin typeface="맑은 고딕"/>
                        </a:rPr>
                        <a:t>AC와</a:t>
                      </a:r>
                      <a:r>
                        <a:rPr sz="1200" dirty="0">
                          <a:latin typeface="맑은 고딕"/>
                        </a:rPr>
                        <a:t> </a:t>
                      </a:r>
                      <a:r>
                        <a:rPr sz="1200" dirty="0" err="1">
                          <a:latin typeface="맑은 고딕"/>
                        </a:rPr>
                        <a:t>통합</a:t>
                      </a:r>
                      <a:endParaRPr sz="1200" dirty="0">
                        <a:latin typeface="맑은 고딕"/>
                      </a:endParaRPr>
                    </a:p>
                    <a:p>
                      <a:pPr algn="ctr"/>
                      <a:r>
                        <a:rPr sz="1400" dirty="0" err="1"/>
                        <a:t>SDAD가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AC에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포함</a:t>
                      </a:r>
                      <a:endParaRPr sz="1400"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 err="1">
                          <a:latin typeface="맑은 고딕"/>
                        </a:rPr>
                        <a:t>높음</a:t>
                      </a:r>
                      <a:r>
                        <a:rPr sz="1200" dirty="0">
                          <a:latin typeface="맑은 고딕"/>
                        </a:rPr>
                        <a:t> (</a:t>
                      </a:r>
                      <a:r>
                        <a:rPr sz="1200" dirty="0" err="1">
                          <a:latin typeface="맑은 고딕"/>
                        </a:rPr>
                        <a:t>권장</a:t>
                      </a:r>
                      <a:r>
                        <a:rPr sz="1200" dirty="0">
                          <a:latin typeface="맑은 고딕"/>
                        </a:rPr>
                        <a:t>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65760" y="3840480"/>
            <a:ext cx="54864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3840480"/>
            <a:ext cx="548640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38862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3E"/>
                </a:solidFill>
                <a:latin typeface="맑은 고딕"/>
              </a:rPr>
              <a:t>공개키 인증서 체인 검증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251960"/>
            <a:ext cx="521208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CA(Certification Authority)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공개키로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Issuer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인증서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검증</a:t>
            </a:r>
            <a:endParaRPr sz="14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20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Issuer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공개키로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ICC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인증서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검증</a:t>
            </a:r>
            <a:endParaRPr sz="14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20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ICC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공개키로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카드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서명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검증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(DDA/CDA)</a:t>
            </a:r>
          </a:p>
          <a:p>
            <a:pPr>
              <a:lnSpc>
                <a:spcPct val="20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인증서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체인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: CA → Issuer → ICC</a:t>
            </a:r>
          </a:p>
          <a:p>
            <a:pPr>
              <a:lnSpc>
                <a:spcPct val="20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Certification Revocation List(CRL)로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폐기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확인</a:t>
            </a:r>
            <a:endParaRPr sz="1400" dirty="0">
              <a:solidFill>
                <a:srgbClr val="444455"/>
              </a:solidFill>
              <a:latin typeface="맑은 고딕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035040" y="3840480"/>
            <a:ext cx="58521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35040" y="3840480"/>
            <a:ext cx="58521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72200" y="388620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3E"/>
                </a:solidFill>
                <a:latin typeface="맑은 고딕"/>
              </a:rPr>
              <a:t>Terminal Risk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25461" y="4251960"/>
            <a:ext cx="5577840" cy="2262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b="1" dirty="0">
                <a:solidFill>
                  <a:srgbClr val="444455"/>
                </a:solidFill>
                <a:latin typeface="맑은 고딕"/>
              </a:rPr>
              <a:t>TVR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(Terminal Verification Results)</a:t>
            </a: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각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처리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단계의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오류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/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경고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비트맵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>
              <a:lnSpc>
                <a:spcPct val="1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Terminal Action Analysis</a:t>
            </a: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TAC(Terminal Action Code)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기반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IAC(Issuer Action Code)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기반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Denial / Online / Default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우선순위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>
              <a:lnSpc>
                <a:spcPct val="1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AC Type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결정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: TC / ARQC / AAC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086100"/>
            <a:ext cx="12191695" cy="109728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맑은 고딕"/>
              </a:rPr>
              <a:t>8. Data Exchange 메커니즘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Data Exchange — DEK / DET Signal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맑은 고딕"/>
              </a:rPr>
              <a:t>Kernel은 DEK Signal로 Terminal에 데이터를 요청하거나 전송하고, Terminal은 DET Signal로 응답합니다.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539496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600200"/>
            <a:ext cx="53949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6459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3E"/>
                </a:solidFill>
                <a:latin typeface="맑은 고딕"/>
              </a:rPr>
              <a:t>DEK / DET 구조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598" y="2022261"/>
            <a:ext cx="5120640" cy="2539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b="1" dirty="0">
                <a:solidFill>
                  <a:srgbClr val="444455"/>
                </a:solidFill>
                <a:latin typeface="맑은 고딕"/>
              </a:rPr>
              <a:t>DEK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(Data Exchange from Kernel) — Kernel → Terminal</a:t>
            </a: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Data Needed: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요청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태그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목록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Data To Send: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전달할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TLV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데이터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목록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Database ID + Session ID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포함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>
              <a:lnSpc>
                <a:spcPct val="1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b="1" dirty="0">
                <a:solidFill>
                  <a:srgbClr val="444455"/>
                </a:solidFill>
                <a:latin typeface="맑은 고딕"/>
              </a:rPr>
              <a:t>DET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(Data Exchange from Terminal) — Terminal → Kernel</a:t>
            </a: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Kernel Database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업데이트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가능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추가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Tags To Read/Write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제공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가능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타이밍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조절로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흐름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제어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가능</a:t>
            </a:r>
            <a:endParaRPr sz="1300" dirty="0">
              <a:solidFill>
                <a:srgbClr val="555577"/>
              </a:solidFill>
              <a:latin typeface="맑은 고딕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035040" y="1600200"/>
            <a:ext cx="585216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35040" y="1600200"/>
            <a:ext cx="58521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72200" y="164592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3E"/>
                </a:solidFill>
                <a:latin typeface="맑은 고딕"/>
              </a:rPr>
              <a:t>Tags To Read / Write 메커니즘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42878" y="2022261"/>
            <a:ext cx="557784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Tags To Read —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트랜잭션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중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카드에서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읽어야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할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태그</a:t>
            </a:r>
            <a:endParaRPr sz="14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1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Tags To Write Before Gen AC — GENERATE AC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이전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쓰기</a:t>
            </a:r>
            <a:endParaRPr sz="14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1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Tags To Write After Gen AC — GENERATE AC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이후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쓰기</a:t>
            </a:r>
            <a:endParaRPr sz="14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1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Proceed To First Write Flag —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쓰기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시작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제어</a:t>
            </a:r>
            <a:endParaRPr sz="14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1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길이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0 →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Kernel이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DEK로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값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요청</a:t>
            </a:r>
            <a:endParaRPr sz="14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1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Terminal이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DET로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값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제공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후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처리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재개</a:t>
            </a:r>
            <a:endParaRPr sz="1400" dirty="0">
              <a:solidFill>
                <a:srgbClr val="444455"/>
              </a:solidFill>
              <a:latin typeface="맑은 고딕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65760" y="4663440"/>
            <a:ext cx="115214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663440"/>
            <a:ext cx="1152144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470916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3E"/>
                </a:solidFill>
                <a:latin typeface="맑은 고딕"/>
              </a:rPr>
              <a:t>Data Exchange 처리 규칙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3598" y="5074920"/>
            <a:ext cx="1124712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Kernel은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Terminal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소스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데이터가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필요하고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값이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0이면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DEK로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요청</a:t>
            </a:r>
            <a:endParaRPr sz="14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1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Terminal은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DET로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제공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—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여러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번의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DET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교환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가능</a:t>
            </a:r>
            <a:endParaRPr sz="14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1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Kernel은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Tags To Write Yet Before/After Gen AC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버퍼로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누적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관리</a:t>
            </a:r>
            <a:endParaRPr sz="14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1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Data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Exchange로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Terminal이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트랜잭션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속도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조절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가능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(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선행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제공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또는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지연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086100"/>
            <a:ext cx="12191695" cy="109728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맑은 고딕"/>
              </a:rPr>
              <a:t>9. Data Storage (SDS / IDS)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Data Storage 개요 — SDS vs IDS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맑은 고딕"/>
              </a:rPr>
              <a:t>EMV 모드 트랜잭션에서 카드를 메모 패드처럼 활용하는 확장 기능 (Mag-Stripe 모드에는 없음)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5394960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600200"/>
            <a:ext cx="53949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6459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3E"/>
                </a:solidFill>
                <a:latin typeface="맑은 고딕"/>
              </a:rPr>
              <a:t>Standalone Data Storage (SDS)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598" y="2011680"/>
            <a:ext cx="512064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b="1" dirty="0">
                <a:solidFill>
                  <a:srgbClr val="444455"/>
                </a:solidFill>
                <a:latin typeface="맑은 고딕"/>
              </a:rPr>
              <a:t>SDS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(Standalone Data Storage)</a:t>
            </a:r>
          </a:p>
          <a:p>
            <a:pPr lvl="1">
              <a:lnSpc>
                <a:spcPct val="2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GET DATA / PUT DATA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전용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명령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사용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2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태그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범위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'9F70'~'9F79' (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비결제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데이터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)</a:t>
            </a:r>
          </a:p>
          <a:p>
            <a:pPr lvl="1">
              <a:lnSpc>
                <a:spcPct val="2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'9F70'~'9F74':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쓰기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시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보안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메시지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필요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2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'9F75'~'9F79':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쓰기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시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보안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메시지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불필요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2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Tags To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Read에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포함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→ GET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DATA로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읽기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2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Tags To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Write에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포함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→ PUT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DATA로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쓰기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>
              <a:lnSpc>
                <a:spcPct val="2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기존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결제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명령과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독립된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별도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I/O</a:t>
            </a:r>
          </a:p>
          <a:p>
            <a:pPr>
              <a:lnSpc>
                <a:spcPct val="2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단순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구현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,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유연성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높음</a:t>
            </a:r>
            <a:endParaRPr sz="1400" dirty="0">
              <a:solidFill>
                <a:srgbClr val="444455"/>
              </a:solidFill>
              <a:latin typeface="맑은 고딕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035040" y="1600200"/>
            <a:ext cx="5852160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35040" y="1600200"/>
            <a:ext cx="58521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72200" y="164592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3E"/>
                </a:solidFill>
                <a:latin typeface="맑은 고딕"/>
              </a:rPr>
              <a:t>Integrated Data Storage (IDS)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41571" y="2012752"/>
            <a:ext cx="557784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b="1" dirty="0">
                <a:solidFill>
                  <a:srgbClr val="444455"/>
                </a:solidFill>
                <a:latin typeface="맑은 고딕"/>
              </a:rPr>
              <a:t>IDS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(Integrated Data Storage)</a:t>
            </a:r>
          </a:p>
          <a:p>
            <a:pPr lvl="1">
              <a:lnSpc>
                <a:spcPct val="20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GPO(GET PROCESSING OPTIONS)로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읽기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20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GENERATE AC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명령에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쓰기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데이터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통합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20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별도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명령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없이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기존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결제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흐름과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통합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>
              <a:lnSpc>
                <a:spcPct val="20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b="1" dirty="0" err="1">
                <a:solidFill>
                  <a:srgbClr val="444455"/>
                </a:solidFill>
                <a:latin typeface="맑은 고딕"/>
              </a:rPr>
              <a:t>읽기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: GPO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응답의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DS ODS Card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포함</a:t>
            </a:r>
            <a:endParaRPr sz="1400" dirty="0">
              <a:solidFill>
                <a:srgbClr val="444455"/>
              </a:solidFill>
              <a:latin typeface="맑은 고딕"/>
            </a:endParaRPr>
          </a:p>
          <a:p>
            <a:pPr lvl="1">
              <a:lnSpc>
                <a:spcPct val="20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슬롯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데이터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→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Terminal에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DEK로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전달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>
              <a:lnSpc>
                <a:spcPct val="20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b="1" dirty="0" err="1">
                <a:solidFill>
                  <a:srgbClr val="444455"/>
                </a:solidFill>
                <a:latin typeface="맑은 고딕"/>
              </a:rPr>
              <a:t>쓰기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: GENERATE AC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데이터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필드에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IDS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포함</a:t>
            </a:r>
            <a:endParaRPr sz="1400" dirty="0">
              <a:solidFill>
                <a:srgbClr val="444455"/>
              </a:solidFill>
              <a:latin typeface="맑은 고딕"/>
            </a:endParaRPr>
          </a:p>
          <a:p>
            <a:pPr lvl="1">
              <a:lnSpc>
                <a:spcPct val="20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DSDOL로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쓰기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데이터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구성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>
              <a:lnSpc>
                <a:spcPct val="20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b="1" dirty="0">
                <a:solidFill>
                  <a:srgbClr val="444455"/>
                </a:solidFill>
                <a:latin typeface="맑은 고딕"/>
              </a:rPr>
              <a:t>AC Type </a:t>
            </a:r>
            <a:r>
              <a:rPr sz="1400" b="1" dirty="0" err="1">
                <a:solidFill>
                  <a:srgbClr val="444455"/>
                </a:solidFill>
                <a:latin typeface="맑은 고딕"/>
              </a:rPr>
              <a:t>다운그레이드</a:t>
            </a:r>
            <a:r>
              <a:rPr sz="1400" b="1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444455"/>
                </a:solidFill>
                <a:latin typeface="맑은 고딕"/>
              </a:rPr>
              <a:t>메커니즘</a:t>
            </a:r>
            <a:endParaRPr sz="1400" b="1" dirty="0">
              <a:solidFill>
                <a:srgbClr val="444455"/>
              </a:solidFill>
              <a:latin typeface="맑은 고딕"/>
            </a:endParaRPr>
          </a:p>
          <a:p>
            <a:pPr lvl="1">
              <a:lnSpc>
                <a:spcPct val="20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DS AC Type &gt; Kernel AC Type: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조정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없음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20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Kernel AC Type &gt; DS AC Type: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다운그레이드</a:t>
            </a:r>
            <a:endParaRPr sz="1300" dirty="0">
              <a:solidFill>
                <a:srgbClr val="555577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IDS 보안 설계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394960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3949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3E"/>
                </a:solidFill>
                <a:latin typeface="맑은 고딕"/>
              </a:rPr>
              <a:t>IDS 보안 메커니즘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3598" y="1600200"/>
            <a:ext cx="5120640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b="1" dirty="0" err="1">
                <a:solidFill>
                  <a:srgbClr val="444455"/>
                </a:solidFill>
                <a:latin typeface="맑은 고딕"/>
              </a:rPr>
              <a:t>인증성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(Authenticity)</a:t>
            </a:r>
          </a:p>
          <a:p>
            <a:pPr lvl="1">
              <a:lnSpc>
                <a:spcPct val="20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DS ODS Card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데이터에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MAC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추가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20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Terminal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독점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MAC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메커니즘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사용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20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제3자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위변조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방지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>
              <a:lnSpc>
                <a:spcPct val="20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b="1" dirty="0" err="1">
                <a:solidFill>
                  <a:srgbClr val="444455"/>
                </a:solidFill>
                <a:latin typeface="맑은 고딕"/>
              </a:rPr>
              <a:t>복제</a:t>
            </a:r>
            <a:r>
              <a:rPr sz="1400" b="1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444455"/>
                </a:solidFill>
                <a:latin typeface="맑은 고딕"/>
              </a:rPr>
              <a:t>방지</a:t>
            </a:r>
            <a:r>
              <a:rPr sz="1400" b="1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(Anti-cloning)</a:t>
            </a:r>
          </a:p>
          <a:p>
            <a:pPr lvl="1">
              <a:lnSpc>
                <a:spcPct val="20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DS ID (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인증된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카드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식별자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)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포함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20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DS Unpredictable Number (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카드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챌린지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)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포함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20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두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값의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조합으로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복제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감지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>
              <a:lnSpc>
                <a:spcPct val="20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b="1" dirty="0" err="1">
                <a:solidFill>
                  <a:srgbClr val="444455"/>
                </a:solidFill>
                <a:latin typeface="맑은 고딕"/>
              </a:rPr>
              <a:t>쓰기</a:t>
            </a:r>
            <a:r>
              <a:rPr sz="1400" b="1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444455"/>
                </a:solidFill>
                <a:latin typeface="맑은 고딕"/>
              </a:rPr>
              <a:t>제어</a:t>
            </a:r>
            <a:r>
              <a:rPr sz="1400" b="1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(Write Control)</a:t>
            </a:r>
          </a:p>
          <a:p>
            <a:pPr lvl="1">
              <a:lnSpc>
                <a:spcPct val="20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원웨이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함수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기반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검증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20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개인화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시 DS Input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해시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저장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20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쓰기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시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해시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일치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여부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확인</a:t>
            </a:r>
            <a:endParaRPr sz="1300" dirty="0">
              <a:solidFill>
                <a:srgbClr val="555577"/>
              </a:solidFill>
              <a:latin typeface="맑은 고딕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035040" y="1188720"/>
            <a:ext cx="5852160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35040" y="1188720"/>
            <a:ext cx="58521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72200" y="123444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3E"/>
                </a:solidFill>
                <a:latin typeface="맑은 고딕"/>
              </a:rPr>
              <a:t>DS Summary 검증 절차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600200"/>
            <a:ext cx="557784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b="1" dirty="0">
                <a:solidFill>
                  <a:srgbClr val="444455"/>
                </a:solidFill>
                <a:latin typeface="맑은 고딕"/>
              </a:rPr>
              <a:t>DS Summary 1 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—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카드에서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읽기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(GPO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응답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)</a:t>
            </a:r>
          </a:p>
          <a:p>
            <a:pPr lvl="1">
              <a:lnSpc>
                <a:spcPct val="20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슬롯별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데이터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+ DS ID + DS UN +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슬롯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상태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>
              <a:lnSpc>
                <a:spcPct val="20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b="1" dirty="0">
                <a:solidFill>
                  <a:srgbClr val="444455"/>
                </a:solidFill>
                <a:latin typeface="맑은 고딕"/>
              </a:rPr>
              <a:t>DS Summary 2 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—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Kernel이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계산</a:t>
            </a:r>
            <a:endParaRPr sz="1400" dirty="0">
              <a:solidFill>
                <a:srgbClr val="444455"/>
              </a:solidFill>
              <a:latin typeface="맑은 고딕"/>
            </a:endParaRPr>
          </a:p>
          <a:p>
            <a:pPr lvl="1">
              <a:lnSpc>
                <a:spcPct val="20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OWHF2(K)[DS Summary 1]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적용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20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OWHF2: AES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기반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단방향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해시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함수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>
              <a:lnSpc>
                <a:spcPct val="20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b="1" dirty="0">
                <a:solidFill>
                  <a:srgbClr val="444455"/>
                </a:solidFill>
                <a:latin typeface="맑은 고딕"/>
              </a:rPr>
              <a:t>DS Summary 3 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—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카드가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GENERATE AC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응답에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포함</a:t>
            </a:r>
            <a:endParaRPr sz="1400" dirty="0">
              <a:solidFill>
                <a:srgbClr val="444455"/>
              </a:solidFill>
              <a:latin typeface="맑은 고딕"/>
            </a:endParaRPr>
          </a:p>
          <a:p>
            <a:pPr lvl="1">
              <a:lnSpc>
                <a:spcPct val="20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카드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내부에서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동일한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함수로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계산한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값</a:t>
            </a:r>
          </a:p>
          <a:p>
            <a:pPr lvl="1">
              <a:lnSpc>
                <a:spcPct val="20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DS Summary 2 == DS Summary 3 →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인증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성공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>
              <a:lnSpc>
                <a:spcPct val="20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불일치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시 IDS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인증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실패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표시</a:t>
            </a:r>
            <a:endParaRPr sz="14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20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OWHF2AES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알고리즘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(Chapter 8)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으로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정의</a:t>
            </a:r>
            <a:endParaRPr sz="1400" dirty="0">
              <a:solidFill>
                <a:srgbClr val="444455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086100"/>
            <a:ext cx="12191695" cy="109728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맑은 고딕"/>
              </a:rPr>
              <a:t>10. Torn Transaction Recovery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Torn Transaction Recovery — 카드 이탈 복구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맑은 고딕"/>
              </a:rPr>
              <a:t>카드소지자가 트랜잭션 완료 전 카드를 RF 필드에서 제거하는 경우(Tearing)를 처리합니다.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5394960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600200"/>
            <a:ext cx="53949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6459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3E"/>
                </a:solidFill>
                <a:latin typeface="맑은 고딕"/>
              </a:rPr>
              <a:t>Torn Transaction 개요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181" y="2026049"/>
            <a:ext cx="5120640" cy="4016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6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600" b="1" dirty="0" err="1">
                <a:solidFill>
                  <a:srgbClr val="444455"/>
                </a:solidFill>
                <a:latin typeface="맑은 고딕"/>
              </a:rPr>
              <a:t>발생</a:t>
            </a:r>
            <a:r>
              <a:rPr sz="1600" b="1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444455"/>
                </a:solidFill>
                <a:latin typeface="맑은 고딕"/>
              </a:rPr>
              <a:t>조건</a:t>
            </a:r>
            <a:r>
              <a:rPr sz="1600" b="1" dirty="0">
                <a:solidFill>
                  <a:srgbClr val="444455"/>
                </a:solidFill>
                <a:latin typeface="맑은 고딕"/>
              </a:rPr>
              <a:t>: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GENERATE AC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응답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수신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전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카드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이탈</a:t>
            </a:r>
            <a:endParaRPr sz="16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150000"/>
              </a:lnSpc>
            </a:pPr>
            <a:r>
              <a:rPr sz="16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600" b="1" dirty="0" err="1">
                <a:solidFill>
                  <a:srgbClr val="444455"/>
                </a:solidFill>
                <a:latin typeface="맑은 고딕"/>
              </a:rPr>
              <a:t>문제</a:t>
            </a:r>
            <a:r>
              <a:rPr sz="1600" b="1" dirty="0">
                <a:solidFill>
                  <a:srgbClr val="444455"/>
                </a:solidFill>
                <a:latin typeface="맑은 고딕"/>
              </a:rPr>
              <a:t>: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오프라인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잔액이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차감되었을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수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있음</a:t>
            </a:r>
            <a:endParaRPr sz="16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150000"/>
              </a:lnSpc>
            </a:pPr>
            <a:r>
              <a:rPr sz="16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600" b="1" dirty="0" err="1">
                <a:solidFill>
                  <a:srgbClr val="444455"/>
                </a:solidFill>
                <a:latin typeface="맑은 고딕"/>
              </a:rPr>
              <a:t>해결책</a:t>
            </a:r>
            <a:r>
              <a:rPr sz="1600" b="1" dirty="0">
                <a:solidFill>
                  <a:srgbClr val="444455"/>
                </a:solidFill>
                <a:latin typeface="맑은 고딕"/>
              </a:rPr>
              <a:t>: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Torn Transaction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Log에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기록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후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복구</a:t>
            </a:r>
            <a:endParaRPr sz="16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150000"/>
              </a:lnSpc>
            </a:pPr>
            <a:r>
              <a:rPr sz="1600" dirty="0" smtClean="0">
                <a:solidFill>
                  <a:srgbClr val="444455"/>
                </a:solidFill>
                <a:latin typeface="맑은 고딕"/>
              </a:rPr>
              <a:t> </a:t>
            </a:r>
            <a:endParaRPr sz="16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150000"/>
              </a:lnSpc>
            </a:pPr>
            <a:r>
              <a:rPr sz="16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600" b="1" dirty="0">
                <a:solidFill>
                  <a:srgbClr val="444455"/>
                </a:solidFill>
                <a:latin typeface="맑은 고딕"/>
              </a:rPr>
              <a:t>DRDOL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(Data Recovery Data Object List)</a:t>
            </a:r>
          </a:p>
          <a:p>
            <a:pPr lvl="1">
              <a:lnSpc>
                <a:spcPct val="150000"/>
              </a:lnSpc>
            </a:pPr>
            <a:r>
              <a:rPr sz="1400" dirty="0">
                <a:solidFill>
                  <a:srgbClr val="555577"/>
                </a:solidFill>
                <a:latin typeface="맑은 고딕"/>
              </a:rPr>
              <a:t>  – </a:t>
            </a:r>
            <a:r>
              <a:rPr sz="1400" dirty="0" err="1">
                <a:solidFill>
                  <a:srgbClr val="555577"/>
                </a:solidFill>
                <a:latin typeface="맑은 고딕"/>
              </a:rPr>
              <a:t>카드가</a:t>
            </a:r>
            <a:r>
              <a:rPr sz="1400" dirty="0">
                <a:solidFill>
                  <a:srgbClr val="555577"/>
                </a:solidFill>
                <a:latin typeface="맑은 고딕"/>
              </a:rPr>
              <a:t> RECOVER AC </a:t>
            </a:r>
            <a:r>
              <a:rPr sz="1400" dirty="0" err="1">
                <a:solidFill>
                  <a:srgbClr val="555577"/>
                </a:solidFill>
                <a:latin typeface="맑은 고딕"/>
              </a:rPr>
              <a:t>지원</a:t>
            </a:r>
            <a:r>
              <a:rPr sz="14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77"/>
                </a:solidFill>
                <a:latin typeface="맑은 고딕"/>
              </a:rPr>
              <a:t>여부</a:t>
            </a:r>
            <a:r>
              <a:rPr sz="14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77"/>
                </a:solidFill>
                <a:latin typeface="맑은 고딕"/>
              </a:rPr>
              <a:t>표시</a:t>
            </a:r>
            <a:endParaRPr sz="14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r>
              <a:rPr sz="1400" dirty="0">
                <a:solidFill>
                  <a:srgbClr val="555577"/>
                </a:solidFill>
                <a:latin typeface="맑은 고딕"/>
              </a:rPr>
              <a:t>  – </a:t>
            </a:r>
            <a:r>
              <a:rPr sz="1400" dirty="0" err="1">
                <a:solidFill>
                  <a:srgbClr val="555577"/>
                </a:solidFill>
                <a:latin typeface="맑은 고딕"/>
              </a:rPr>
              <a:t>존재하고</a:t>
            </a:r>
            <a:r>
              <a:rPr sz="14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77"/>
                </a:solidFill>
                <a:latin typeface="맑은 고딕"/>
              </a:rPr>
              <a:t>길이</a:t>
            </a:r>
            <a:r>
              <a:rPr sz="1400" dirty="0">
                <a:solidFill>
                  <a:srgbClr val="555577"/>
                </a:solidFill>
                <a:latin typeface="맑은 고딕"/>
              </a:rPr>
              <a:t> &gt; 0 → </a:t>
            </a:r>
            <a:r>
              <a:rPr sz="1400" dirty="0" err="1">
                <a:solidFill>
                  <a:srgbClr val="555577"/>
                </a:solidFill>
                <a:latin typeface="맑은 고딕"/>
              </a:rPr>
              <a:t>복구</a:t>
            </a:r>
            <a:r>
              <a:rPr sz="14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77"/>
                </a:solidFill>
                <a:latin typeface="맑은 고딕"/>
              </a:rPr>
              <a:t>지원</a:t>
            </a:r>
            <a:endParaRPr sz="14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r>
              <a:rPr sz="1400" dirty="0">
                <a:solidFill>
                  <a:srgbClr val="555577"/>
                </a:solidFill>
                <a:latin typeface="맑은 고딕"/>
              </a:rPr>
              <a:t>  – </a:t>
            </a:r>
            <a:r>
              <a:rPr sz="1400" dirty="0" err="1">
                <a:solidFill>
                  <a:srgbClr val="555577"/>
                </a:solidFill>
                <a:latin typeface="맑은 고딕"/>
              </a:rPr>
              <a:t>미존재</a:t>
            </a:r>
            <a:r>
              <a:rPr sz="14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77"/>
                </a:solidFill>
                <a:latin typeface="맑은 고딕"/>
              </a:rPr>
              <a:t>또는</a:t>
            </a:r>
            <a:r>
              <a:rPr sz="14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77"/>
                </a:solidFill>
                <a:latin typeface="맑은 고딕"/>
              </a:rPr>
              <a:t>길이</a:t>
            </a:r>
            <a:r>
              <a:rPr sz="1400" dirty="0">
                <a:solidFill>
                  <a:srgbClr val="555577"/>
                </a:solidFill>
                <a:latin typeface="맑은 고딕"/>
              </a:rPr>
              <a:t> 0 → </a:t>
            </a:r>
            <a:r>
              <a:rPr sz="1400" dirty="0" err="1">
                <a:solidFill>
                  <a:srgbClr val="555577"/>
                </a:solidFill>
                <a:latin typeface="맑은 고딕"/>
              </a:rPr>
              <a:t>복구</a:t>
            </a:r>
            <a:r>
              <a:rPr sz="14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77"/>
                </a:solidFill>
                <a:latin typeface="맑은 고딕"/>
              </a:rPr>
              <a:t>불가</a:t>
            </a:r>
            <a:endParaRPr sz="1400" dirty="0">
              <a:solidFill>
                <a:srgbClr val="555577"/>
              </a:solidFill>
              <a:latin typeface="맑은 고딕"/>
            </a:endParaRPr>
          </a:p>
          <a:p>
            <a:pPr>
              <a:lnSpc>
                <a:spcPct val="150000"/>
              </a:lnSpc>
            </a:pPr>
            <a:endParaRPr sz="16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150000"/>
              </a:lnSpc>
            </a:pPr>
            <a:r>
              <a:rPr sz="16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600" b="1" dirty="0" err="1">
                <a:solidFill>
                  <a:srgbClr val="444455"/>
                </a:solidFill>
                <a:latin typeface="맑은 고딕"/>
              </a:rPr>
              <a:t>복구</a:t>
            </a:r>
            <a:r>
              <a:rPr sz="1600" b="1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444455"/>
                </a:solidFill>
                <a:latin typeface="맑은 고딕"/>
              </a:rPr>
              <a:t>불가</a:t>
            </a:r>
            <a:r>
              <a:rPr sz="1600" b="1" dirty="0">
                <a:solidFill>
                  <a:srgbClr val="444455"/>
                </a:solidFill>
                <a:latin typeface="맑은 고딕"/>
              </a:rPr>
              <a:t> 시: 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새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트랜잭션으로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처리</a:t>
            </a:r>
            <a:endParaRPr sz="16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150000"/>
              </a:lnSpc>
            </a:pPr>
            <a:r>
              <a:rPr sz="1600" dirty="0">
                <a:solidFill>
                  <a:srgbClr val="444455"/>
                </a:solidFill>
                <a:latin typeface="맑은 고딕"/>
              </a:rPr>
              <a:t>• Torn Transaction Log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항목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미생성</a:t>
            </a:r>
            <a:endParaRPr sz="1600" dirty="0">
              <a:solidFill>
                <a:srgbClr val="444455"/>
              </a:solidFill>
              <a:latin typeface="맑은 고딕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035040" y="1600200"/>
            <a:ext cx="585216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35040" y="1600200"/>
            <a:ext cx="58521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72200" y="164592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3E"/>
                </a:solidFill>
                <a:latin typeface="맑은 고딕"/>
              </a:rPr>
              <a:t>복구 절차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993392"/>
            <a:ext cx="5577840" cy="2630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600" dirty="0" smtClean="0">
                <a:solidFill>
                  <a:srgbClr val="444455"/>
                </a:solidFill>
                <a:latin typeface="맑은 고딕"/>
              </a:rPr>
              <a:t>①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Kernel이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READ RECORD 후 Log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항목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생성</a:t>
            </a:r>
            <a:endParaRPr sz="16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150000"/>
              </a:lnSpc>
            </a:pPr>
            <a:r>
              <a:rPr sz="1600" dirty="0" smtClean="0">
                <a:solidFill>
                  <a:srgbClr val="444455"/>
                </a:solidFill>
                <a:latin typeface="맑은 고딕"/>
              </a:rPr>
              <a:t>②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카드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이탈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감지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→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Kernel이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재접촉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UI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요청</a:t>
            </a:r>
            <a:endParaRPr sz="16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150000"/>
              </a:lnSpc>
            </a:pPr>
            <a:r>
              <a:rPr sz="1600" dirty="0" smtClean="0">
                <a:solidFill>
                  <a:srgbClr val="444455"/>
                </a:solidFill>
                <a:latin typeface="맑은 고딕"/>
              </a:rPr>
              <a:t>③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카드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재접촉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→ AID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선택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후 GPO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실행</a:t>
            </a:r>
            <a:endParaRPr sz="16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150000"/>
              </a:lnSpc>
            </a:pPr>
            <a:r>
              <a:rPr sz="1600" dirty="0" smtClean="0">
                <a:solidFill>
                  <a:srgbClr val="444455"/>
                </a:solidFill>
                <a:latin typeface="맑은 고딕"/>
              </a:rPr>
              <a:t>④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Log에서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동일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카드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(UDOL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매칭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)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확인</a:t>
            </a:r>
            <a:endParaRPr sz="16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150000"/>
              </a:lnSpc>
            </a:pPr>
            <a:r>
              <a:rPr sz="1600" dirty="0" smtClean="0">
                <a:solidFill>
                  <a:srgbClr val="444455"/>
                </a:solidFill>
                <a:latin typeface="맑은 고딕"/>
              </a:rPr>
              <a:t>⑤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매칭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성공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→ RECOVER AC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명령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전송</a:t>
            </a:r>
            <a:endParaRPr sz="16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150000"/>
              </a:lnSpc>
            </a:pPr>
            <a:r>
              <a:rPr sz="1600" dirty="0" smtClean="0">
                <a:solidFill>
                  <a:srgbClr val="444455"/>
                </a:solidFill>
                <a:latin typeface="맑은 고딕"/>
              </a:rPr>
              <a:t>⑥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카드에서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이전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AC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반환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→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복구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완료</a:t>
            </a:r>
            <a:endParaRPr sz="16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150000"/>
              </a:lnSpc>
            </a:pPr>
            <a:r>
              <a:rPr sz="1600" dirty="0" smtClean="0">
                <a:solidFill>
                  <a:srgbClr val="444455"/>
                </a:solidFill>
                <a:latin typeface="맑은 고딕"/>
              </a:rPr>
              <a:t>⑦ 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OUT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Signal로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결과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반환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후 Log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항목</a:t>
            </a:r>
            <a:r>
              <a:rPr sz="16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444455"/>
                </a:solidFill>
                <a:latin typeface="맑은 고딕"/>
              </a:rPr>
              <a:t>삭제</a:t>
            </a:r>
            <a:endParaRPr sz="1600" dirty="0">
              <a:solidFill>
                <a:srgbClr val="444455"/>
              </a:solidFill>
              <a:latin typeface="맑은 고딕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035040" y="4937760"/>
            <a:ext cx="58521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035040" y="4937760"/>
            <a:ext cx="58521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72200" y="498348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3E"/>
                </a:solidFill>
                <a:latin typeface="맑은 고딕"/>
              </a:rPr>
              <a:t>복구 명령 및 예외 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5349240"/>
            <a:ext cx="5577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444455"/>
                </a:solidFill>
                <a:latin typeface="맑은 고딕"/>
              </a:rPr>
              <a:t>• RECOVER AC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명령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(INS='D0')</a:t>
            </a:r>
          </a:p>
          <a:p>
            <a:pPr lvl="1"/>
            <a:r>
              <a:rPr sz="1300" dirty="0">
                <a:solidFill>
                  <a:srgbClr val="555577"/>
                </a:solidFill>
                <a:latin typeface="맑은 고딕"/>
              </a:rPr>
              <a:t>  – DRDOL Related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Data를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데이터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필드에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포함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 lvl="1"/>
            <a:r>
              <a:rPr sz="1300" dirty="0">
                <a:solidFill>
                  <a:srgbClr val="555577"/>
                </a:solidFill>
                <a:latin typeface="맑은 고딕"/>
              </a:rPr>
              <a:t>  –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카드가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마지막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완료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트랜잭션의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AC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반환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r>
              <a:rPr sz="14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타임아웃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또는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오류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시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재시도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가능</a:t>
            </a:r>
            <a:endParaRPr sz="1400" dirty="0">
              <a:solidFill>
                <a:srgbClr val="444455"/>
              </a:solidFill>
              <a:latin typeface="맑은 고딕"/>
            </a:endParaRPr>
          </a:p>
          <a:p>
            <a:r>
              <a:rPr sz="1400" dirty="0">
                <a:solidFill>
                  <a:srgbClr val="444455"/>
                </a:solidFill>
                <a:latin typeface="맑은 고딕"/>
              </a:rPr>
              <a:t>• CLEAN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Signal로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만료된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Log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항목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정리</a:t>
            </a:r>
            <a:endParaRPr sz="1400" dirty="0">
              <a:solidFill>
                <a:srgbClr val="444455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086100"/>
            <a:ext cx="12191695" cy="109728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맑은 고딕"/>
              </a:rPr>
              <a:t>11. Mobile · Balance Reading · Relay Resistance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Mobile 트랜잭션 · Balance Reading · Relay Resistance Protocol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657600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365760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3E"/>
                </a:solidFill>
                <a:latin typeface="맑은 고딕"/>
              </a:rPr>
              <a:t>Mobile 트랜잭션 (3.9)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00200"/>
            <a:ext cx="338328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휴대폰으로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카드소지자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인증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가능</a:t>
            </a:r>
            <a:endParaRPr sz="14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2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CDCVM (Consumer Device CVM)</a:t>
            </a:r>
          </a:p>
          <a:p>
            <a:pPr lvl="1">
              <a:lnSpc>
                <a:spcPct val="250000"/>
              </a:lnSpc>
            </a:pPr>
            <a:r>
              <a:rPr sz="1300" dirty="0" smtClean="0">
                <a:solidFill>
                  <a:srgbClr val="555577"/>
                </a:solidFill>
                <a:latin typeface="맑은 고딕"/>
              </a:rPr>
              <a:t>–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기기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자체에서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PIN/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생체인증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 smtClean="0">
                <a:solidFill>
                  <a:srgbClr val="555577"/>
                </a:solidFill>
                <a:latin typeface="맑은 고딕"/>
              </a:rPr>
              <a:t>수행</a:t>
            </a:r>
            <a:endParaRPr sz="1300" dirty="0" smtClean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250000"/>
              </a:lnSpc>
            </a:pPr>
            <a:r>
              <a:rPr sz="1300" dirty="0" smtClean="0">
                <a:solidFill>
                  <a:srgbClr val="555577"/>
                </a:solidFill>
                <a:latin typeface="맑은 고딕"/>
              </a:rPr>
              <a:t>– </a:t>
            </a:r>
            <a:r>
              <a:rPr sz="1300" dirty="0" err="1" smtClean="0">
                <a:solidFill>
                  <a:srgbClr val="555577"/>
                </a:solidFill>
                <a:latin typeface="맑은 고딕"/>
              </a:rPr>
              <a:t>Kernel이</a:t>
            </a:r>
            <a:r>
              <a:rPr sz="1300" dirty="0" smtClean="0">
                <a:solidFill>
                  <a:srgbClr val="555577"/>
                </a:solidFill>
                <a:latin typeface="맑은 고딕"/>
              </a:rPr>
              <a:t> CDCVM </a:t>
            </a:r>
            <a:r>
              <a:rPr sz="1300" dirty="0" err="1" smtClean="0">
                <a:solidFill>
                  <a:srgbClr val="555577"/>
                </a:solidFill>
                <a:latin typeface="맑은 고딕"/>
              </a:rPr>
              <a:t>여부</a:t>
            </a:r>
            <a:r>
              <a:rPr sz="1300" dirty="0" smtClean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 smtClean="0">
                <a:solidFill>
                  <a:srgbClr val="555577"/>
                </a:solidFill>
                <a:latin typeface="맑은 고딕"/>
              </a:rPr>
              <a:t>구별</a:t>
            </a:r>
            <a:endParaRPr sz="1300" dirty="0" smtClean="0">
              <a:solidFill>
                <a:srgbClr val="555577"/>
              </a:solidFill>
              <a:latin typeface="맑은 고딕"/>
            </a:endParaRPr>
          </a:p>
          <a:p>
            <a:pPr>
              <a:lnSpc>
                <a:spcPct val="250000"/>
              </a:lnSpc>
            </a:pPr>
            <a:r>
              <a:rPr sz="1400" dirty="0" smtClean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Mobile Mag-Stripe: CVC3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동일</a:t>
            </a:r>
            <a:endParaRPr sz="14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2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Mobile EMV: CDCVM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플래그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확인</a:t>
            </a:r>
            <a:endParaRPr sz="1400" dirty="0">
              <a:solidFill>
                <a:srgbClr val="444455"/>
              </a:solidFill>
              <a:latin typeface="맑은 고딕"/>
            </a:endParaRPr>
          </a:p>
          <a:p>
            <a:pPr lvl="1">
              <a:lnSpc>
                <a:spcPct val="250000"/>
              </a:lnSpc>
            </a:pPr>
            <a:r>
              <a:rPr sz="1300" dirty="0" smtClean="0">
                <a:solidFill>
                  <a:srgbClr val="555577"/>
                </a:solidFill>
                <a:latin typeface="맑은 고딕"/>
              </a:rPr>
              <a:t>– 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CDCVM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성공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시 → No CVM</a:t>
            </a:r>
          </a:p>
          <a:p>
            <a:pPr lvl="1">
              <a:lnSpc>
                <a:spcPct val="250000"/>
              </a:lnSpc>
            </a:pPr>
            <a:r>
              <a:rPr sz="1300" dirty="0" smtClean="0">
                <a:solidFill>
                  <a:srgbClr val="555577"/>
                </a:solidFill>
                <a:latin typeface="맑은 고딕"/>
              </a:rPr>
              <a:t>– 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CDCVM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미지원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→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일반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CVM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처리</a:t>
            </a:r>
            <a:endParaRPr sz="1300" dirty="0">
              <a:solidFill>
                <a:srgbClr val="555577"/>
              </a:solidFill>
              <a:latin typeface="맑은 고딕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160520" y="1188720"/>
            <a:ext cx="3657600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60520" y="1188720"/>
            <a:ext cx="365760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97680" y="12344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3E"/>
                </a:solidFill>
                <a:latin typeface="맑은 고딕"/>
              </a:rPr>
              <a:t>Balance Reading (3.10)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8067" y="1599758"/>
            <a:ext cx="3794760" cy="459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sz="13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300" dirty="0" err="1">
                <a:solidFill>
                  <a:srgbClr val="444455"/>
                </a:solidFill>
                <a:latin typeface="맑은 고딕"/>
              </a:rPr>
              <a:t>카드에</a:t>
            </a:r>
            <a:r>
              <a:rPr sz="13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444455"/>
                </a:solidFill>
                <a:latin typeface="맑은 고딕"/>
              </a:rPr>
              <a:t>오프라인</a:t>
            </a:r>
            <a:r>
              <a:rPr sz="13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444455"/>
                </a:solidFill>
                <a:latin typeface="맑은 고딕"/>
              </a:rPr>
              <a:t>잔액이</a:t>
            </a:r>
            <a:r>
              <a:rPr sz="13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444455"/>
                </a:solidFill>
                <a:latin typeface="맑은 고딕"/>
              </a:rPr>
              <a:t>있는</a:t>
            </a:r>
            <a:r>
              <a:rPr sz="13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444455"/>
                </a:solidFill>
                <a:latin typeface="맑은 고딕"/>
              </a:rPr>
              <a:t>경우</a:t>
            </a:r>
            <a:endParaRPr sz="13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250000"/>
              </a:lnSpc>
            </a:pPr>
            <a:r>
              <a:rPr sz="1300" dirty="0">
                <a:solidFill>
                  <a:srgbClr val="444455"/>
                </a:solidFill>
                <a:latin typeface="맑은 고딕"/>
              </a:rPr>
              <a:t>• Application Capabilities </a:t>
            </a:r>
            <a:r>
              <a:rPr sz="1300" dirty="0" err="1">
                <a:solidFill>
                  <a:srgbClr val="444455"/>
                </a:solidFill>
                <a:latin typeface="맑은 고딕"/>
              </a:rPr>
              <a:t>Info로</a:t>
            </a:r>
            <a:r>
              <a:rPr sz="13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444455"/>
                </a:solidFill>
                <a:latin typeface="맑은 고딕"/>
              </a:rPr>
              <a:t>지원</a:t>
            </a:r>
            <a:r>
              <a:rPr sz="13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444455"/>
                </a:solidFill>
                <a:latin typeface="맑은 고딕"/>
              </a:rPr>
              <a:t>여부</a:t>
            </a:r>
            <a:r>
              <a:rPr sz="13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444455"/>
                </a:solidFill>
                <a:latin typeface="맑은 고딕"/>
              </a:rPr>
              <a:t>확인</a:t>
            </a:r>
            <a:endParaRPr sz="13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250000"/>
              </a:lnSpc>
            </a:pPr>
            <a:r>
              <a:rPr sz="13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300" dirty="0" err="1">
                <a:solidFill>
                  <a:srgbClr val="444455"/>
                </a:solidFill>
                <a:latin typeface="맑은 고딕"/>
              </a:rPr>
              <a:t>읽기</a:t>
            </a:r>
            <a:r>
              <a:rPr sz="13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444455"/>
                </a:solidFill>
                <a:latin typeface="맑은 고딕"/>
              </a:rPr>
              <a:t>시점</a:t>
            </a:r>
            <a:r>
              <a:rPr sz="1300" dirty="0">
                <a:solidFill>
                  <a:srgbClr val="444455"/>
                </a:solidFill>
                <a:latin typeface="맑은 고딕"/>
              </a:rPr>
              <a:t> 두 </a:t>
            </a:r>
            <a:r>
              <a:rPr sz="1300" dirty="0" err="1">
                <a:solidFill>
                  <a:srgbClr val="444455"/>
                </a:solidFill>
                <a:latin typeface="맑은 고딕"/>
              </a:rPr>
              <a:t>가지</a:t>
            </a:r>
            <a:r>
              <a:rPr sz="1300" dirty="0">
                <a:solidFill>
                  <a:srgbClr val="444455"/>
                </a:solidFill>
                <a:latin typeface="맑은 고딕"/>
              </a:rPr>
              <a:t>:</a:t>
            </a:r>
          </a:p>
          <a:p>
            <a:pPr lvl="1">
              <a:lnSpc>
                <a:spcPct val="2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Balance Read Before Gen AC</a:t>
            </a:r>
          </a:p>
          <a:p>
            <a:pPr lvl="1">
              <a:lnSpc>
                <a:spcPct val="2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Balance Read After Gen AC</a:t>
            </a:r>
          </a:p>
          <a:p>
            <a:pPr>
              <a:lnSpc>
                <a:spcPct val="250000"/>
              </a:lnSpc>
            </a:pPr>
            <a:r>
              <a:rPr sz="1300" dirty="0">
                <a:solidFill>
                  <a:srgbClr val="444455"/>
                </a:solidFill>
                <a:latin typeface="맑은 고딕"/>
              </a:rPr>
              <a:t>• GET DATA </a:t>
            </a:r>
            <a:r>
              <a:rPr sz="1300" dirty="0" err="1">
                <a:solidFill>
                  <a:srgbClr val="444455"/>
                </a:solidFill>
                <a:latin typeface="맑은 고딕"/>
              </a:rPr>
              <a:t>명령으로</a:t>
            </a:r>
            <a:r>
              <a:rPr sz="13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444455"/>
                </a:solidFill>
                <a:latin typeface="맑은 고딕"/>
              </a:rPr>
              <a:t>잔액</a:t>
            </a:r>
            <a:r>
              <a:rPr sz="13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444455"/>
                </a:solidFill>
                <a:latin typeface="맑은 고딕"/>
              </a:rPr>
              <a:t>조회</a:t>
            </a:r>
            <a:endParaRPr sz="1300" dirty="0">
              <a:solidFill>
                <a:srgbClr val="444455"/>
              </a:solidFill>
              <a:latin typeface="맑은 고딕"/>
            </a:endParaRPr>
          </a:p>
          <a:p>
            <a:pPr lvl="1">
              <a:lnSpc>
                <a:spcPct val="2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태그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: '9F79' (Balance Amount)</a:t>
            </a:r>
          </a:p>
          <a:p>
            <a:pPr>
              <a:lnSpc>
                <a:spcPct val="250000"/>
              </a:lnSpc>
            </a:pPr>
            <a:r>
              <a:rPr sz="1300" dirty="0">
                <a:solidFill>
                  <a:srgbClr val="444455"/>
                </a:solidFill>
                <a:latin typeface="맑은 고딕"/>
              </a:rPr>
              <a:t>• Terminal </a:t>
            </a:r>
            <a:r>
              <a:rPr sz="1300" dirty="0" err="1">
                <a:solidFill>
                  <a:srgbClr val="444455"/>
                </a:solidFill>
                <a:latin typeface="맑은 고딕"/>
              </a:rPr>
              <a:t>화면</a:t>
            </a:r>
            <a:r>
              <a:rPr sz="13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444455"/>
                </a:solidFill>
                <a:latin typeface="맑은 고딕"/>
              </a:rPr>
              <a:t>표시</a:t>
            </a:r>
            <a:r>
              <a:rPr sz="13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444455"/>
                </a:solidFill>
                <a:latin typeface="맑은 고딕"/>
              </a:rPr>
              <a:t>또는</a:t>
            </a:r>
            <a:r>
              <a:rPr sz="13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444455"/>
                </a:solidFill>
                <a:latin typeface="맑은 고딕"/>
              </a:rPr>
              <a:t>영수증</a:t>
            </a:r>
            <a:r>
              <a:rPr sz="13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444455"/>
                </a:solidFill>
                <a:latin typeface="맑은 고딕"/>
              </a:rPr>
              <a:t>인쇄</a:t>
            </a:r>
            <a:endParaRPr sz="13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250000"/>
              </a:lnSpc>
            </a:pPr>
            <a:r>
              <a:rPr sz="13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300" dirty="0" err="1">
                <a:solidFill>
                  <a:srgbClr val="444455"/>
                </a:solidFill>
                <a:latin typeface="맑은 고딕"/>
              </a:rPr>
              <a:t>잔액</a:t>
            </a:r>
            <a:r>
              <a:rPr sz="13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444455"/>
                </a:solidFill>
                <a:latin typeface="맑은 고딕"/>
              </a:rPr>
              <a:t>표시는</a:t>
            </a:r>
            <a:r>
              <a:rPr sz="13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444455"/>
                </a:solidFill>
                <a:latin typeface="맑은 고딕"/>
              </a:rPr>
              <a:t>선택적</a:t>
            </a:r>
            <a:r>
              <a:rPr sz="13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444455"/>
                </a:solidFill>
                <a:latin typeface="맑은 고딕"/>
              </a:rPr>
              <a:t>설정</a:t>
            </a:r>
            <a:r>
              <a:rPr sz="13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444455"/>
                </a:solidFill>
                <a:latin typeface="맑은 고딕"/>
              </a:rPr>
              <a:t>옵션</a:t>
            </a:r>
            <a:endParaRPr sz="1300" dirty="0">
              <a:solidFill>
                <a:srgbClr val="444455"/>
              </a:solidFill>
              <a:latin typeface="맑은 고딕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979758" y="1188720"/>
            <a:ext cx="3998882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979758" y="1188720"/>
            <a:ext cx="3998882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42514" y="1234440"/>
            <a:ext cx="36989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3E"/>
                </a:solidFill>
                <a:latin typeface="맑은 고딕"/>
              </a:rPr>
              <a:t>Relay Resistance Protocol (3.11)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9758" y="1600200"/>
            <a:ext cx="3998882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릴레이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공격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방어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메커니즘</a:t>
            </a:r>
            <a:endParaRPr sz="14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20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공격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: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위조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단말·카드로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진짜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단말에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중계</a:t>
            </a:r>
            <a:endParaRPr sz="14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20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원리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: RF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전달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지연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시간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측정</a:t>
            </a:r>
            <a:endParaRPr sz="14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20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EXCHANGE RELAY RESISTANCE DATA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명령</a:t>
            </a:r>
            <a:endParaRPr sz="1400" dirty="0">
              <a:solidFill>
                <a:srgbClr val="444455"/>
              </a:solidFill>
              <a:latin typeface="맑은 고딕"/>
            </a:endParaRPr>
          </a:p>
          <a:p>
            <a:pPr lvl="1">
              <a:lnSpc>
                <a:spcPct val="20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단말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난수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+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타임스탬프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포함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20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카드가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처리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시간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범위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응답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>
              <a:lnSpc>
                <a:spcPct val="20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Kernel이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왕복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지연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측정</a:t>
            </a:r>
            <a:endParaRPr sz="1400" dirty="0">
              <a:solidFill>
                <a:srgbClr val="444455"/>
              </a:solidFill>
              <a:latin typeface="맑은 고딕"/>
            </a:endParaRPr>
          </a:p>
          <a:p>
            <a:pPr lvl="1">
              <a:lnSpc>
                <a:spcPct val="20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카드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지정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Min/Max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시간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내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여부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확인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>
              <a:lnSpc>
                <a:spcPct val="20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Grace Period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허용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(위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아래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각각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)</a:t>
            </a:r>
          </a:p>
          <a:p>
            <a:pPr>
              <a:lnSpc>
                <a:spcPct val="20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시간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초과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→ RRP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실패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표시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(TVR)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086100"/>
            <a:ext cx="12191695" cy="109728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맑은 고딕"/>
              </a:rPr>
              <a:t>12. C-APDU 명령어 구조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C-APDU 명령어 목록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맑은 고딕"/>
              </a:rPr>
              <a:t>Kernel 2는 9종의 C-APDU 명령어를 카드에 전송합니다. CLA 바이트는 '80' (독점 클래스)를 사용합니다.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7693297"/>
              </p:ext>
            </p:extLst>
          </p:nvPr>
        </p:nvGraphicFramePr>
        <p:xfrm>
          <a:off x="365760" y="1600200"/>
          <a:ext cx="1143000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914400"/>
                <a:gridCol w="914400"/>
                <a:gridCol w="5943600"/>
              </a:tblGrid>
              <a:tr h="5638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명령어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CLA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INS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핵심 용도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맑은 고딕"/>
                        </a:rPr>
                        <a:t>Compute Cryptographic Checksum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맑은 고딕"/>
                        </a:rPr>
                        <a:t>'80'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맑은 고딕"/>
                        </a:rPr>
                        <a:t>'2A'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latin typeface="맑은 고딕"/>
                        </a:rPr>
                        <a:t>Mag-Stripe CVC3 암호문 계산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맑은 고딕"/>
                        </a:rPr>
                        <a:t>Exchange Relay Resistance Data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맑은 고딕"/>
                        </a:rPr>
                        <a:t>'80'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맑은 고딕"/>
                        </a:rPr>
                        <a:t>'2C'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latin typeface="맑은 고딕"/>
                        </a:rPr>
                        <a:t>릴레이 공격 방어 — 타이밍 측정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맑은 고딕"/>
                        </a:rPr>
                        <a:t>Generate AC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맑은 고딕"/>
                        </a:rPr>
                        <a:t>'80'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맑은 고딕"/>
                        </a:rPr>
                        <a:t>'AE'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latin typeface="맑은 고딕"/>
                        </a:rPr>
                        <a:t>ARQC/TC/AAC 암호문 생성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맑은 고딕"/>
                        </a:rPr>
                        <a:t>Get Data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맑은 고딕"/>
                        </a:rPr>
                        <a:t>'80'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맑은 고딕"/>
                        </a:rPr>
                        <a:t>'CA'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latin typeface="맑은 고딕"/>
                        </a:rPr>
                        <a:t>단일 데이터 오브젝트 조회 (SDS, Balance)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맑은 고딕"/>
                        </a:rPr>
                        <a:t>Get Processing Options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맑은 고딕"/>
                        </a:rPr>
                        <a:t>'80'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맑은 고딕"/>
                        </a:rPr>
                        <a:t>'A8'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latin typeface="맑은 고딕"/>
                        </a:rPr>
                        <a:t>AIP + AFL 수신, 트랜잭션 시작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맑은 고딕"/>
                        </a:rPr>
                        <a:t>Put Data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맑은 고딕"/>
                        </a:rPr>
                        <a:t>'80'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맑은 고딕"/>
                        </a:rPr>
                        <a:t>'DA'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latin typeface="맑은 고딕"/>
                        </a:rPr>
                        <a:t>카드에 데이터 쓰기 (SDS)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맑은 고딕"/>
                        </a:rPr>
                        <a:t>Read Record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맑은 고딕"/>
                        </a:rPr>
                        <a:t>'00'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맑은 고딕"/>
                        </a:rPr>
                        <a:t>'B2'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latin typeface="맑은 고딕"/>
                        </a:rPr>
                        <a:t>AFL이 가리키는 레코드 읽기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맑은 고딕"/>
                        </a:rPr>
                        <a:t>Recover AC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맑은 고딕"/>
                        </a:rPr>
                        <a:t>'80'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맑은 고딕"/>
                        </a:rPr>
                        <a:t>'D0'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dirty="0" err="1">
                          <a:latin typeface="맑은 고딕"/>
                        </a:rPr>
                        <a:t>중단된</a:t>
                      </a:r>
                      <a:r>
                        <a:rPr sz="1300" dirty="0">
                          <a:latin typeface="맑은 고딕"/>
                        </a:rPr>
                        <a:t> </a:t>
                      </a:r>
                      <a:r>
                        <a:rPr sz="1300" dirty="0" err="1">
                          <a:latin typeface="맑은 고딕"/>
                        </a:rPr>
                        <a:t>트랜잭션의</a:t>
                      </a:r>
                      <a:r>
                        <a:rPr sz="1300" dirty="0">
                          <a:latin typeface="맑은 고딕"/>
                        </a:rPr>
                        <a:t> AC </a:t>
                      </a:r>
                      <a:r>
                        <a:rPr sz="1300" dirty="0" err="1">
                          <a:latin typeface="맑은 고딕"/>
                        </a:rPr>
                        <a:t>복구</a:t>
                      </a:r>
                      <a:endParaRPr sz="1300" dirty="0">
                        <a:latin typeface="맑은 고딕"/>
                      </a:endParaRP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핵심 명령어 — GET PROCESSING OPTIONS &amp; GENERATE AC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486400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48640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3E"/>
                </a:solidFill>
                <a:latin typeface="맑은 고딕"/>
              </a:rPr>
              <a:t>GET PROCESSING OPTIONS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3598" y="1600200"/>
            <a:ext cx="5212080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sz="1400" b="1" dirty="0">
                <a:solidFill>
                  <a:srgbClr val="444455"/>
                </a:solidFill>
                <a:latin typeface="맑은 고딕"/>
              </a:rPr>
              <a:t>• GET PROCESSING OPTIONS 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(INS='A8')</a:t>
            </a:r>
          </a:p>
          <a:p>
            <a:pPr lvl="1">
              <a:lnSpc>
                <a:spcPct val="20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데이터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: PDOL Related Data ('8300'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이상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)</a:t>
            </a:r>
          </a:p>
          <a:p>
            <a:pPr lvl="1">
              <a:lnSpc>
                <a:spcPct val="20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PDOL: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카드가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요청하는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단말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데이터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목록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20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응답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Format 1 or 2:</a:t>
            </a:r>
          </a:p>
          <a:p>
            <a:pPr lvl="1">
              <a:lnSpc>
                <a:spcPct val="20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  AIP (Application Interchange Profile)</a:t>
            </a:r>
          </a:p>
          <a:p>
            <a:pPr lvl="1">
              <a:lnSpc>
                <a:spcPct val="20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  AFL (Application File Locator)</a:t>
            </a:r>
          </a:p>
          <a:p>
            <a:pPr>
              <a:lnSpc>
                <a:spcPct val="20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b="1" dirty="0">
                <a:solidFill>
                  <a:srgbClr val="444455"/>
                </a:solidFill>
                <a:latin typeface="맑은 고딕"/>
              </a:rPr>
              <a:t>AIP </a:t>
            </a:r>
            <a:r>
              <a:rPr sz="1400" b="1" dirty="0" err="1">
                <a:solidFill>
                  <a:srgbClr val="444455"/>
                </a:solidFill>
                <a:latin typeface="맑은 고딕"/>
              </a:rPr>
              <a:t>주요</a:t>
            </a:r>
            <a:r>
              <a:rPr sz="1400" b="1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444455"/>
                </a:solidFill>
                <a:latin typeface="맑은 고딕"/>
              </a:rPr>
              <a:t>비트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:</a:t>
            </a:r>
          </a:p>
          <a:p>
            <a:pPr lvl="1">
              <a:lnSpc>
                <a:spcPct val="20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SDA/DDA/CDA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지원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여부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20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Mag-Stripe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모드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지원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여부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20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RRP(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릴레이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저항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)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지원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여부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20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IDS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지원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여부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>
              <a:lnSpc>
                <a:spcPct val="20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b="1" dirty="0">
                <a:solidFill>
                  <a:srgbClr val="444455"/>
                </a:solidFill>
                <a:latin typeface="맑은 고딕"/>
              </a:rPr>
              <a:t>AFL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: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읽어야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할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레코드의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SFI +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레코드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번호</a:t>
            </a:r>
            <a:endParaRPr sz="1400" dirty="0">
              <a:solidFill>
                <a:srgbClr val="444455"/>
              </a:solidFill>
              <a:latin typeface="맑은 고딕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035040" y="1188720"/>
            <a:ext cx="5852160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35040" y="1188720"/>
            <a:ext cx="58521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72200" y="123444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3E"/>
                </a:solidFill>
                <a:latin typeface="맑은 고딕"/>
              </a:rPr>
              <a:t>GENERATE AC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600200"/>
            <a:ext cx="5577840" cy="4639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b="1" dirty="0">
                <a:solidFill>
                  <a:srgbClr val="444455"/>
                </a:solidFill>
                <a:latin typeface="맑은 고딕"/>
              </a:rPr>
              <a:t>GENERATE AC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(INS='AE')</a:t>
            </a: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Reference Control Parameter (P1):</a:t>
            </a: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  '00': AAC (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거부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  '40': TC (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오프라인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승인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  '80': ARQC (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온라인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요청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 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비트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4: CDA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요청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여부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데이터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: CDOL1 Related Data</a:t>
            </a: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응답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Format 1 (Mag/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비CDA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EMV):</a:t>
            </a: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  ATC, AC(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암호문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), IAD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포함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응답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Format 2 (CDA EMV):</a:t>
            </a: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  SDAD (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동적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서명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)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추가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 smtClean="0">
                <a:solidFill>
                  <a:srgbClr val="555577"/>
                </a:solidFill>
                <a:latin typeface="맑은 고딕"/>
              </a:rPr>
              <a:t>포함</a:t>
            </a:r>
            <a:endParaRPr lang="en-US" sz="1300" dirty="0" smtClean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endParaRPr sz="1300" dirty="0">
              <a:solidFill>
                <a:srgbClr val="555577"/>
              </a:solidFill>
              <a:latin typeface="맑은 고딕"/>
            </a:endParaRPr>
          </a:p>
          <a:p>
            <a:pPr>
              <a:lnSpc>
                <a:spcPct val="1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b="1" dirty="0">
                <a:solidFill>
                  <a:srgbClr val="444455"/>
                </a:solidFill>
                <a:latin typeface="맑은 고딕"/>
              </a:rPr>
              <a:t>2차 GENERATE AC 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(CDOL2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기반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):</a:t>
            </a: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온라인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응답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수신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후 TC/AAC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확정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Issuer Script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실행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결과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포함</a:t>
            </a:r>
            <a:endParaRPr sz="1300" dirty="0">
              <a:solidFill>
                <a:srgbClr val="555577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086100"/>
            <a:ext cx="12191695" cy="109728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맑은 고딕"/>
              </a:rPr>
              <a:t>13. Kernel 상태 기계 (State Machine)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Kernel 2 상태 기계 — 16개 상태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맑은 고딕"/>
              </a:rPr>
              <a:t>Kernel 처리는 외부 Signal에 의해 상태 전이가 트리거되는 상태 기계로 명세됩니다.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1920240" cy="53035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752859"/>
            <a:ext cx="18288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맑은 고딕"/>
              </a:rPr>
              <a:t>S1 — Idle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1600200"/>
            <a:ext cx="36576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77440" y="1668221"/>
            <a:ext cx="352044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444455"/>
                </a:solidFill>
                <a:latin typeface="맑은 고딕"/>
              </a:rPr>
              <a:t>ACT/STOP/CLEAN 신호 수신, PDOL 처리, GPO 명령 준비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40280"/>
            <a:ext cx="1920240" cy="53035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2392939"/>
            <a:ext cx="18288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맑은 고딕"/>
              </a:rPr>
              <a:t>S2 — GPO </a:t>
            </a:r>
            <a:r>
              <a:rPr sz="1100" b="1" dirty="0" err="1">
                <a:solidFill>
                  <a:srgbClr val="FFFFFF"/>
                </a:solidFill>
                <a:latin typeface="맑은 고딕"/>
              </a:rPr>
              <a:t>응답</a:t>
            </a:r>
            <a:r>
              <a:rPr sz="11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맑은 고딕"/>
              </a:rPr>
              <a:t>대기</a:t>
            </a:r>
            <a:endParaRPr sz="1100" b="1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286000" y="2240280"/>
            <a:ext cx="36576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377440" y="2392939"/>
            <a:ext cx="352044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444455"/>
                </a:solidFill>
                <a:latin typeface="맑은 고딕"/>
              </a:rPr>
              <a:t>GPO 응답 수신, AIP·AFL 파싱, 모드 분기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880360"/>
            <a:ext cx="1920240" cy="53035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" y="3033019"/>
            <a:ext cx="18288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S3, R1 — Common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2880360"/>
            <a:ext cx="36576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377440" y="3033019"/>
            <a:ext cx="352044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444455"/>
                </a:solidFill>
                <a:latin typeface="맑은 고딕"/>
              </a:rPr>
              <a:t>READ RECORD 루프 공통 처리, Tags To Read 수집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520440"/>
            <a:ext cx="1920240" cy="53035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1480" y="3673099"/>
            <a:ext cx="18288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S4 — EMV READ REC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0" y="3520440"/>
            <a:ext cx="36576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377440" y="3673099"/>
            <a:ext cx="352044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444455"/>
                </a:solidFill>
                <a:latin typeface="맑은 고딕"/>
              </a:rPr>
              <a:t>EMV 모드 레코드 읽기 응답 처리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160520"/>
            <a:ext cx="1920240" cy="53035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1480" y="4313179"/>
            <a:ext cx="18288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S5 — GET DATA 응답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0" y="4160520"/>
            <a:ext cx="36576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377440" y="4313179"/>
            <a:ext cx="352044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444455"/>
                </a:solidFill>
                <a:latin typeface="맑은 고딕"/>
              </a:rPr>
              <a:t>추가 데이터 조회(잔액 등) 응답 처리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800600"/>
            <a:ext cx="1920240" cy="53035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1480" y="4953259"/>
            <a:ext cx="18288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S6 — PUT DATA 이전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0" y="4800600"/>
            <a:ext cx="36576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377440" y="4953259"/>
            <a:ext cx="352044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444455"/>
                </a:solidFill>
                <a:latin typeface="맑은 고딕"/>
              </a:rPr>
              <a:t>GENERATE AC 이전 쓰기 (SDS)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440680"/>
            <a:ext cx="1920240" cy="53035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11480" y="5593339"/>
            <a:ext cx="18288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S7 — Restart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0" y="5440680"/>
            <a:ext cx="36576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377440" y="5593339"/>
            <a:ext cx="352044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444455"/>
                </a:solidFill>
                <a:latin typeface="맑은 고딕"/>
              </a:rPr>
              <a:t>릴레이 저항 또는 재시작 처리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6080760"/>
            <a:ext cx="1920240" cy="53035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11480" y="6233419"/>
            <a:ext cx="18288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S8 — ERRD 응답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0" y="6080760"/>
            <a:ext cx="36576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377440" y="6233419"/>
            <a:ext cx="352044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444455"/>
                </a:solidFill>
                <a:latin typeface="맑은 고딕"/>
              </a:rPr>
              <a:t>Exchange Relay Resistance Data 응답 처리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5080" y="1600200"/>
            <a:ext cx="1920240" cy="53035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0" y="1752859"/>
            <a:ext cx="18288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S9 — Gen AC 응답 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75320" y="1600200"/>
            <a:ext cx="36576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366760" y="1673352"/>
            <a:ext cx="3520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55"/>
                </a:solidFill>
                <a:latin typeface="맑은 고딕"/>
              </a:rPr>
              <a:t>1차 GENERATE AC 응답 처리, CDA 서명 검증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55080" y="2240280"/>
            <a:ext cx="1920240" cy="53035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00800" y="2392939"/>
            <a:ext cx="18288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S10 — Recover AC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75320" y="2240280"/>
            <a:ext cx="36576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366760" y="2392939"/>
            <a:ext cx="352044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dirty="0">
                <a:solidFill>
                  <a:srgbClr val="444455"/>
                </a:solidFill>
                <a:latin typeface="맑은 고딕"/>
              </a:rPr>
              <a:t>RECOVER AC </a:t>
            </a:r>
            <a:r>
              <a:rPr sz="1100" b="0" dirty="0" err="1">
                <a:solidFill>
                  <a:srgbClr val="444455"/>
                </a:solidFill>
                <a:latin typeface="맑은 고딕"/>
              </a:rPr>
              <a:t>응답</a:t>
            </a:r>
            <a:r>
              <a:rPr sz="1100" b="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444455"/>
                </a:solidFill>
                <a:latin typeface="맑은 고딕"/>
              </a:rPr>
              <a:t>처리</a:t>
            </a:r>
            <a:r>
              <a:rPr sz="1100" b="0" dirty="0">
                <a:solidFill>
                  <a:srgbClr val="444455"/>
                </a:solidFill>
                <a:latin typeface="맑은 고딕"/>
              </a:rPr>
              <a:t> (Torn </a:t>
            </a:r>
            <a:r>
              <a:rPr sz="1100" b="0" dirty="0" err="1">
                <a:solidFill>
                  <a:srgbClr val="444455"/>
                </a:solidFill>
                <a:latin typeface="맑은 고딕"/>
              </a:rPr>
              <a:t>복구</a:t>
            </a:r>
            <a:r>
              <a:rPr sz="1100" b="0" dirty="0">
                <a:solidFill>
                  <a:srgbClr val="444455"/>
                </a:solidFill>
                <a:latin typeface="맑은 고딕"/>
              </a:rPr>
              <a:t>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55080" y="2880360"/>
            <a:ext cx="1920240" cy="53035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00800" y="3033019"/>
            <a:ext cx="18288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S11 — Common AC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75320" y="2880360"/>
            <a:ext cx="36576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66760" y="3033019"/>
            <a:ext cx="352044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444455"/>
                </a:solidFill>
                <a:latin typeface="맑은 고딕"/>
              </a:rPr>
              <a:t>S9/S10 공통 처리 — AC 유형 최종 결정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55080" y="3520440"/>
            <a:ext cx="1920240" cy="53035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00800" y="3673099"/>
            <a:ext cx="18288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S12 — Balance 읽기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75320" y="3520440"/>
            <a:ext cx="36576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366760" y="3673099"/>
            <a:ext cx="352044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444455"/>
                </a:solidFill>
                <a:latin typeface="맑은 고딕"/>
              </a:rPr>
              <a:t>잔액 조회 응답 처리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55080" y="4160520"/>
            <a:ext cx="1920240" cy="53035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400800" y="4313179"/>
            <a:ext cx="18288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S13 — 2차 Gen AC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75320" y="4160520"/>
            <a:ext cx="36576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66760" y="4313179"/>
            <a:ext cx="352044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444455"/>
                </a:solidFill>
                <a:latin typeface="맑은 고딕"/>
              </a:rPr>
              <a:t>2차 GENERATE AC 응답 처리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55080" y="4800600"/>
            <a:ext cx="1920240" cy="53035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400800" y="4953259"/>
            <a:ext cx="18288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S14 — PUT DATA 이후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75320" y="4800600"/>
            <a:ext cx="36576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366760" y="4953259"/>
            <a:ext cx="352044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444455"/>
                </a:solidFill>
                <a:latin typeface="맑은 고딕"/>
              </a:rPr>
              <a:t>GENERATE AC 이후 쓰기 처리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355080" y="5440680"/>
            <a:ext cx="1920240" cy="53035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400800" y="5593339"/>
            <a:ext cx="18288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S15 — Waiting Write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275320" y="5440680"/>
            <a:ext cx="36576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66760" y="5593339"/>
            <a:ext cx="352044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444455"/>
                </a:solidFill>
                <a:latin typeface="맑은 고딕"/>
              </a:rPr>
              <a:t>IDS 쓰기 완료 대기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355080" y="6080760"/>
            <a:ext cx="1920240" cy="53035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400800" y="6233419"/>
            <a:ext cx="18288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S16 — Pre-GenAC Bal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275320" y="6080760"/>
            <a:ext cx="36576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366760" y="6233419"/>
            <a:ext cx="352044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444455"/>
                </a:solidFill>
                <a:latin typeface="맑은 고딕"/>
              </a:rPr>
              <a:t>잔액 읽기 Before Gen AC 응답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State 1 — Idle (트랜잭션 시작)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맑은 고딕"/>
              </a:rPr>
              <a:t>Kernel이 신호를 대기하는 초기 상태. ACT, STOP, CLEAN 신호를 수신합니다.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27632"/>
            <a:ext cx="2286000" cy="713232"/>
          </a:xfrm>
          <a:prstGeom prst="rect">
            <a:avLst/>
          </a:prstGeom>
          <a:solidFill>
            <a:srgbClr val="D0DFF5"/>
          </a:solidFill>
          <a:ln w="12700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762559"/>
            <a:ext cx="219456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1B3E"/>
                </a:solidFill>
                <a:latin typeface="맑은 고딕"/>
              </a:rPr>
              <a:t>ACT Signal 수신
(금액·통화·유형 포함)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48919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EB6B1A"/>
                </a:solidFill>
                <a:latin typeface="맑은 고딕"/>
              </a:rP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15768"/>
            <a:ext cx="2286000" cy="713232"/>
          </a:xfrm>
          <a:prstGeom prst="rect">
            <a:avLst/>
          </a:prstGeom>
          <a:solidFill>
            <a:srgbClr val="D0DFF5"/>
          </a:solidFill>
          <a:ln w="12700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850695"/>
            <a:ext cx="219456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dirty="0">
                <a:solidFill>
                  <a:srgbClr val="0D1B3E"/>
                </a:solidFill>
                <a:latin typeface="맑은 고딕"/>
              </a:rPr>
              <a:t>Sync Data </a:t>
            </a:r>
            <a:r>
              <a:rPr sz="1200" b="1" dirty="0" err="1">
                <a:solidFill>
                  <a:srgbClr val="0D1B3E"/>
                </a:solidFill>
                <a:latin typeface="맑은 고딕"/>
              </a:rPr>
              <a:t>파싱</a:t>
            </a:r>
            <a:r>
              <a:rPr sz="1200" b="1" dirty="0">
                <a:solidFill>
                  <a:srgbClr val="0D1B3E"/>
                </a:solidFill>
                <a:latin typeface="맑은 고딕"/>
              </a:rPr>
              <a:t>
Kernel DB </a:t>
            </a:r>
            <a:r>
              <a:rPr sz="1200" b="1" dirty="0" err="1">
                <a:solidFill>
                  <a:srgbClr val="0D1B3E"/>
                </a:solidFill>
                <a:latin typeface="맑은 고딕"/>
              </a:rPr>
              <a:t>초기화</a:t>
            </a:r>
            <a:endParaRPr sz="1200" b="1" dirty="0">
              <a:solidFill>
                <a:srgbClr val="0D1B3E"/>
              </a:solidFill>
              <a:latin typeface="맑은 고딕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417320" y="34564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EB6B1A"/>
                </a:solidFill>
                <a:latin typeface="맑은 고딕"/>
              </a:rPr>
              <a:t>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785616"/>
            <a:ext cx="2286000" cy="713232"/>
          </a:xfrm>
          <a:prstGeom prst="rect">
            <a:avLst/>
          </a:prstGeom>
          <a:solidFill>
            <a:srgbClr val="D0DFF5"/>
          </a:solidFill>
          <a:ln w="12700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3920543"/>
            <a:ext cx="219456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dirty="0">
                <a:solidFill>
                  <a:srgbClr val="0D1B3E"/>
                </a:solidFill>
                <a:latin typeface="맑은 고딕"/>
              </a:rPr>
              <a:t>PDOL </a:t>
            </a:r>
            <a:r>
              <a:rPr sz="1200" b="1" dirty="0" err="1">
                <a:solidFill>
                  <a:srgbClr val="0D1B3E"/>
                </a:solidFill>
                <a:latin typeface="맑은 고딕"/>
              </a:rPr>
              <a:t>존재</a:t>
            </a:r>
            <a:r>
              <a:rPr sz="1200" b="1" dirty="0">
                <a:solidFill>
                  <a:srgbClr val="0D1B3E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0D1B3E"/>
                </a:solidFill>
                <a:latin typeface="맑은 고딕"/>
              </a:rPr>
              <a:t>여부</a:t>
            </a:r>
            <a:r>
              <a:rPr sz="1200" b="1" dirty="0">
                <a:solidFill>
                  <a:srgbClr val="0D1B3E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0D1B3E"/>
                </a:solidFill>
                <a:latin typeface="맑은 고딕"/>
              </a:rPr>
              <a:t>확인</a:t>
            </a:r>
            <a:r>
              <a:rPr sz="1200" b="1" dirty="0">
                <a:solidFill>
                  <a:srgbClr val="0D1B3E"/>
                </a:solidFill>
                <a:latin typeface="맑은 고딕"/>
              </a:rPr>
              <a:t>
(</a:t>
            </a:r>
            <a:r>
              <a:rPr sz="1200" b="1" dirty="0" err="1">
                <a:solidFill>
                  <a:srgbClr val="0D1B3E"/>
                </a:solidFill>
                <a:latin typeface="맑은 고딕"/>
              </a:rPr>
              <a:t>카드</a:t>
            </a:r>
            <a:r>
              <a:rPr sz="1200" b="1" dirty="0">
                <a:solidFill>
                  <a:srgbClr val="0D1B3E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0D1B3E"/>
                </a:solidFill>
                <a:latin typeface="맑은 고딕"/>
              </a:rPr>
              <a:t>요청</a:t>
            </a:r>
            <a:r>
              <a:rPr sz="1200" b="1" dirty="0">
                <a:solidFill>
                  <a:srgbClr val="0D1B3E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0D1B3E"/>
                </a:solidFill>
                <a:latin typeface="맑은 고딕"/>
              </a:rPr>
              <a:t>데이터</a:t>
            </a:r>
            <a:r>
              <a:rPr sz="1200" b="1" dirty="0">
                <a:solidFill>
                  <a:srgbClr val="0D1B3E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0D1B3E"/>
                </a:solidFill>
                <a:latin typeface="맑은 고딕"/>
              </a:rPr>
              <a:t>목록</a:t>
            </a:r>
            <a:r>
              <a:rPr sz="1200" b="1" dirty="0">
                <a:solidFill>
                  <a:srgbClr val="0D1B3E"/>
                </a:solidFill>
                <a:latin typeface="맑은 고딕"/>
              </a:rPr>
              <a:t>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548785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EB6B1A"/>
                </a:solidFill>
                <a:latin typeface="맑은 고딕"/>
              </a:rPr>
              <a:t>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868583"/>
            <a:ext cx="2286000" cy="713232"/>
          </a:xfrm>
          <a:prstGeom prst="rect">
            <a:avLst/>
          </a:prstGeom>
          <a:solidFill>
            <a:srgbClr val="D0DFF5"/>
          </a:solidFill>
          <a:ln w="12700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5003510"/>
            <a:ext cx="219456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1B3E"/>
                </a:solidFill>
                <a:latin typeface="맑은 고딕"/>
              </a:rPr>
              <a:t>PDOL Related Data 구성
(단말 데이터 조립)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62247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EB6B1A"/>
                </a:solidFill>
                <a:latin typeface="맑은 고딕"/>
              </a:rPr>
              <a:t>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916204"/>
            <a:ext cx="2286000" cy="713232"/>
          </a:xfrm>
          <a:prstGeom prst="rect">
            <a:avLst/>
          </a:prstGeom>
          <a:solidFill>
            <a:srgbClr val="D0DFF5"/>
          </a:solidFill>
          <a:ln w="12700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6051131"/>
            <a:ext cx="219456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dirty="0">
                <a:solidFill>
                  <a:srgbClr val="0D1B3E"/>
                </a:solidFill>
                <a:latin typeface="맑은 고딕"/>
              </a:rPr>
              <a:t>GET PROCESSING OPTIONS
</a:t>
            </a:r>
            <a:r>
              <a:rPr sz="1200" b="1" dirty="0" err="1">
                <a:solidFill>
                  <a:srgbClr val="0D1B3E"/>
                </a:solidFill>
                <a:latin typeface="맑은 고딕"/>
              </a:rPr>
              <a:t>명령</a:t>
            </a:r>
            <a:r>
              <a:rPr sz="1200" b="1" dirty="0">
                <a:solidFill>
                  <a:srgbClr val="0D1B3E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0D1B3E"/>
                </a:solidFill>
                <a:latin typeface="맑은 고딕"/>
              </a:rPr>
              <a:t>전송</a:t>
            </a:r>
            <a:r>
              <a:rPr sz="1200" b="1" dirty="0">
                <a:solidFill>
                  <a:srgbClr val="0D1B3E"/>
                </a:solidFill>
                <a:latin typeface="맑은 고딕"/>
              </a:rPr>
              <a:t> → State 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27632"/>
            <a:ext cx="4019006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017520" y="1627632"/>
            <a:ext cx="4019006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154680" y="16733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3E"/>
                </a:solidFill>
                <a:latin typeface="맑은 고딕"/>
              </a:rPr>
              <a:t>S1 분기 처리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2039112"/>
            <a:ext cx="4019006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STOP Signal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수신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시</a:t>
            </a:r>
          </a:p>
          <a:p>
            <a:pPr lvl="1">
              <a:lnSpc>
                <a:spcPct val="200000"/>
              </a:lnSpc>
            </a:pPr>
            <a:r>
              <a:rPr sz="1200" dirty="0" smtClean="0">
                <a:solidFill>
                  <a:srgbClr val="555577"/>
                </a:solidFill>
                <a:latin typeface="맑은 고딕"/>
              </a:rPr>
              <a:t>– </a:t>
            </a:r>
            <a:r>
              <a:rPr sz="1200" dirty="0">
                <a:solidFill>
                  <a:srgbClr val="555577"/>
                </a:solidFill>
                <a:latin typeface="맑은 고딕"/>
              </a:rPr>
              <a:t>Status := END APPLICATION</a:t>
            </a:r>
          </a:p>
          <a:p>
            <a:pPr lvl="1">
              <a:lnSpc>
                <a:spcPct val="200000"/>
              </a:lnSpc>
            </a:pPr>
            <a:r>
              <a:rPr sz="1200" dirty="0" smtClean="0">
                <a:solidFill>
                  <a:srgbClr val="555577"/>
                </a:solidFill>
                <a:latin typeface="맑은 고딕"/>
              </a:rPr>
              <a:t>– </a:t>
            </a:r>
            <a:r>
              <a:rPr sz="1200" dirty="0">
                <a:solidFill>
                  <a:srgbClr val="555577"/>
                </a:solidFill>
                <a:latin typeface="맑은 고딕"/>
              </a:rPr>
              <a:t>Error Indication := STOP (L3)</a:t>
            </a:r>
          </a:p>
          <a:p>
            <a:pPr lvl="1">
              <a:lnSpc>
                <a:spcPct val="200000"/>
              </a:lnSpc>
            </a:pPr>
            <a:r>
              <a:rPr sz="1200" dirty="0" smtClean="0">
                <a:solidFill>
                  <a:srgbClr val="555577"/>
                </a:solidFill>
                <a:latin typeface="맑은 고딕"/>
              </a:rPr>
              <a:t>– </a:t>
            </a:r>
            <a:r>
              <a:rPr sz="1200" dirty="0">
                <a:solidFill>
                  <a:srgbClr val="555577"/>
                </a:solidFill>
                <a:latin typeface="맑은 고딕"/>
              </a:rPr>
              <a:t>OUT Signal </a:t>
            </a:r>
            <a:r>
              <a:rPr sz="1200" dirty="0" err="1">
                <a:solidFill>
                  <a:srgbClr val="555577"/>
                </a:solidFill>
                <a:latin typeface="맑은 고딕"/>
              </a:rPr>
              <a:t>즉시</a:t>
            </a:r>
            <a:r>
              <a:rPr sz="12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555577"/>
                </a:solidFill>
                <a:latin typeface="맑은 고딕"/>
              </a:rPr>
              <a:t>반환</a:t>
            </a:r>
            <a:endParaRPr sz="1200" dirty="0">
              <a:solidFill>
                <a:srgbClr val="555577"/>
              </a:solidFill>
              <a:latin typeface="맑은 고딕"/>
            </a:endParaRPr>
          </a:p>
          <a:p>
            <a:pPr>
              <a:lnSpc>
                <a:spcPct val="20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CLEAN Signal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수신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시</a:t>
            </a:r>
          </a:p>
          <a:p>
            <a:pPr lvl="1">
              <a:lnSpc>
                <a:spcPct val="200000"/>
              </a:lnSpc>
            </a:pPr>
            <a:r>
              <a:rPr sz="1200" dirty="0" smtClean="0">
                <a:solidFill>
                  <a:srgbClr val="555577"/>
                </a:solidFill>
                <a:latin typeface="맑은 고딕"/>
              </a:rPr>
              <a:t>– </a:t>
            </a:r>
            <a:r>
              <a:rPr sz="1200" dirty="0">
                <a:solidFill>
                  <a:srgbClr val="555577"/>
                </a:solidFill>
                <a:latin typeface="맑은 고딕"/>
              </a:rPr>
              <a:t>Torn Transaction Log </a:t>
            </a:r>
            <a:r>
              <a:rPr sz="1200" dirty="0" err="1">
                <a:solidFill>
                  <a:srgbClr val="555577"/>
                </a:solidFill>
                <a:latin typeface="맑은 고딕"/>
              </a:rPr>
              <a:t>확인</a:t>
            </a:r>
            <a:endParaRPr sz="12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200000"/>
              </a:lnSpc>
            </a:pPr>
            <a:r>
              <a:rPr sz="1200" dirty="0" smtClean="0">
                <a:solidFill>
                  <a:srgbClr val="555577"/>
                </a:solidFill>
                <a:latin typeface="맑은 고딕"/>
              </a:rPr>
              <a:t>– </a:t>
            </a:r>
            <a:r>
              <a:rPr sz="1200" dirty="0" err="1">
                <a:solidFill>
                  <a:srgbClr val="555577"/>
                </a:solidFill>
                <a:latin typeface="맑은 고딕"/>
              </a:rPr>
              <a:t>만료된</a:t>
            </a:r>
            <a:r>
              <a:rPr sz="12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555577"/>
                </a:solidFill>
                <a:latin typeface="맑은 고딕"/>
              </a:rPr>
              <a:t>항목</a:t>
            </a:r>
            <a:r>
              <a:rPr sz="12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555577"/>
                </a:solidFill>
                <a:latin typeface="맑은 고딕"/>
              </a:rPr>
              <a:t>삭제</a:t>
            </a:r>
            <a:endParaRPr sz="12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200000"/>
              </a:lnSpc>
            </a:pPr>
            <a:r>
              <a:rPr sz="1200" dirty="0" smtClean="0">
                <a:solidFill>
                  <a:srgbClr val="555577"/>
                </a:solidFill>
                <a:latin typeface="맑은 고딕"/>
              </a:rPr>
              <a:t>– </a:t>
            </a:r>
            <a:r>
              <a:rPr sz="1200" dirty="0" err="1">
                <a:solidFill>
                  <a:srgbClr val="555577"/>
                </a:solidFill>
                <a:latin typeface="맑은 고딕"/>
              </a:rPr>
              <a:t>만료</a:t>
            </a:r>
            <a:r>
              <a:rPr sz="12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555577"/>
                </a:solidFill>
                <a:latin typeface="맑은 고딕"/>
              </a:rPr>
              <a:t>항목이</a:t>
            </a:r>
            <a:r>
              <a:rPr sz="12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555577"/>
                </a:solidFill>
                <a:latin typeface="맑은 고딕"/>
              </a:rPr>
              <a:t>있으면</a:t>
            </a:r>
            <a:r>
              <a:rPr sz="1200" dirty="0">
                <a:solidFill>
                  <a:srgbClr val="555577"/>
                </a:solidFill>
                <a:latin typeface="맑은 고딕"/>
              </a:rPr>
              <a:t> Discretionary </a:t>
            </a:r>
            <a:r>
              <a:rPr sz="1200" dirty="0" err="1">
                <a:solidFill>
                  <a:srgbClr val="555577"/>
                </a:solidFill>
                <a:latin typeface="맑은 고딕"/>
              </a:rPr>
              <a:t>Data에</a:t>
            </a:r>
            <a:r>
              <a:rPr sz="12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555577"/>
                </a:solidFill>
                <a:latin typeface="맑은 고딕"/>
              </a:rPr>
              <a:t>포함</a:t>
            </a:r>
            <a:endParaRPr sz="12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200000"/>
              </a:lnSpc>
            </a:pPr>
            <a:r>
              <a:rPr sz="1200" dirty="0" smtClean="0">
                <a:solidFill>
                  <a:srgbClr val="555577"/>
                </a:solidFill>
                <a:latin typeface="맑은 고딕"/>
              </a:rPr>
              <a:t>– </a:t>
            </a:r>
            <a:r>
              <a:rPr sz="1200" dirty="0">
                <a:solidFill>
                  <a:srgbClr val="555577"/>
                </a:solidFill>
                <a:latin typeface="맑은 고딕"/>
              </a:rPr>
              <a:t>OUT Signal </a:t>
            </a:r>
            <a:r>
              <a:rPr sz="1200" dirty="0" err="1">
                <a:solidFill>
                  <a:srgbClr val="555577"/>
                </a:solidFill>
                <a:latin typeface="맑은 고딕"/>
              </a:rPr>
              <a:t>반환</a:t>
            </a:r>
            <a:endParaRPr sz="1200" dirty="0">
              <a:solidFill>
                <a:srgbClr val="555577"/>
              </a:solidFill>
              <a:latin typeface="맑은 고딕"/>
            </a:endParaRPr>
          </a:p>
          <a:p>
            <a:pPr>
              <a:lnSpc>
                <a:spcPct val="20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Torn Transaction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확인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로직</a:t>
            </a:r>
            <a:endParaRPr sz="1400" dirty="0">
              <a:solidFill>
                <a:srgbClr val="444455"/>
              </a:solidFill>
              <a:latin typeface="맑은 고딕"/>
            </a:endParaRPr>
          </a:p>
          <a:p>
            <a:pPr lvl="1">
              <a:lnSpc>
                <a:spcPct val="200000"/>
              </a:lnSpc>
            </a:pPr>
            <a:r>
              <a:rPr sz="1200" dirty="0" smtClean="0">
                <a:solidFill>
                  <a:srgbClr val="555577"/>
                </a:solidFill>
                <a:latin typeface="맑은 고딕"/>
              </a:rPr>
              <a:t>– </a:t>
            </a:r>
            <a:r>
              <a:rPr sz="1200" dirty="0">
                <a:solidFill>
                  <a:srgbClr val="555577"/>
                </a:solidFill>
                <a:latin typeface="맑은 고딕"/>
              </a:rPr>
              <a:t>ACT Signal </a:t>
            </a:r>
            <a:r>
              <a:rPr sz="1200" dirty="0" err="1">
                <a:solidFill>
                  <a:srgbClr val="555577"/>
                </a:solidFill>
                <a:latin typeface="맑은 고딕"/>
              </a:rPr>
              <a:t>수신</a:t>
            </a:r>
            <a:r>
              <a:rPr sz="1200" dirty="0">
                <a:solidFill>
                  <a:srgbClr val="555577"/>
                </a:solidFill>
                <a:latin typeface="맑은 고딕"/>
              </a:rPr>
              <a:t> 후 Log </a:t>
            </a:r>
            <a:r>
              <a:rPr sz="1200" dirty="0" err="1">
                <a:solidFill>
                  <a:srgbClr val="555577"/>
                </a:solidFill>
                <a:latin typeface="맑은 고딕"/>
              </a:rPr>
              <a:t>검색</a:t>
            </a:r>
            <a:endParaRPr sz="12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200000"/>
              </a:lnSpc>
            </a:pPr>
            <a:r>
              <a:rPr sz="1200" dirty="0" smtClean="0">
                <a:solidFill>
                  <a:srgbClr val="555577"/>
                </a:solidFill>
                <a:latin typeface="맑은 고딕"/>
              </a:rPr>
              <a:t>– </a:t>
            </a:r>
            <a:r>
              <a:rPr sz="1200" dirty="0" err="1">
                <a:solidFill>
                  <a:srgbClr val="555577"/>
                </a:solidFill>
                <a:latin typeface="맑은 고딕"/>
              </a:rPr>
              <a:t>동일</a:t>
            </a:r>
            <a:r>
              <a:rPr sz="1200" dirty="0">
                <a:solidFill>
                  <a:srgbClr val="555577"/>
                </a:solidFill>
                <a:latin typeface="맑은 고딕"/>
              </a:rPr>
              <a:t> AID + UDOL </a:t>
            </a:r>
            <a:r>
              <a:rPr sz="1200" dirty="0" err="1">
                <a:solidFill>
                  <a:srgbClr val="555577"/>
                </a:solidFill>
                <a:latin typeface="맑은 고딕"/>
              </a:rPr>
              <a:t>매칭</a:t>
            </a:r>
            <a:r>
              <a:rPr sz="1200" dirty="0">
                <a:solidFill>
                  <a:srgbClr val="555577"/>
                </a:solidFill>
                <a:latin typeface="맑은 고딕"/>
              </a:rPr>
              <a:t> 시 </a:t>
            </a:r>
            <a:r>
              <a:rPr sz="1200" dirty="0" err="1">
                <a:solidFill>
                  <a:srgbClr val="555577"/>
                </a:solidFill>
                <a:latin typeface="맑은 고딕"/>
              </a:rPr>
              <a:t>복구</a:t>
            </a:r>
            <a:r>
              <a:rPr sz="12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555577"/>
                </a:solidFill>
                <a:latin typeface="맑은 고딕"/>
              </a:rPr>
              <a:t>흐름</a:t>
            </a:r>
            <a:endParaRPr sz="1200" dirty="0">
              <a:solidFill>
                <a:srgbClr val="555577"/>
              </a:solidFill>
              <a:latin typeface="맑은 고딕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132320" y="1606137"/>
            <a:ext cx="4937760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132320" y="1605207"/>
            <a:ext cx="49377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32320" y="167335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3E"/>
                </a:solidFill>
                <a:latin typeface="맑은 고딕"/>
              </a:rPr>
              <a:t>S1 처리 상세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2054787"/>
            <a:ext cx="4663440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로컬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변수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초기화</a:t>
            </a:r>
            <a:endParaRPr sz="1400" dirty="0">
              <a:solidFill>
                <a:srgbClr val="444455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r>
              <a:rPr sz="1200" dirty="0">
                <a:solidFill>
                  <a:srgbClr val="555577"/>
                </a:solidFill>
                <a:latin typeface="맑은 고딕"/>
              </a:rPr>
              <a:t>  – Sync Data: ACT Signal </a:t>
            </a:r>
            <a:r>
              <a:rPr sz="1200" dirty="0" err="1">
                <a:solidFill>
                  <a:srgbClr val="555577"/>
                </a:solidFill>
                <a:latin typeface="맑은 고딕"/>
              </a:rPr>
              <a:t>포함</a:t>
            </a:r>
            <a:r>
              <a:rPr sz="12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555577"/>
                </a:solidFill>
                <a:latin typeface="맑은 고딕"/>
              </a:rPr>
              <a:t>데이터</a:t>
            </a:r>
            <a:endParaRPr sz="12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r>
              <a:rPr sz="1200" dirty="0">
                <a:solidFill>
                  <a:srgbClr val="555577"/>
                </a:solidFill>
                <a:latin typeface="맑은 고딕"/>
              </a:rPr>
              <a:t>  – Missing PDOL Data Flag: </a:t>
            </a:r>
            <a:r>
              <a:rPr sz="1200" dirty="0" err="1">
                <a:solidFill>
                  <a:srgbClr val="555577"/>
                </a:solidFill>
                <a:latin typeface="맑은 고딕"/>
              </a:rPr>
              <a:t>기본</a:t>
            </a:r>
            <a:r>
              <a:rPr sz="12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200" dirty="0" smtClean="0">
                <a:solidFill>
                  <a:srgbClr val="555577"/>
                </a:solidFill>
                <a:latin typeface="맑은 고딕"/>
              </a:rPr>
              <a:t>false</a:t>
            </a:r>
            <a:endParaRPr lang="en-US" sz="1200" dirty="0" smtClean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endParaRPr sz="1200" dirty="0">
              <a:solidFill>
                <a:srgbClr val="555577"/>
              </a:solidFill>
              <a:latin typeface="맑은 고딕"/>
            </a:endParaRPr>
          </a:p>
          <a:p>
            <a:pPr>
              <a:lnSpc>
                <a:spcPct val="1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PDOL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미존재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시</a:t>
            </a:r>
          </a:p>
          <a:p>
            <a:pPr lvl="1">
              <a:lnSpc>
                <a:spcPct val="150000"/>
              </a:lnSpc>
            </a:pPr>
            <a:r>
              <a:rPr sz="1200" dirty="0">
                <a:solidFill>
                  <a:srgbClr val="555577"/>
                </a:solidFill>
                <a:latin typeface="맑은 고딕"/>
              </a:rPr>
              <a:t>  – PDOL Related Data := '8300' (빈 값</a:t>
            </a:r>
            <a:r>
              <a:rPr sz="1200" dirty="0" smtClean="0">
                <a:solidFill>
                  <a:srgbClr val="555577"/>
                </a:solidFill>
                <a:latin typeface="맑은 고딕"/>
              </a:rPr>
              <a:t>)</a:t>
            </a:r>
            <a:endParaRPr lang="en-US" sz="1200" dirty="0" smtClean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endParaRPr sz="1200" dirty="0">
              <a:solidFill>
                <a:srgbClr val="555577"/>
              </a:solidFill>
              <a:latin typeface="맑은 고딕"/>
            </a:endParaRPr>
          </a:p>
          <a:p>
            <a:pPr>
              <a:lnSpc>
                <a:spcPct val="1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PDOL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존재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시</a:t>
            </a:r>
          </a:p>
          <a:p>
            <a:pPr lvl="1">
              <a:lnSpc>
                <a:spcPct val="150000"/>
              </a:lnSpc>
            </a:pPr>
            <a:r>
              <a:rPr sz="1200" dirty="0">
                <a:solidFill>
                  <a:srgbClr val="555577"/>
                </a:solidFill>
                <a:latin typeface="맑은 고딕"/>
              </a:rPr>
              <a:t>  – 각 </a:t>
            </a:r>
            <a:r>
              <a:rPr sz="1200" dirty="0" err="1">
                <a:solidFill>
                  <a:srgbClr val="555577"/>
                </a:solidFill>
                <a:latin typeface="맑은 고딕"/>
              </a:rPr>
              <a:t>태그값을</a:t>
            </a:r>
            <a:r>
              <a:rPr sz="12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555577"/>
                </a:solidFill>
                <a:latin typeface="맑은 고딕"/>
              </a:rPr>
              <a:t>DB에서</a:t>
            </a:r>
            <a:r>
              <a:rPr sz="12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555577"/>
                </a:solidFill>
                <a:latin typeface="맑은 고딕"/>
              </a:rPr>
              <a:t>조회</a:t>
            </a:r>
            <a:endParaRPr sz="12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r>
              <a:rPr sz="1200" dirty="0">
                <a:solidFill>
                  <a:srgbClr val="555577"/>
                </a:solidFill>
                <a:latin typeface="맑은 고딕"/>
              </a:rPr>
              <a:t>  – </a:t>
            </a:r>
            <a:r>
              <a:rPr sz="1200" dirty="0" err="1">
                <a:solidFill>
                  <a:srgbClr val="555577"/>
                </a:solidFill>
                <a:latin typeface="맑은 고딕"/>
              </a:rPr>
              <a:t>없는</a:t>
            </a:r>
            <a:r>
              <a:rPr sz="12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555577"/>
                </a:solidFill>
                <a:latin typeface="맑은 고딕"/>
              </a:rPr>
              <a:t>항목</a:t>
            </a:r>
            <a:r>
              <a:rPr sz="1200" dirty="0">
                <a:solidFill>
                  <a:srgbClr val="555577"/>
                </a:solidFill>
                <a:latin typeface="맑은 고딕"/>
              </a:rPr>
              <a:t>: Flag=true, 빈 </a:t>
            </a:r>
            <a:r>
              <a:rPr sz="1200" dirty="0" err="1">
                <a:solidFill>
                  <a:srgbClr val="555577"/>
                </a:solidFill>
                <a:latin typeface="맑은 고딕"/>
              </a:rPr>
              <a:t>값으로</a:t>
            </a:r>
            <a:r>
              <a:rPr sz="12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555577"/>
                </a:solidFill>
                <a:latin typeface="맑은 고딕"/>
              </a:rPr>
              <a:t>대체</a:t>
            </a:r>
            <a:endParaRPr sz="12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r>
              <a:rPr sz="1200" dirty="0">
                <a:solidFill>
                  <a:srgbClr val="555577"/>
                </a:solidFill>
                <a:latin typeface="맑은 고딕"/>
              </a:rPr>
              <a:t>  – 값 </a:t>
            </a:r>
            <a:r>
              <a:rPr sz="1200" dirty="0" err="1">
                <a:solidFill>
                  <a:srgbClr val="555577"/>
                </a:solidFill>
                <a:latin typeface="맑은 고딕"/>
              </a:rPr>
              <a:t>연결하여</a:t>
            </a:r>
            <a:r>
              <a:rPr sz="1200" dirty="0">
                <a:solidFill>
                  <a:srgbClr val="555577"/>
                </a:solidFill>
                <a:latin typeface="맑은 고딕"/>
              </a:rPr>
              <a:t> PDOL Values </a:t>
            </a:r>
            <a:r>
              <a:rPr sz="1200" dirty="0" err="1">
                <a:solidFill>
                  <a:srgbClr val="555577"/>
                </a:solidFill>
                <a:latin typeface="맑은 고딕"/>
              </a:rPr>
              <a:t>생성</a:t>
            </a:r>
            <a:endParaRPr sz="12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r>
              <a:rPr sz="1200" dirty="0">
                <a:solidFill>
                  <a:srgbClr val="555577"/>
                </a:solidFill>
                <a:latin typeface="맑은 고딕"/>
              </a:rPr>
              <a:t>  – '83' | Length | PDOL Values </a:t>
            </a:r>
            <a:r>
              <a:rPr sz="1200" dirty="0" err="1">
                <a:solidFill>
                  <a:srgbClr val="555577"/>
                </a:solidFill>
                <a:latin typeface="맑은 고딕"/>
              </a:rPr>
              <a:t>형태로</a:t>
            </a:r>
            <a:r>
              <a:rPr sz="12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200" dirty="0" err="1" smtClean="0">
                <a:solidFill>
                  <a:srgbClr val="555577"/>
                </a:solidFill>
                <a:latin typeface="맑은 고딕"/>
              </a:rPr>
              <a:t>구성</a:t>
            </a:r>
            <a:endParaRPr lang="en-US" sz="1200" dirty="0" smtClean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endParaRPr sz="1200" dirty="0">
              <a:solidFill>
                <a:srgbClr val="555577"/>
              </a:solidFill>
              <a:latin typeface="맑은 고딕"/>
            </a:endParaRPr>
          </a:p>
          <a:p>
            <a:pPr>
              <a:lnSpc>
                <a:spcPct val="1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Tags To Read Yet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버퍼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초기화</a:t>
            </a:r>
            <a:endParaRPr sz="1400" dirty="0">
              <a:solidFill>
                <a:srgbClr val="444455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r>
              <a:rPr sz="1200" dirty="0">
                <a:solidFill>
                  <a:srgbClr val="555577"/>
                </a:solidFill>
                <a:latin typeface="맑은 고딕"/>
              </a:rPr>
              <a:t>  – </a:t>
            </a:r>
            <a:r>
              <a:rPr sz="1200" dirty="0" err="1">
                <a:solidFill>
                  <a:srgbClr val="555577"/>
                </a:solidFill>
                <a:latin typeface="맑은 고딕"/>
              </a:rPr>
              <a:t>설정된</a:t>
            </a:r>
            <a:r>
              <a:rPr sz="1200" dirty="0">
                <a:solidFill>
                  <a:srgbClr val="555577"/>
                </a:solidFill>
                <a:latin typeface="맑은 고딕"/>
              </a:rPr>
              <a:t> Tags To Read </a:t>
            </a:r>
            <a:r>
              <a:rPr sz="1200" dirty="0" err="1">
                <a:solidFill>
                  <a:srgbClr val="555577"/>
                </a:solidFill>
                <a:latin typeface="맑은 고딕"/>
              </a:rPr>
              <a:t>복사</a:t>
            </a:r>
            <a:endParaRPr sz="1200" dirty="0">
              <a:solidFill>
                <a:srgbClr val="555577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State 9/10 — Generate AC 응답 처리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맑은 고딕"/>
              </a:rPr>
              <a:t>GENERATE AC 응답 수신 후 AC 유형을 확인하고 Outcome을 결정합니다.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5394960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600200"/>
            <a:ext cx="53949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6459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3E"/>
                </a:solidFill>
                <a:latin typeface="맑은 고딕"/>
              </a:rPr>
              <a:t>State 9 — 1차 Gen AC 응답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011680"/>
            <a:ext cx="512064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응답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형식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파싱</a:t>
            </a:r>
            <a:endParaRPr sz="1400" dirty="0">
              <a:solidFill>
                <a:srgbClr val="444455"/>
              </a:solidFill>
              <a:latin typeface="맑은 고딕"/>
            </a:endParaRPr>
          </a:p>
          <a:p>
            <a:pPr lvl="1">
              <a:lnSpc>
                <a:spcPct val="20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Format 1: Tag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없이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연속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값 (Mag/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비CDA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)</a:t>
            </a:r>
          </a:p>
          <a:p>
            <a:pPr lvl="1">
              <a:lnSpc>
                <a:spcPct val="20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Format 2: TLV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인코딩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(CDA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포함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)</a:t>
            </a:r>
          </a:p>
          <a:p>
            <a:pPr>
              <a:lnSpc>
                <a:spcPct val="20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AC Type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확인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(Cryptogram Information Data)</a:t>
            </a:r>
          </a:p>
          <a:p>
            <a:pPr lvl="1">
              <a:lnSpc>
                <a:spcPct val="20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비트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7-6: 00=AAC, 01=TC, 10=ARQC</a:t>
            </a:r>
          </a:p>
          <a:p>
            <a:pPr>
              <a:lnSpc>
                <a:spcPct val="20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CDA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검증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(CDA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활성화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시)</a:t>
            </a:r>
          </a:p>
          <a:p>
            <a:pPr lvl="1">
              <a:lnSpc>
                <a:spcPct val="20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SDAD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서명을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ICC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공개키로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검증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20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터미널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데이터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해시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일치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여부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확인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20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실패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시 CDA Failed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플래그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설정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>
              <a:lnSpc>
                <a:spcPct val="20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Torn Transaction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로그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항목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삭제</a:t>
            </a:r>
            <a:endParaRPr sz="1400" dirty="0">
              <a:solidFill>
                <a:srgbClr val="444455"/>
              </a:solidFill>
              <a:latin typeface="맑은 고딕"/>
            </a:endParaRPr>
          </a:p>
          <a:p>
            <a:pPr lvl="1">
              <a:lnSpc>
                <a:spcPct val="20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복구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성공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시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Log에서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제거</a:t>
            </a:r>
            <a:endParaRPr sz="1300" dirty="0">
              <a:solidFill>
                <a:srgbClr val="555577"/>
              </a:solidFill>
              <a:latin typeface="맑은 고딕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035040" y="1600200"/>
            <a:ext cx="5852160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35040" y="1600200"/>
            <a:ext cx="58521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72200" y="164592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3E"/>
                </a:solidFill>
                <a:latin typeface="맑은 고딕"/>
              </a:rPr>
              <a:t>State 11 — Outcome 결정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011680"/>
            <a:ext cx="5577840" cy="4732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State 9/10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공통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처리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(S11 Common)</a:t>
            </a:r>
          </a:p>
          <a:p>
            <a:pPr>
              <a:lnSpc>
                <a:spcPct val="1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AC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Type에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따른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분기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AAC: Outcome = DECLINED</a:t>
            </a: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  UI: 'Not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Authorised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'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메시지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TC: Outcome = APPROVED</a:t>
            </a: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 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영수증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필요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여부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설정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ARQC: Outcome = ONLINE_REQUEST</a:t>
            </a: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  Data Record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생성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 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온라인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응답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대기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(2차 Gen AC)</a:t>
            </a:r>
          </a:p>
          <a:p>
            <a:pPr>
              <a:lnSpc>
                <a:spcPct val="1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Outcome Parameter Set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구성</a:t>
            </a:r>
            <a:endParaRPr sz="1400" dirty="0">
              <a:solidFill>
                <a:srgbClr val="444455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Status / Start / CVM / Receipt / UI</a:t>
            </a:r>
          </a:p>
          <a:p>
            <a:pPr>
              <a:lnSpc>
                <a:spcPct val="1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Data Record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생성</a:t>
            </a:r>
            <a:endParaRPr sz="1400" dirty="0">
              <a:solidFill>
                <a:srgbClr val="444455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CreateEMVDataRecord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()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또는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CreateMSDataRecord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()</a:t>
            </a:r>
          </a:p>
          <a:p>
            <a:pPr>
              <a:lnSpc>
                <a:spcPct val="1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Discretionary Data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생성</a:t>
            </a:r>
            <a:endParaRPr sz="14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1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OUT Signal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반환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→ Kernel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종료</a:t>
            </a:r>
            <a:endParaRPr sz="1400" dirty="0">
              <a:solidFill>
                <a:srgbClr val="444455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086100"/>
            <a:ext cx="12191695" cy="109728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맑은 고딕"/>
              </a:rPr>
              <a:t>14. 동작 예시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동작 예시 ① — 일반 구매 (EMV 모드, 오프라인 승인)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맑은 고딕"/>
              </a:rPr>
              <a:t>소액 구매에서 TC(오프라인 승인)가 발행되는 가장 일반적인 EMV 모드 트랜잭션 흐름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3365139"/>
              </p:ext>
            </p:extLst>
          </p:nvPr>
        </p:nvGraphicFramePr>
        <p:xfrm>
          <a:off x="365760" y="1600200"/>
          <a:ext cx="11430000" cy="5074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286000"/>
                <a:gridCol w="3200400"/>
                <a:gridCol w="5943600"/>
              </a:tblGrid>
              <a:tr h="390378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Terminal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ACT Signal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금액 1,000원, 구매, 랜덤값 포함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</a:tr>
              <a:tr h="390378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Kernel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State 1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PDOL 구성 → GPO 명령 준비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</a:tr>
              <a:tr h="390378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Kernel → Card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GET PROCESSING OPTIONS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PDOL Related Data 전송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</a:tr>
              <a:tr h="390378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Card → Kernel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GPO 응답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AIP: EMV 모드, CDA 지원 / AFL: SFI 1, 레코드 1~3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</a:tr>
              <a:tr h="390378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Kernel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State 2→3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AFL 파싱, READ RECORD 루프 시작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</a:tr>
              <a:tr h="390378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Kernel → Card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READ RECORD (×3)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SFI 1 레코드 1, 2, 3 순차 읽기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</a:tr>
              <a:tr h="390378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Card → Kernel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레코드 응답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Issuer/ICC 인증서, TVR 관련 데이터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</a:tr>
              <a:tr h="390378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Kernel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ODA 수행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CA→Issuer→ICC 인증서 체인 검증 (CDA)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</a:tr>
              <a:tr h="390378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Kernel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Terminal Risk Mgmt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TVR 설정, IAC/TAC 분석 → TC 결정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</a:tr>
              <a:tr h="390378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Kernel → Card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GENERATE AC (RCP='40')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TC 요청, CDOL1 데이터 포함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</a:tr>
              <a:tr h="390378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Card → Kernel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Gen AC 응답 (Format 2)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TC + SDAD (CDA 서명) 포함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</a:tr>
              <a:tr h="390378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Kernel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CDA 검증 + S11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서명 검증 성공 → Outcome = APPROVED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</a:tr>
              <a:tr h="390384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Kernel → Terminal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OUT Signal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dirty="0"/>
                        <a:t>Outcome(Approved) + Data Record + UI </a:t>
                      </a:r>
                      <a:r>
                        <a:rPr sz="1100" dirty="0" err="1"/>
                        <a:t>메시지</a:t>
                      </a:r>
                      <a:endParaRPr sz="1100" dirty="0">
                        <a:latin typeface="맑은 고딕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동작 예시 ② — 고액 구매 (EMV 모드, 온라인 승인)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맑은 고딕"/>
              </a:rPr>
              <a:t>Contactless Transaction Limit 초과 또는 TAC/IAC에 의해 ARQC가 발행되어 온라인 권한 부여를 요청하는 흐름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2507664"/>
              </p:ext>
            </p:extLst>
          </p:nvPr>
        </p:nvGraphicFramePr>
        <p:xfrm>
          <a:off x="365760" y="1600200"/>
          <a:ext cx="11430000" cy="5074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560320"/>
                <a:gridCol w="3474720"/>
                <a:gridCol w="5394960"/>
              </a:tblGrid>
              <a:tr h="362494">
                <a:tc>
                  <a:txBody>
                    <a:bodyPr/>
                    <a:lstStyle/>
                    <a:p>
                      <a:pPr algn="ctr"/>
                      <a:r>
                        <a:rPr sz="1100" dirty="0"/>
                        <a:t>Terminal</a:t>
                      </a:r>
                      <a:endParaRPr sz="1100" dirty="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ACT Signal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금액 500,000원 (한도 초과), 구매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</a:tr>
              <a:tr h="362494">
                <a:tc>
                  <a:txBody>
                    <a:bodyPr/>
                    <a:lstStyle/>
                    <a:p>
                      <a:pPr algn="ctr"/>
                      <a:r>
                        <a:rPr sz="1100" dirty="0"/>
                        <a:t>Kernel</a:t>
                      </a:r>
                      <a:endParaRPr sz="1100" dirty="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State 1→2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GPO 수행, AIP 확인 (EMV 모드)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</a:tr>
              <a:tr h="362494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Kernel → Card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READ RECORD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레코드 읽기 (ODA 데이터 수집)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</a:tr>
              <a:tr h="362494">
                <a:tc>
                  <a:txBody>
                    <a:bodyPr/>
                    <a:lstStyle/>
                    <a:p>
                      <a:pPr algn="ctr"/>
                      <a:r>
                        <a:rPr sz="1100" dirty="0"/>
                        <a:t>Kernel</a:t>
                      </a:r>
                      <a:endParaRPr sz="1100" dirty="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Terminal Risk Mgmt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금액 &gt; Floor Limit → ARQC 결정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</a:tr>
              <a:tr h="362494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Kernel → Card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GENERATE AC (RCP='80')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ARQC 요청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</a:tr>
              <a:tr h="362494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Card → Kernel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Gen AC 응답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ARQC + IAD + ATC 포함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</a:tr>
              <a:tr h="362494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Kernel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State 11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Outcome = ONLINE_REQUEST, Data Record 생성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</a:tr>
              <a:tr h="362494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Kernel → Terminal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OUT Signal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ARQC + Data Record (권한 부여 데이터) 포함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</a:tr>
              <a:tr h="362494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Terminal → Issuer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온라인 전송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Data Record를 Issuer에게 전송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</a:tr>
              <a:tr h="362494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Issuer → Terminal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권한 부여 응답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ARPC + Issuer Script (선택적)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</a:tr>
              <a:tr h="362494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Terminal → Kernel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DET Signal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온라인 응답 데이터 제공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</a:tr>
              <a:tr h="362494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Kernel → Card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GENERATE AC (2차, RCP='40')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TC 요청 (Issuer ARPC 검증)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</a:tr>
              <a:tr h="362494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Card → Kernel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TC 응답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온라인 승인 확정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</a:tr>
              <a:tr h="362498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Kernel → Terminal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OUT Signal (최종)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dirty="0"/>
                        <a:t>Outcome = APPROVED, </a:t>
                      </a:r>
                      <a:r>
                        <a:rPr sz="1100" dirty="0" err="1"/>
                        <a:t>최종</a:t>
                      </a:r>
                      <a:r>
                        <a:rPr sz="1100" dirty="0"/>
                        <a:t> Data Record</a:t>
                      </a:r>
                      <a:endParaRPr sz="1100" dirty="0">
                        <a:latin typeface="맑은 고딕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동작 예시 ③ — Torn Transaction Recovery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맑은 고딕"/>
              </a:rPr>
              <a:t>카드소지자가 GENERATE AC 전에 카드를 제거한 후 재접촉하여 트랜잭션을 복구하는 흐름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5394960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600200"/>
            <a:ext cx="53949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6459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3E"/>
                </a:solidFill>
                <a:latin typeface="맑은 고딕"/>
              </a:rPr>
              <a:t>1단계 — 이탈 감지 및 재접촉 요청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011680"/>
            <a:ext cx="5120640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sz="1400" dirty="0" smtClean="0">
                <a:solidFill>
                  <a:srgbClr val="444455"/>
                </a:solidFill>
                <a:latin typeface="맑은 고딕"/>
              </a:rPr>
              <a:t>① 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GET PROCESSING OPTIONS →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정상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응답</a:t>
            </a:r>
            <a:endParaRPr sz="14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200000"/>
              </a:lnSpc>
            </a:pPr>
            <a:r>
              <a:rPr sz="1400" dirty="0" smtClean="0">
                <a:solidFill>
                  <a:srgbClr val="444455"/>
                </a:solidFill>
                <a:latin typeface="맑은 고딕"/>
              </a:rPr>
              <a:t>② 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READ RECORD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루프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실행</a:t>
            </a:r>
            <a:endParaRPr sz="1400" dirty="0">
              <a:solidFill>
                <a:srgbClr val="444455"/>
              </a:solidFill>
              <a:latin typeface="맑은 고딕"/>
            </a:endParaRPr>
          </a:p>
          <a:p>
            <a:pPr lvl="1">
              <a:lnSpc>
                <a:spcPct val="20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레코드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읽기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중 Torn Transaction Log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항목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생성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20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(AID +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주요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TLV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데이터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저장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)</a:t>
            </a:r>
          </a:p>
          <a:p>
            <a:pPr>
              <a:lnSpc>
                <a:spcPct val="200000"/>
              </a:lnSpc>
            </a:pPr>
            <a:r>
              <a:rPr sz="1400" dirty="0" smtClean="0">
                <a:solidFill>
                  <a:srgbClr val="444455"/>
                </a:solidFill>
                <a:latin typeface="맑은 고딕"/>
              </a:rPr>
              <a:t>③ 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GENERATE AC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명령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전송</a:t>
            </a:r>
            <a:endParaRPr sz="14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200000"/>
              </a:lnSpc>
            </a:pPr>
            <a:r>
              <a:rPr sz="1400" dirty="0" smtClean="0">
                <a:solidFill>
                  <a:srgbClr val="444455"/>
                </a:solidFill>
                <a:latin typeface="맑은 고딕"/>
              </a:rPr>
              <a:t>④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카드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이탈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발생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(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응답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없음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또는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L1RSP)</a:t>
            </a:r>
          </a:p>
          <a:p>
            <a:pPr>
              <a:lnSpc>
                <a:spcPct val="200000"/>
              </a:lnSpc>
            </a:pPr>
            <a:r>
              <a:rPr sz="1400" dirty="0" smtClean="0">
                <a:solidFill>
                  <a:srgbClr val="444455"/>
                </a:solidFill>
                <a:latin typeface="맑은 고딕"/>
              </a:rPr>
              <a:t>⑤ 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Kernel: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재접촉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요청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UI (MSG Signal)</a:t>
            </a:r>
          </a:p>
          <a:p>
            <a:pPr lvl="1">
              <a:lnSpc>
                <a:spcPct val="20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'Present Card Again'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메시지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>
              <a:lnSpc>
                <a:spcPct val="200000"/>
              </a:lnSpc>
            </a:pPr>
            <a:r>
              <a:rPr sz="1400" dirty="0" smtClean="0">
                <a:solidFill>
                  <a:srgbClr val="444455"/>
                </a:solidFill>
                <a:latin typeface="맑은 고딕"/>
              </a:rPr>
              <a:t>⑥ 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Outcome := TRY_AGAIN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반환</a:t>
            </a:r>
            <a:endParaRPr sz="14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200000"/>
              </a:lnSpc>
            </a:pPr>
            <a:r>
              <a:rPr sz="1400" dirty="0" smtClean="0">
                <a:solidFill>
                  <a:srgbClr val="444455"/>
                </a:solidFill>
                <a:latin typeface="맑은 고딕"/>
              </a:rPr>
              <a:t>⑦ 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Process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M이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트랜잭션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재시작</a:t>
            </a:r>
            <a:endParaRPr sz="14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200000"/>
              </a:lnSpc>
            </a:pPr>
            <a:r>
              <a:rPr sz="1400" dirty="0" smtClean="0">
                <a:solidFill>
                  <a:srgbClr val="444455"/>
                </a:solidFill>
                <a:latin typeface="맑은 고딕"/>
              </a:rPr>
              <a:t>⑧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카드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재접촉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→ AID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선택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→ GPO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재실행</a:t>
            </a:r>
            <a:endParaRPr sz="1400" dirty="0">
              <a:solidFill>
                <a:srgbClr val="444455"/>
              </a:solidFill>
              <a:latin typeface="맑은 고딕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035040" y="1600200"/>
            <a:ext cx="5852160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35040" y="1600200"/>
            <a:ext cx="58521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72200" y="164592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3E"/>
                </a:solidFill>
                <a:latin typeface="맑은 고딕"/>
              </a:rPr>
              <a:t>2단계 — 복구 처리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011680"/>
            <a:ext cx="557784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 dirty="0" smtClean="0">
                <a:solidFill>
                  <a:srgbClr val="444455"/>
                </a:solidFill>
                <a:latin typeface="맑은 고딕"/>
              </a:rPr>
              <a:t>⑨ 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GPO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응답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수신</a:t>
            </a:r>
            <a:endParaRPr sz="1400" dirty="0">
              <a:solidFill>
                <a:srgbClr val="444455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DRDOL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존재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확인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→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복구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지원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카드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>
              <a:lnSpc>
                <a:spcPct val="150000"/>
              </a:lnSpc>
            </a:pPr>
            <a:r>
              <a:rPr sz="1400" dirty="0" smtClean="0">
                <a:solidFill>
                  <a:srgbClr val="444455"/>
                </a:solidFill>
                <a:latin typeface="맑은 고딕"/>
              </a:rPr>
              <a:t>⑩ 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Torn Transaction Log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검색</a:t>
            </a:r>
            <a:endParaRPr sz="1400" dirty="0">
              <a:solidFill>
                <a:srgbClr val="444455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AID + UDOL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관련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데이터로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동일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카드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확인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>
              <a:lnSpc>
                <a:spcPct val="150000"/>
              </a:lnSpc>
            </a:pPr>
            <a:r>
              <a:rPr sz="1400" dirty="0" smtClean="0">
                <a:solidFill>
                  <a:srgbClr val="444455"/>
                </a:solidFill>
                <a:latin typeface="맑은 고딕"/>
              </a:rPr>
              <a:t>⑪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매칭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성공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→ RECOVER AC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명령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전송</a:t>
            </a:r>
            <a:endParaRPr sz="1400" dirty="0">
              <a:solidFill>
                <a:srgbClr val="444455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DRDOL Related Data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포함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>
              <a:lnSpc>
                <a:spcPct val="150000"/>
              </a:lnSpc>
            </a:pPr>
            <a:r>
              <a:rPr sz="1400" dirty="0" smtClean="0">
                <a:solidFill>
                  <a:srgbClr val="444455"/>
                </a:solidFill>
                <a:latin typeface="맑은 고딕"/>
              </a:rPr>
              <a:t>⑫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카드에서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이전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AC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반환</a:t>
            </a:r>
            <a:endParaRPr sz="1400" dirty="0">
              <a:solidFill>
                <a:srgbClr val="444455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이전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트랜잭션의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TC/ARQC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재전송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>
              <a:lnSpc>
                <a:spcPct val="150000"/>
              </a:lnSpc>
            </a:pPr>
            <a:r>
              <a:rPr sz="1400" dirty="0" smtClean="0">
                <a:solidFill>
                  <a:srgbClr val="444455"/>
                </a:solidFill>
                <a:latin typeface="맑은 고딕"/>
              </a:rPr>
              <a:t>⑬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Kernel이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AC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처리</a:t>
            </a:r>
            <a:endParaRPr sz="1400" dirty="0">
              <a:solidFill>
                <a:srgbClr val="444455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Log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항목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삭제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Outcome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결정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(Approved/Online Request)</a:t>
            </a:r>
          </a:p>
          <a:p>
            <a:pPr>
              <a:lnSpc>
                <a:spcPct val="150000"/>
              </a:lnSpc>
            </a:pPr>
            <a:r>
              <a:rPr sz="1400" dirty="0" smtClean="0">
                <a:solidFill>
                  <a:srgbClr val="444455"/>
                </a:solidFill>
                <a:latin typeface="맑은 고딕"/>
              </a:rPr>
              <a:t>⑭ 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OUT Signal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반환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→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정상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완료</a:t>
            </a:r>
            <a:endParaRPr sz="1400"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1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</a:rPr>
              <a:t>• Note: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카드가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오프라인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잔액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이중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차감</a:t>
            </a:r>
            <a:r>
              <a:rPr sz="1400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444455"/>
                </a:solidFill>
                <a:latin typeface="맑은 고딕"/>
              </a:rPr>
              <a:t>방지</a:t>
            </a:r>
            <a:endParaRPr sz="1400" dirty="0">
              <a:solidFill>
                <a:srgbClr val="444455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동작 예시 ④ — Mag-Stripe 모드 트랜잭션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맑은 고딕"/>
              </a:rPr>
              <a:t>AIP에 Mag-Stripe 비트가 설정된 카드(또는 휴대폰)와의 트랜잭션 흐름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0293505"/>
              </p:ext>
            </p:extLst>
          </p:nvPr>
        </p:nvGraphicFramePr>
        <p:xfrm>
          <a:off x="365760" y="1600200"/>
          <a:ext cx="11430000" cy="5074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286000"/>
                <a:gridCol w="3474720"/>
                <a:gridCol w="5669280"/>
              </a:tblGrid>
              <a:tr h="390378">
                <a:tc>
                  <a:txBody>
                    <a:bodyPr/>
                    <a:lstStyle/>
                    <a:p>
                      <a:pPr algn="ctr"/>
                      <a:r>
                        <a:rPr sz="1100" dirty="0"/>
                        <a:t>Terminal</a:t>
                      </a:r>
                      <a:endParaRPr sz="1100" dirty="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ACT Signal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금액, 통화, 트랜잭션 유형 포함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</a:tr>
              <a:tr h="390378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Kernel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State 1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PDOL 구성, GPO 명령 준비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</a:tr>
              <a:tr h="390378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Kernel → Card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GET PROCESSING OPTIONS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PDOL Related Data 전송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</a:tr>
              <a:tr h="390378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Card → Kernel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GPO 응답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AIP: Mag-Stripe 모드 비트 설정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</a:tr>
              <a:tr h="390378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Kernel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State 2 — Mag 분기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Mag-Stripe 모드 결정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</a:tr>
              <a:tr h="390378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Kernel → Card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READ RECORD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Track 1 / Track 2 데이터 읽기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</a:tr>
              <a:tr h="390378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Card → Kernel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레코드 응답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Track 1 Data, Track 2 Data 포함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</a:tr>
              <a:tr h="390378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Kernel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UN(Numeric) 생성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4바이트 랜덤 숫자 (Unpredictable Number)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</a:tr>
              <a:tr h="390378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Kernel → Card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COMPUTE CRYPTOGRAPHIC CHECKSUM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UN 포함, CVC3 계산 요청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</a:tr>
              <a:tr h="390378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Card → Kernel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CCC 응답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CVC3(암호문), ATC, nUN, nq 포함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</a:tr>
              <a:tr h="390378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Kernel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Track 데이터 조립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Discretionary Data에 CVC3 삽입 (비트맵 위치)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</a:tr>
              <a:tr h="390378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Kernel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State 11 — Outcome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Outcome = ONLINE_REQUEST (항상 온라인)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</a:tr>
              <a:tr h="390384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Kernel → Terminal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OUT Signal</a:t>
                      </a:r>
                      <a:endParaRPr sz="11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dirty="0"/>
                        <a:t>Mag-Stripe </a:t>
                      </a:r>
                      <a:r>
                        <a:rPr sz="1100" dirty="0" err="1"/>
                        <a:t>형식</a:t>
                      </a:r>
                      <a:r>
                        <a:rPr sz="1100" dirty="0"/>
                        <a:t> Data Record (Track </a:t>
                      </a:r>
                      <a:r>
                        <a:rPr sz="1100" dirty="0" err="1"/>
                        <a:t>포함</a:t>
                      </a:r>
                      <a:r>
                        <a:rPr sz="1100" dirty="0"/>
                        <a:t>)</a:t>
                      </a:r>
                      <a:endParaRPr sz="1100" dirty="0">
                        <a:latin typeface="맑은 고딕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Outcome Parameter Set — 트랜잭션 결과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맑은 고딕"/>
              </a:rPr>
              <a:t>Kernel은 OUT Signal에 Outcome Parameter Set을 포함하여 Terminal에 트랜잭션 처리 결과를 전달합니다.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1810318"/>
              </p:ext>
            </p:extLst>
          </p:nvPr>
        </p:nvGraphicFramePr>
        <p:xfrm>
          <a:off x="365760" y="1600200"/>
          <a:ext cx="11430000" cy="5074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743200"/>
                <a:gridCol w="4572000"/>
                <a:gridCol w="4114800"/>
              </a:tblGrid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200" dirty="0" err="1"/>
                        <a:t>필드</a:t>
                      </a:r>
                      <a:endParaRPr sz="1200" b="1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값 목록</a:t>
                      </a:r>
                      <a:endParaRPr sz="1200" b="1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설명</a:t>
                      </a:r>
                      <a:endParaRPr sz="1200" b="1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anchor="ctr"/>
                </a:tc>
              </a:tr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Status</a:t>
                      </a:r>
                      <a:endParaRPr sz="12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/>
                        <a:t>Approved / Online </a:t>
                      </a:r>
                      <a:r>
                        <a:rPr sz="1200" dirty="0" smtClean="0"/>
                        <a:t>Request</a:t>
                      </a:r>
                      <a:r>
                        <a:rPr lang="en-US" sz="1200" dirty="0" smtClean="0"/>
                        <a:t> </a:t>
                      </a:r>
                      <a:r>
                        <a:rPr sz="1200" dirty="0" smtClean="0"/>
                        <a:t>/ </a:t>
                      </a:r>
                      <a:r>
                        <a:rPr sz="1200" dirty="0"/>
                        <a:t>Declined / End Application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트랜잭션 최종 상태</a:t>
                      </a:r>
                      <a:endParaRPr sz="1200">
                        <a:latin typeface="맑은 고딕"/>
                      </a:endParaRPr>
                    </a:p>
                  </a:txBody>
                  <a:tcPr anchor="ctr"/>
                </a:tc>
              </a:tr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Start</a:t>
                      </a:r>
                      <a:endParaRPr sz="12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No / A / B / C / NA</a:t>
                      </a:r>
                      <a:endParaRPr sz="12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재시작 유형 (No=종료, A/B/C=재시도)</a:t>
                      </a:r>
                      <a:endParaRPr sz="1200">
                        <a:latin typeface="맑은 고딕"/>
                      </a:endParaRPr>
                    </a:p>
                  </a:txBody>
                  <a:tcPr anchor="ctr"/>
                </a:tc>
              </a:tr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Online Response Data</a:t>
                      </a:r>
                      <a:endParaRPr sz="12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Yes / No</a:t>
                      </a:r>
                      <a:endParaRPr sz="12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온라인 응답 데이터 포함 여부</a:t>
                      </a:r>
                      <a:endParaRPr sz="1200">
                        <a:latin typeface="맑은 고딕"/>
                      </a:endParaRPr>
                    </a:p>
                  </a:txBody>
                  <a:tcPr anchor="ctr"/>
                </a:tc>
              </a:tr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CVM Performed</a:t>
                      </a:r>
                      <a:endParaRPr sz="12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/>
                        <a:t>Online PIN / Conf. Code </a:t>
                      </a:r>
                      <a:r>
                        <a:rPr sz="1200" dirty="0" smtClean="0"/>
                        <a:t>Verified</a:t>
                      </a:r>
                      <a:r>
                        <a:rPr lang="en-US" sz="1200" dirty="0" smtClean="0"/>
                        <a:t> </a:t>
                      </a:r>
                      <a:r>
                        <a:rPr sz="1200" dirty="0" smtClean="0"/>
                        <a:t>/ </a:t>
                      </a:r>
                      <a:r>
                        <a:rPr sz="1200" dirty="0"/>
                        <a:t>Obtain Signature / No CVM / 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적용된 카드소지자 인증 방법</a:t>
                      </a:r>
                      <a:endParaRPr sz="1200">
                        <a:latin typeface="맑은 고딕"/>
                      </a:endParaRPr>
                    </a:p>
                  </a:txBody>
                  <a:tcPr anchor="ctr"/>
                </a:tc>
              </a:tr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UI Request on Outcome</a:t>
                      </a:r>
                      <a:endParaRPr sz="12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Yes / No</a:t>
                      </a:r>
                      <a:endParaRPr sz="12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화면 표시 요청 포함 여부</a:t>
                      </a:r>
                      <a:endParaRPr sz="1200">
                        <a:latin typeface="맑은 고딕"/>
                      </a:endParaRPr>
                    </a:p>
                  </a:txBody>
                  <a:tcPr anchor="ctr"/>
                </a:tc>
              </a:tr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UI Request on Restart</a:t>
                      </a:r>
                      <a:endParaRPr sz="12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Yes / No</a:t>
                      </a:r>
                      <a:endParaRPr sz="12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재시작 시 화면 표시 여부</a:t>
                      </a:r>
                      <a:endParaRPr sz="1200">
                        <a:latin typeface="맑은 고딕"/>
                      </a:endParaRPr>
                    </a:p>
                  </a:txBody>
                  <a:tcPr anchor="ctr"/>
                </a:tc>
              </a:tr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Data Record</a:t>
                      </a:r>
                      <a:endParaRPr sz="12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Present / Not Present</a:t>
                      </a:r>
                      <a:endParaRPr sz="12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권한 부여·정산 데이터 포함 여부</a:t>
                      </a:r>
                      <a:endParaRPr sz="1200">
                        <a:latin typeface="맑은 고딕"/>
                      </a:endParaRPr>
                    </a:p>
                  </a:txBody>
                  <a:tcPr anchor="ctr"/>
                </a:tc>
              </a:tr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Discretionary Data</a:t>
                      </a:r>
                      <a:endParaRPr sz="12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Present / Not Present</a:t>
                      </a:r>
                      <a:endParaRPr sz="12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추가 Kernel 데이터 포함 여부</a:t>
                      </a:r>
                      <a:endParaRPr sz="1200">
                        <a:latin typeface="맑은 고딕"/>
                      </a:endParaRPr>
                    </a:p>
                  </a:txBody>
                  <a:tcPr anchor="ctr"/>
                </a:tc>
              </a:tr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Receipt</a:t>
                      </a:r>
                      <a:endParaRPr sz="12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Yes / NA</a:t>
                      </a:r>
                      <a:endParaRPr sz="12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영수증 발행 필요 여부</a:t>
                      </a:r>
                      <a:endParaRPr sz="1200">
                        <a:latin typeface="맑은 고딕"/>
                      </a:endParaRPr>
                    </a:p>
                  </a:txBody>
                  <a:tcPr anchor="ctr"/>
                </a:tc>
              </a:tr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Field Off Request</a:t>
                      </a:r>
                      <a:endParaRPr sz="12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Yes / No</a:t>
                      </a:r>
                      <a:endParaRPr sz="12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RF 필드 비활성화 요청</a:t>
                      </a:r>
                      <a:endParaRPr sz="1200">
                        <a:latin typeface="맑은 고딕"/>
                      </a:endParaRPr>
                    </a:p>
                  </a:txBody>
                  <a:tcPr anchor="ctr"/>
                </a:tc>
              </a:tr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200" dirty="0"/>
                        <a:t>Removal Timeout</a:t>
                      </a:r>
                      <a:endParaRPr sz="1200" dirty="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0~999ms</a:t>
                      </a:r>
                      <a:endParaRPr sz="1200">
                        <a:latin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 err="1"/>
                        <a:t>카드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제거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대기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시간</a:t>
                      </a:r>
                      <a:endParaRPr sz="1200" dirty="0">
                        <a:latin typeface="맑은 고딕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보안 알고리즘 — OWHF2 &amp; OWHF2AES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맑은 고딕"/>
              </a:rPr>
              <a:t>Chapter 8에서 정의한 두 가지 단방향 해시 함수 (IDS 보안의 핵심)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5394960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600200"/>
            <a:ext cx="53949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6459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3E"/>
                </a:solidFill>
                <a:latin typeface="맑은 고딕"/>
              </a:rPr>
              <a:t>OWHF2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011680"/>
            <a:ext cx="5120640" cy="4662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dirty="0">
                <a:solidFill>
                  <a:srgbClr val="444455"/>
                </a:solidFill>
                <a:latin typeface="맑은 고딕"/>
              </a:rPr>
              <a:t>• OWHF2 (One-Way Hash Function 2)</a:t>
            </a:r>
          </a:p>
          <a:p>
            <a:pPr lvl="1">
              <a:lnSpc>
                <a:spcPct val="150000"/>
              </a:lnSpc>
            </a:pPr>
            <a:r>
              <a:rPr sz="1600" dirty="0">
                <a:solidFill>
                  <a:srgbClr val="555577"/>
                </a:solidFill>
                <a:latin typeface="맑은 고딕"/>
              </a:rPr>
              <a:t>  – 3DES </a:t>
            </a:r>
            <a:r>
              <a:rPr sz="1600" dirty="0" err="1">
                <a:solidFill>
                  <a:srgbClr val="555577"/>
                </a:solidFill>
                <a:latin typeface="맑은 고딕"/>
              </a:rPr>
              <a:t>기반</a:t>
            </a:r>
            <a:r>
              <a:rPr sz="16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555577"/>
                </a:solidFill>
                <a:latin typeface="맑은 고딕"/>
              </a:rPr>
              <a:t>단방향</a:t>
            </a:r>
            <a:r>
              <a:rPr sz="16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555577"/>
                </a:solidFill>
                <a:latin typeface="맑은 고딕"/>
              </a:rPr>
              <a:t>해시</a:t>
            </a:r>
            <a:endParaRPr sz="16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r>
              <a:rPr sz="1600" dirty="0">
                <a:solidFill>
                  <a:srgbClr val="555577"/>
                </a:solidFill>
                <a:latin typeface="맑은 고딕"/>
              </a:rPr>
              <a:t>  – </a:t>
            </a:r>
            <a:r>
              <a:rPr sz="1600" dirty="0" err="1">
                <a:solidFill>
                  <a:srgbClr val="555577"/>
                </a:solidFill>
                <a:latin typeface="맑은 고딕"/>
              </a:rPr>
              <a:t>입력</a:t>
            </a:r>
            <a:r>
              <a:rPr sz="1600" dirty="0">
                <a:solidFill>
                  <a:srgbClr val="555577"/>
                </a:solidFill>
                <a:latin typeface="맑은 고딕"/>
              </a:rPr>
              <a:t>: DS Input (</a:t>
            </a:r>
            <a:r>
              <a:rPr sz="1600" dirty="0" err="1">
                <a:solidFill>
                  <a:srgbClr val="555577"/>
                </a:solidFill>
                <a:latin typeface="맑은 고딕"/>
              </a:rPr>
              <a:t>카드</a:t>
            </a:r>
            <a:r>
              <a:rPr sz="16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555577"/>
                </a:solidFill>
                <a:latin typeface="맑은 고딕"/>
              </a:rPr>
              <a:t>개인화</a:t>
            </a:r>
            <a:r>
              <a:rPr sz="16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555577"/>
                </a:solidFill>
                <a:latin typeface="맑은 고딕"/>
              </a:rPr>
              <a:t>데이터</a:t>
            </a:r>
            <a:r>
              <a:rPr sz="1600" dirty="0">
                <a:solidFill>
                  <a:srgbClr val="555577"/>
                </a:solidFill>
                <a:latin typeface="맑은 고딕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sz="1600" dirty="0">
                <a:solidFill>
                  <a:srgbClr val="555577"/>
                </a:solidFill>
                <a:latin typeface="맑은 고딕"/>
              </a:rPr>
              <a:t>  – </a:t>
            </a:r>
            <a:r>
              <a:rPr sz="1600" dirty="0" err="1">
                <a:solidFill>
                  <a:srgbClr val="555577"/>
                </a:solidFill>
                <a:latin typeface="맑은 고딕"/>
              </a:rPr>
              <a:t>출력</a:t>
            </a:r>
            <a:r>
              <a:rPr sz="1600" dirty="0">
                <a:solidFill>
                  <a:srgbClr val="555577"/>
                </a:solidFill>
                <a:latin typeface="맑은 고딕"/>
              </a:rPr>
              <a:t>: 16바이트 </a:t>
            </a:r>
            <a:r>
              <a:rPr sz="1600" dirty="0" err="1">
                <a:solidFill>
                  <a:srgbClr val="555577"/>
                </a:solidFill>
                <a:latin typeface="맑은 고딕"/>
              </a:rPr>
              <a:t>해시값</a:t>
            </a:r>
            <a:endParaRPr sz="16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r>
              <a:rPr sz="1600" dirty="0">
                <a:solidFill>
                  <a:srgbClr val="555577"/>
                </a:solidFill>
                <a:latin typeface="맑은 고딕"/>
              </a:rPr>
              <a:t>  – </a:t>
            </a:r>
            <a:r>
              <a:rPr sz="1600" dirty="0" err="1">
                <a:solidFill>
                  <a:srgbClr val="555577"/>
                </a:solidFill>
                <a:latin typeface="맑은 고딕"/>
              </a:rPr>
              <a:t>사용</a:t>
            </a:r>
            <a:r>
              <a:rPr sz="1600" dirty="0">
                <a:solidFill>
                  <a:srgbClr val="555577"/>
                </a:solidFill>
                <a:latin typeface="맑은 고딕"/>
              </a:rPr>
              <a:t>: IDS DS Summary </a:t>
            </a:r>
            <a:r>
              <a:rPr sz="1600" dirty="0" err="1">
                <a:solidFill>
                  <a:srgbClr val="555577"/>
                </a:solidFill>
                <a:latin typeface="맑은 고딕"/>
              </a:rPr>
              <a:t>검증</a:t>
            </a:r>
            <a:endParaRPr sz="1600" dirty="0">
              <a:solidFill>
                <a:srgbClr val="555577"/>
              </a:solidFill>
              <a:latin typeface="맑은 고딕"/>
            </a:endParaRPr>
          </a:p>
          <a:p>
            <a:pPr>
              <a:lnSpc>
                <a:spcPct val="150000"/>
              </a:lnSpc>
            </a:pPr>
            <a:endParaRPr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150000"/>
              </a:lnSpc>
            </a:pPr>
            <a:r>
              <a:rPr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dirty="0" err="1">
                <a:solidFill>
                  <a:srgbClr val="444455"/>
                </a:solidFill>
                <a:latin typeface="맑은 고딕"/>
              </a:rPr>
              <a:t>알고리즘</a:t>
            </a:r>
            <a:r>
              <a:rPr dirty="0">
                <a:solidFill>
                  <a:srgbClr val="444455"/>
                </a:solidFill>
                <a:latin typeface="맑은 고딕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sz="1600" dirty="0">
                <a:solidFill>
                  <a:srgbClr val="555577"/>
                </a:solidFill>
                <a:latin typeface="맑은 고딕"/>
              </a:rPr>
              <a:t>  – K1 = </a:t>
            </a:r>
            <a:r>
              <a:rPr sz="1600" dirty="0" err="1">
                <a:solidFill>
                  <a:srgbClr val="555577"/>
                </a:solidFill>
                <a:latin typeface="맑은 고딕"/>
              </a:rPr>
              <a:t>입력</a:t>
            </a:r>
            <a:r>
              <a:rPr sz="1600" dirty="0">
                <a:solidFill>
                  <a:srgbClr val="555577"/>
                </a:solidFill>
                <a:latin typeface="맑은 고딕"/>
              </a:rPr>
              <a:t> 첫 8바이트</a:t>
            </a:r>
          </a:p>
          <a:p>
            <a:pPr lvl="1">
              <a:lnSpc>
                <a:spcPct val="150000"/>
              </a:lnSpc>
            </a:pPr>
            <a:r>
              <a:rPr sz="1600" dirty="0">
                <a:solidFill>
                  <a:srgbClr val="555577"/>
                </a:solidFill>
                <a:latin typeface="맑은 고딕"/>
              </a:rPr>
              <a:t>  – K2 = </a:t>
            </a:r>
            <a:r>
              <a:rPr sz="1600" dirty="0" err="1">
                <a:solidFill>
                  <a:srgbClr val="555577"/>
                </a:solidFill>
                <a:latin typeface="맑은 고딕"/>
              </a:rPr>
              <a:t>입력</a:t>
            </a:r>
            <a:r>
              <a:rPr sz="1600" dirty="0">
                <a:solidFill>
                  <a:srgbClr val="555577"/>
                </a:solidFill>
                <a:latin typeface="맑은 고딕"/>
              </a:rPr>
              <a:t> 두 </a:t>
            </a:r>
            <a:r>
              <a:rPr sz="1600" dirty="0" err="1">
                <a:solidFill>
                  <a:srgbClr val="555577"/>
                </a:solidFill>
                <a:latin typeface="맑은 고딕"/>
              </a:rPr>
              <a:t>번째</a:t>
            </a:r>
            <a:r>
              <a:rPr sz="1600" dirty="0">
                <a:solidFill>
                  <a:srgbClr val="555577"/>
                </a:solidFill>
                <a:latin typeface="맑은 고딕"/>
              </a:rPr>
              <a:t> 8바이트</a:t>
            </a:r>
          </a:p>
          <a:p>
            <a:pPr lvl="1">
              <a:lnSpc>
                <a:spcPct val="150000"/>
              </a:lnSpc>
            </a:pPr>
            <a:r>
              <a:rPr sz="1600" dirty="0">
                <a:solidFill>
                  <a:srgbClr val="555577"/>
                </a:solidFill>
                <a:latin typeface="맑은 고딕"/>
              </a:rPr>
              <a:t>  – H = TDES(K1||K2)[</a:t>
            </a:r>
            <a:r>
              <a:rPr sz="1600" dirty="0" err="1">
                <a:solidFill>
                  <a:srgbClr val="555577"/>
                </a:solidFill>
                <a:latin typeface="맑은 고딕"/>
              </a:rPr>
              <a:t>입력</a:t>
            </a:r>
            <a:r>
              <a:rPr sz="1600" dirty="0">
                <a:solidFill>
                  <a:srgbClr val="555577"/>
                </a:solidFill>
                <a:latin typeface="맑은 고딕"/>
              </a:rPr>
              <a:t> || </a:t>
            </a:r>
            <a:r>
              <a:rPr sz="1600" dirty="0" err="1">
                <a:solidFill>
                  <a:srgbClr val="555577"/>
                </a:solidFill>
                <a:latin typeface="맑은 고딕"/>
              </a:rPr>
              <a:t>패딩</a:t>
            </a:r>
            <a:r>
              <a:rPr sz="1600" dirty="0">
                <a:solidFill>
                  <a:srgbClr val="555577"/>
                </a:solidFill>
                <a:latin typeface="맑은 고딕"/>
              </a:rPr>
              <a:t>]</a:t>
            </a:r>
          </a:p>
          <a:p>
            <a:pPr lvl="1">
              <a:lnSpc>
                <a:spcPct val="150000"/>
              </a:lnSpc>
            </a:pPr>
            <a:r>
              <a:rPr sz="1600" dirty="0">
                <a:solidFill>
                  <a:srgbClr val="555577"/>
                </a:solidFill>
                <a:latin typeface="맑은 고딕"/>
              </a:rPr>
              <a:t>  – </a:t>
            </a:r>
            <a:r>
              <a:rPr sz="1600" dirty="0" err="1">
                <a:solidFill>
                  <a:srgbClr val="555577"/>
                </a:solidFill>
                <a:latin typeface="맑은 고딕"/>
              </a:rPr>
              <a:t>결과</a:t>
            </a:r>
            <a:r>
              <a:rPr sz="1600" dirty="0">
                <a:solidFill>
                  <a:srgbClr val="555577"/>
                </a:solidFill>
                <a:latin typeface="맑은 고딕"/>
              </a:rPr>
              <a:t> XOR </a:t>
            </a:r>
            <a:r>
              <a:rPr sz="1600" dirty="0" err="1">
                <a:solidFill>
                  <a:srgbClr val="555577"/>
                </a:solidFill>
                <a:latin typeface="맑은 고딕"/>
              </a:rPr>
              <a:t>연산</a:t>
            </a:r>
            <a:r>
              <a:rPr sz="16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555577"/>
                </a:solidFill>
                <a:latin typeface="맑은 고딕"/>
              </a:rPr>
              <a:t>적용</a:t>
            </a:r>
            <a:endParaRPr sz="16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r>
              <a:rPr sz="1600" dirty="0">
                <a:solidFill>
                  <a:srgbClr val="555577"/>
                </a:solidFill>
                <a:latin typeface="맑은 고딕"/>
              </a:rPr>
              <a:t>  – IDS Summary 2 </a:t>
            </a:r>
            <a:r>
              <a:rPr sz="1600" dirty="0" err="1">
                <a:solidFill>
                  <a:srgbClr val="555577"/>
                </a:solidFill>
                <a:latin typeface="맑은 고딕"/>
              </a:rPr>
              <a:t>계산에</a:t>
            </a:r>
            <a:r>
              <a:rPr sz="16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555577"/>
                </a:solidFill>
                <a:latin typeface="맑은 고딕"/>
              </a:rPr>
              <a:t>사용</a:t>
            </a:r>
            <a:endParaRPr sz="1600" dirty="0">
              <a:solidFill>
                <a:srgbClr val="555577"/>
              </a:solidFill>
              <a:latin typeface="맑은 고딕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035040" y="1600200"/>
            <a:ext cx="5852160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35040" y="1600200"/>
            <a:ext cx="58521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72200" y="164592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3E"/>
                </a:solidFill>
                <a:latin typeface="맑은 고딕"/>
              </a:rPr>
              <a:t>OWHF2AES &amp; 난수 생성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011680"/>
            <a:ext cx="5577840" cy="4662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dirty="0">
                <a:solidFill>
                  <a:srgbClr val="444455"/>
                </a:solidFill>
                <a:latin typeface="맑은 고딕"/>
              </a:rPr>
              <a:t>• OWHF2AES (AES </a:t>
            </a:r>
            <a:r>
              <a:rPr dirty="0" err="1">
                <a:solidFill>
                  <a:srgbClr val="444455"/>
                </a:solidFill>
                <a:latin typeface="맑은 고딕"/>
              </a:rPr>
              <a:t>기반</a:t>
            </a:r>
            <a:r>
              <a:rPr dirty="0">
                <a:solidFill>
                  <a:srgbClr val="444455"/>
                </a:solidFill>
                <a:latin typeface="맑은 고딕"/>
              </a:rPr>
              <a:t> </a:t>
            </a:r>
            <a:r>
              <a:rPr dirty="0" err="1">
                <a:solidFill>
                  <a:srgbClr val="444455"/>
                </a:solidFill>
                <a:latin typeface="맑은 고딕"/>
              </a:rPr>
              <a:t>버전</a:t>
            </a:r>
            <a:r>
              <a:rPr dirty="0">
                <a:solidFill>
                  <a:srgbClr val="444455"/>
                </a:solidFill>
                <a:latin typeface="맑은 고딕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sz="1600" dirty="0">
                <a:solidFill>
                  <a:srgbClr val="555577"/>
                </a:solidFill>
                <a:latin typeface="맑은 고딕"/>
              </a:rPr>
              <a:t>  – AES-128 </a:t>
            </a:r>
            <a:r>
              <a:rPr sz="1600" dirty="0" err="1">
                <a:solidFill>
                  <a:srgbClr val="555577"/>
                </a:solidFill>
                <a:latin typeface="맑은 고딕"/>
              </a:rPr>
              <a:t>기반</a:t>
            </a:r>
            <a:r>
              <a:rPr sz="16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555577"/>
                </a:solidFill>
                <a:latin typeface="맑은 고딕"/>
              </a:rPr>
              <a:t>단방향</a:t>
            </a:r>
            <a:r>
              <a:rPr sz="16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555577"/>
                </a:solidFill>
                <a:latin typeface="맑은 고딕"/>
              </a:rPr>
              <a:t>해시</a:t>
            </a:r>
            <a:endParaRPr sz="16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r>
              <a:rPr sz="1600" dirty="0">
                <a:solidFill>
                  <a:srgbClr val="555577"/>
                </a:solidFill>
                <a:latin typeface="맑은 고딕"/>
              </a:rPr>
              <a:t>  – 더 </a:t>
            </a:r>
            <a:r>
              <a:rPr sz="1600" dirty="0" err="1">
                <a:solidFill>
                  <a:srgbClr val="555577"/>
                </a:solidFill>
                <a:latin typeface="맑은 고딕"/>
              </a:rPr>
              <a:t>강력한</a:t>
            </a:r>
            <a:r>
              <a:rPr sz="16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555577"/>
                </a:solidFill>
                <a:latin typeface="맑은 고딕"/>
              </a:rPr>
              <a:t>암호</a:t>
            </a:r>
            <a:r>
              <a:rPr sz="16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555577"/>
                </a:solidFill>
                <a:latin typeface="맑은 고딕"/>
              </a:rPr>
              <a:t>강도</a:t>
            </a:r>
            <a:endParaRPr sz="16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r>
              <a:rPr sz="1600" dirty="0">
                <a:solidFill>
                  <a:srgbClr val="555577"/>
                </a:solidFill>
                <a:latin typeface="맑은 고딕"/>
              </a:rPr>
              <a:t>  – </a:t>
            </a:r>
            <a:r>
              <a:rPr sz="1600" dirty="0" err="1">
                <a:solidFill>
                  <a:srgbClr val="555577"/>
                </a:solidFill>
                <a:latin typeface="맑은 고딕"/>
              </a:rPr>
              <a:t>입력</a:t>
            </a:r>
            <a:r>
              <a:rPr sz="1600" dirty="0">
                <a:solidFill>
                  <a:srgbClr val="555577"/>
                </a:solidFill>
                <a:latin typeface="맑은 고딕"/>
              </a:rPr>
              <a:t>: DS Input</a:t>
            </a:r>
          </a:p>
          <a:p>
            <a:pPr lvl="1">
              <a:lnSpc>
                <a:spcPct val="150000"/>
              </a:lnSpc>
            </a:pPr>
            <a:r>
              <a:rPr sz="1600" dirty="0">
                <a:solidFill>
                  <a:srgbClr val="555577"/>
                </a:solidFill>
                <a:latin typeface="맑은 고딕"/>
              </a:rPr>
              <a:t>  – </a:t>
            </a:r>
            <a:r>
              <a:rPr sz="1600" dirty="0" err="1">
                <a:solidFill>
                  <a:srgbClr val="555577"/>
                </a:solidFill>
                <a:latin typeface="맑은 고딕"/>
              </a:rPr>
              <a:t>출력</a:t>
            </a:r>
            <a:r>
              <a:rPr sz="1600" dirty="0">
                <a:solidFill>
                  <a:srgbClr val="555577"/>
                </a:solidFill>
                <a:latin typeface="맑은 고딕"/>
              </a:rPr>
              <a:t>: 16바이트 </a:t>
            </a:r>
            <a:r>
              <a:rPr sz="1600" dirty="0" err="1">
                <a:solidFill>
                  <a:srgbClr val="555577"/>
                </a:solidFill>
                <a:latin typeface="맑은 고딕"/>
              </a:rPr>
              <a:t>해시값</a:t>
            </a:r>
            <a:endParaRPr sz="1600" dirty="0">
              <a:solidFill>
                <a:srgbClr val="555577"/>
              </a:solidFill>
              <a:latin typeface="맑은 고딕"/>
            </a:endParaRPr>
          </a:p>
          <a:p>
            <a:pPr>
              <a:lnSpc>
                <a:spcPct val="150000"/>
              </a:lnSpc>
            </a:pPr>
            <a:endParaRPr dirty="0">
              <a:solidFill>
                <a:srgbClr val="444455"/>
              </a:solidFill>
              <a:latin typeface="맑은 고딕"/>
            </a:endParaRPr>
          </a:p>
          <a:p>
            <a:pPr>
              <a:lnSpc>
                <a:spcPct val="150000"/>
              </a:lnSpc>
            </a:pPr>
            <a:r>
              <a:rPr dirty="0">
                <a:solidFill>
                  <a:srgbClr val="444455"/>
                </a:solidFill>
                <a:latin typeface="맑은 고딕"/>
              </a:rPr>
              <a:t>• Unpredictable Number </a:t>
            </a:r>
            <a:r>
              <a:rPr dirty="0" err="1">
                <a:solidFill>
                  <a:srgbClr val="444455"/>
                </a:solidFill>
                <a:latin typeface="맑은 고딕"/>
              </a:rPr>
              <a:t>생성</a:t>
            </a:r>
            <a:endParaRPr dirty="0">
              <a:solidFill>
                <a:srgbClr val="444455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r>
              <a:rPr sz="1600" dirty="0">
                <a:solidFill>
                  <a:srgbClr val="555577"/>
                </a:solidFill>
                <a:latin typeface="맑은 고딕"/>
              </a:rPr>
              <a:t>  – </a:t>
            </a:r>
            <a:r>
              <a:rPr sz="1600" dirty="0" err="1">
                <a:solidFill>
                  <a:srgbClr val="555577"/>
                </a:solidFill>
                <a:latin typeface="맑은 고딕"/>
              </a:rPr>
              <a:t>랜덤</a:t>
            </a:r>
            <a:r>
              <a:rPr sz="16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555577"/>
                </a:solidFill>
                <a:latin typeface="맑은 고딕"/>
              </a:rPr>
              <a:t>숫자</a:t>
            </a:r>
            <a:r>
              <a:rPr sz="16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555577"/>
                </a:solidFill>
                <a:latin typeface="맑은 고딕"/>
              </a:rPr>
              <a:t>생성기</a:t>
            </a:r>
            <a:r>
              <a:rPr sz="16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555577"/>
                </a:solidFill>
                <a:latin typeface="맑은 고딕"/>
              </a:rPr>
              <a:t>사용</a:t>
            </a:r>
            <a:endParaRPr sz="16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r>
              <a:rPr sz="1600" dirty="0">
                <a:solidFill>
                  <a:srgbClr val="555577"/>
                </a:solidFill>
                <a:latin typeface="맑은 고딕"/>
              </a:rPr>
              <a:t>  – </a:t>
            </a:r>
            <a:r>
              <a:rPr sz="1600" dirty="0" err="1">
                <a:solidFill>
                  <a:srgbClr val="555577"/>
                </a:solidFill>
                <a:latin typeface="맑은 고딕"/>
              </a:rPr>
              <a:t>예측</a:t>
            </a:r>
            <a:r>
              <a:rPr sz="16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555577"/>
                </a:solidFill>
                <a:latin typeface="맑은 고딕"/>
              </a:rPr>
              <a:t>불가능성</a:t>
            </a:r>
            <a:r>
              <a:rPr sz="16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555577"/>
                </a:solidFill>
                <a:latin typeface="맑은 고딕"/>
              </a:rPr>
              <a:t>보장</a:t>
            </a:r>
            <a:endParaRPr sz="16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r>
              <a:rPr sz="1600" dirty="0">
                <a:solidFill>
                  <a:srgbClr val="555577"/>
                </a:solidFill>
                <a:latin typeface="맑은 고딕"/>
              </a:rPr>
              <a:t>  – Mag-Stripe: UN(Numeric) — 10진수</a:t>
            </a:r>
          </a:p>
          <a:p>
            <a:pPr lvl="1">
              <a:lnSpc>
                <a:spcPct val="150000"/>
              </a:lnSpc>
            </a:pPr>
            <a:r>
              <a:rPr sz="1600" dirty="0">
                <a:solidFill>
                  <a:srgbClr val="555577"/>
                </a:solidFill>
                <a:latin typeface="맑은 고딕"/>
              </a:rPr>
              <a:t>  – EMV: UN — 4바이트 </a:t>
            </a:r>
            <a:r>
              <a:rPr sz="1600" dirty="0" err="1">
                <a:solidFill>
                  <a:srgbClr val="555577"/>
                </a:solidFill>
                <a:latin typeface="맑은 고딕"/>
              </a:rPr>
              <a:t>이진수</a:t>
            </a:r>
            <a:endParaRPr sz="16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r>
              <a:rPr sz="1600" dirty="0">
                <a:solidFill>
                  <a:srgbClr val="555577"/>
                </a:solidFill>
                <a:latin typeface="맑은 고딕"/>
              </a:rPr>
              <a:t>  – RRP: Terminal </a:t>
            </a:r>
            <a:r>
              <a:rPr sz="1600" dirty="0" err="1">
                <a:solidFill>
                  <a:srgbClr val="555577"/>
                </a:solidFill>
                <a:latin typeface="맑은 고딕"/>
              </a:rPr>
              <a:t>난수</a:t>
            </a:r>
            <a:r>
              <a:rPr sz="16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555577"/>
                </a:solidFill>
                <a:latin typeface="맑은 고딕"/>
              </a:rPr>
              <a:t>포함</a:t>
            </a:r>
            <a:endParaRPr sz="1600" dirty="0">
              <a:solidFill>
                <a:srgbClr val="555577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Kernel 2 구조 종합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맑은 고딕"/>
              </a:rPr>
              <a:t>Book C-2 Kernel 2는 Mastercard 컨택리스 결제의 모든 처리 로직을 정의하는 핵심 사양입니다.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5394960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600200"/>
            <a:ext cx="53949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6459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3E"/>
                </a:solidFill>
                <a:latin typeface="맑은 고딕"/>
              </a:rPr>
              <a:t>핵심 개념 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011680"/>
            <a:ext cx="5120640" cy="4201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 b="1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b="1" dirty="0" err="1">
                <a:solidFill>
                  <a:srgbClr val="444455"/>
                </a:solidFill>
                <a:latin typeface="맑은 고딕"/>
              </a:rPr>
              <a:t>아키텍처</a:t>
            </a:r>
            <a:endParaRPr sz="1400" b="1" dirty="0">
              <a:solidFill>
                <a:srgbClr val="444455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5개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프로세스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(M/S/P/D/K)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독립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실행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Signal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기반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느슨한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결합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설계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TLV Database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중심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데이터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 smtClean="0">
                <a:solidFill>
                  <a:srgbClr val="555577"/>
                </a:solidFill>
                <a:latin typeface="맑은 고딕"/>
              </a:rPr>
              <a:t>관리</a:t>
            </a:r>
            <a:endParaRPr lang="en-US" sz="1300" dirty="0" smtClean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endParaRPr sz="1300" dirty="0">
              <a:solidFill>
                <a:srgbClr val="555577"/>
              </a:solidFill>
              <a:latin typeface="맑은 고딕"/>
            </a:endParaRPr>
          </a:p>
          <a:p>
            <a:pPr>
              <a:lnSpc>
                <a:spcPct val="150000"/>
              </a:lnSpc>
            </a:pPr>
            <a:r>
              <a:rPr sz="1400" b="1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b="1" dirty="0" err="1">
                <a:solidFill>
                  <a:srgbClr val="444455"/>
                </a:solidFill>
                <a:latin typeface="맑은 고딕"/>
              </a:rPr>
              <a:t>트랜잭션</a:t>
            </a:r>
            <a:r>
              <a:rPr sz="1400" b="1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444455"/>
                </a:solidFill>
                <a:latin typeface="맑은 고딕"/>
              </a:rPr>
              <a:t>모드</a:t>
            </a:r>
            <a:endParaRPr sz="1400" b="1" dirty="0">
              <a:solidFill>
                <a:srgbClr val="444455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Mag-Stripe: CVC3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암호문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,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온라인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전용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EMV: ODA(SDA/DDA/CDA),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오프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/</a:t>
            </a:r>
            <a:r>
              <a:rPr sz="1300" dirty="0" err="1" smtClean="0">
                <a:solidFill>
                  <a:srgbClr val="555577"/>
                </a:solidFill>
                <a:latin typeface="맑은 고딕"/>
              </a:rPr>
              <a:t>온라인</a:t>
            </a:r>
            <a:endParaRPr lang="en-US" sz="1300" dirty="0" smtClean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endParaRPr sz="1400" dirty="0">
              <a:solidFill>
                <a:srgbClr val="555577"/>
              </a:solidFill>
              <a:latin typeface="맑은 고딕"/>
            </a:endParaRPr>
          </a:p>
          <a:p>
            <a:pPr>
              <a:lnSpc>
                <a:spcPct val="150000"/>
              </a:lnSpc>
            </a:pPr>
            <a:r>
              <a:rPr sz="1400" b="1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b="1" dirty="0" err="1">
                <a:solidFill>
                  <a:srgbClr val="444455"/>
                </a:solidFill>
                <a:latin typeface="맑은 고딕"/>
              </a:rPr>
              <a:t>데이터</a:t>
            </a:r>
            <a:r>
              <a:rPr sz="1400" b="1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444455"/>
                </a:solidFill>
                <a:latin typeface="맑은 고딕"/>
              </a:rPr>
              <a:t>관리</a:t>
            </a:r>
            <a:endParaRPr sz="1400" b="1" dirty="0">
              <a:solidFill>
                <a:srgbClr val="444455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DEK/DET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Signal로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Terminal ↔ Kernel</a:t>
            </a: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SDS: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독립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명령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(GET/PUT DATA)</a:t>
            </a: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IDS: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기존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결제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명령에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통합</a:t>
            </a:r>
            <a:endParaRPr sz="1300" dirty="0">
              <a:solidFill>
                <a:srgbClr val="555577"/>
              </a:solidFill>
              <a:latin typeface="맑은 고딕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035040" y="1600200"/>
            <a:ext cx="5852160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35040" y="1600200"/>
            <a:ext cx="58521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72200" y="164592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3E"/>
                </a:solidFill>
                <a:latin typeface="맑은 고딕"/>
              </a:rPr>
              <a:t>복구·보안·확장 기능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4169" y="2011680"/>
            <a:ext cx="5577840" cy="4362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 b="1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b="1" dirty="0" err="1">
                <a:solidFill>
                  <a:srgbClr val="444455"/>
                </a:solidFill>
                <a:latin typeface="맑은 고딕"/>
              </a:rPr>
              <a:t>복구</a:t>
            </a:r>
            <a:r>
              <a:rPr sz="1400" b="1" dirty="0">
                <a:solidFill>
                  <a:srgbClr val="444455"/>
                </a:solidFill>
                <a:latin typeface="맑은 고딕"/>
              </a:rPr>
              <a:t> 및 </a:t>
            </a:r>
            <a:r>
              <a:rPr sz="1400" b="1" dirty="0" err="1">
                <a:solidFill>
                  <a:srgbClr val="444455"/>
                </a:solidFill>
                <a:latin typeface="맑은 고딕"/>
              </a:rPr>
              <a:t>안전성</a:t>
            </a:r>
            <a:endParaRPr sz="1400" b="1" dirty="0">
              <a:solidFill>
                <a:srgbClr val="444455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Torn Transaction Recovery (RECOVER AC)</a:t>
            </a: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Relay Resistance Protocol (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타이밍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측정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IDS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보안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(OWHF2/MAC</a:t>
            </a:r>
            <a:r>
              <a:rPr sz="1300" dirty="0" smtClean="0">
                <a:solidFill>
                  <a:srgbClr val="555577"/>
                </a:solidFill>
                <a:latin typeface="맑은 고딕"/>
              </a:rPr>
              <a:t>)</a:t>
            </a:r>
            <a:endParaRPr lang="en-US" sz="1300" dirty="0" smtClean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endParaRPr sz="1300" dirty="0">
              <a:solidFill>
                <a:srgbClr val="555577"/>
              </a:solidFill>
              <a:latin typeface="맑은 고딕"/>
            </a:endParaRPr>
          </a:p>
          <a:p>
            <a:pPr>
              <a:lnSpc>
                <a:spcPct val="150000"/>
              </a:lnSpc>
            </a:pPr>
            <a:r>
              <a:rPr sz="1400" b="1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b="1" dirty="0" err="1">
                <a:solidFill>
                  <a:srgbClr val="444455"/>
                </a:solidFill>
                <a:latin typeface="맑은 고딕"/>
              </a:rPr>
              <a:t>확장</a:t>
            </a:r>
            <a:r>
              <a:rPr sz="1400" b="1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444455"/>
                </a:solidFill>
                <a:latin typeface="맑은 고딕"/>
              </a:rPr>
              <a:t>기능</a:t>
            </a:r>
            <a:endParaRPr sz="1400" b="1" dirty="0">
              <a:solidFill>
                <a:srgbClr val="444455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Mobile CVM (CDCVM)</a:t>
            </a: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Balance Reading (GET DATA)</a:t>
            </a: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Non-CDA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최적화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(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조기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종료</a:t>
            </a:r>
            <a:r>
              <a:rPr sz="1300" dirty="0" smtClean="0">
                <a:solidFill>
                  <a:srgbClr val="555577"/>
                </a:solidFill>
                <a:latin typeface="맑은 고딕"/>
              </a:rPr>
              <a:t>)</a:t>
            </a:r>
            <a:endParaRPr lang="en-US" sz="1300" dirty="0" smtClean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endParaRPr sz="1300" dirty="0">
              <a:solidFill>
                <a:srgbClr val="555577"/>
              </a:solidFill>
              <a:latin typeface="맑은 고딕"/>
            </a:endParaRPr>
          </a:p>
          <a:p>
            <a:pPr>
              <a:lnSpc>
                <a:spcPct val="150000"/>
              </a:lnSpc>
            </a:pPr>
            <a:r>
              <a:rPr sz="1400" b="1" dirty="0">
                <a:solidFill>
                  <a:srgbClr val="444455"/>
                </a:solidFill>
                <a:latin typeface="맑은 고딕"/>
              </a:rPr>
              <a:t>• </a:t>
            </a:r>
            <a:r>
              <a:rPr sz="1400" b="1" dirty="0" err="1">
                <a:solidFill>
                  <a:srgbClr val="444455"/>
                </a:solidFill>
                <a:latin typeface="맑은 고딕"/>
              </a:rPr>
              <a:t>상태</a:t>
            </a:r>
            <a:r>
              <a:rPr sz="1400" b="1" dirty="0">
                <a:solidFill>
                  <a:srgbClr val="444455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444455"/>
                </a:solidFill>
                <a:latin typeface="맑은 고딕"/>
              </a:rPr>
              <a:t>기계</a:t>
            </a:r>
            <a:endParaRPr sz="1400" b="1" dirty="0">
              <a:solidFill>
                <a:srgbClr val="444455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16개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상태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, Signal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구동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Outcome Parameter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Set으로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결과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반환</a:t>
            </a:r>
            <a:endParaRPr sz="1300" dirty="0">
              <a:solidFill>
                <a:srgbClr val="555577"/>
              </a:solidFill>
              <a:latin typeface="맑은 고딕"/>
            </a:endParaRPr>
          </a:p>
          <a:p>
            <a:pPr lvl="1">
              <a:lnSpc>
                <a:spcPct val="150000"/>
              </a:lnSpc>
            </a:pPr>
            <a:r>
              <a:rPr sz="1300" dirty="0">
                <a:solidFill>
                  <a:srgbClr val="555577"/>
                </a:solidFill>
                <a:latin typeface="맑은 고딕"/>
              </a:rPr>
              <a:t>  –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카드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이탈·거부·승인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모든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경우</a:t>
            </a:r>
            <a:r>
              <a:rPr sz="1300" dirty="0">
                <a:solidFill>
                  <a:srgbClr val="555577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555577"/>
                </a:solidFill>
                <a:latin typeface="맑은 고딕"/>
              </a:rPr>
              <a:t>처리</a:t>
            </a:r>
            <a:endParaRPr sz="1300" dirty="0">
              <a:solidFill>
                <a:srgbClr val="555577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맑은 고딕"/>
              </a:rP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CDDFF"/>
                </a:solidFill>
                <a:latin typeface="맑은 고딕"/>
              </a:rPr>
              <a:t>EMV® Contactless Specifications for Payment Systems
Book C-2 — Kernel 2 Specification v2.10  |  March 2021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63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© 2011-2021 EMVCo, LLC.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5901</Words>
  <Application>Microsoft Office PowerPoint</Application>
  <PresentationFormat>사용자 지정</PresentationFormat>
  <Paragraphs>968</Paragraphs>
  <Slides>48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48</vt:i4>
      </vt:variant>
    </vt:vector>
  </HeadingPairs>
  <TitlesOfParts>
    <vt:vector size="49" baseType="lpstr"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성현진</cp:lastModifiedBy>
  <cp:revision>9</cp:revision>
  <dcterms:created xsi:type="dcterms:W3CDTF">2013-01-27T09:14:16Z</dcterms:created>
  <dcterms:modified xsi:type="dcterms:W3CDTF">2026-06-23T07:19:44Z</dcterms:modified>
  <cp:category/>
</cp:coreProperties>
</file>